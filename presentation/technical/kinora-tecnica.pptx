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5F5F7"/>
                </a:solidFill>
                <a:latin typeface="Arial"/>
              </a:defRPr>
            </a:pPr>
            <a:r>
              <a:rPr sz="1300" b="0" i="0" u="none" strike="noStrike">
                <a:solidFill>
                  <a:srgbClr val="F5F5F7"/>
                </a:solidFill>
                <a:latin typeface="Arial"/>
              </a:rPr>
              <a:t>Commits por semana (S25–S32; S33 parcial: 11)</a:t>
            </a:r>
          </a:p>
        </c:rich>
      </c:tx>
      <c:layout/>
      <c:overlay val="0"/>
    </c:title>
    <c:autoTitleDeleted val="0"/>
    <c:plotArea>
      <c:layout/>
      <c:barChart>
        <c:barDir val="col"/>
        <c:grouping val="clustered"/>
        <c:varyColors val="0"/>
        <c:ser>
          <c:idx val="0"/>
          <c:order val="0"/>
          <c:tx>
            <c:strRef>
              <c:f>Sheet1!$B$1</c:f>
              <c:strCache>
                <c:ptCount val="1"/>
                <c:pt idx="0">
                  <c:v>Commits</c:v>
                </c:pt>
              </c:strCache>
            </c:strRef>
          </c:tx>
          <c:spPr>
            <a:solidFill>
              <a:srgbClr val="A8F060"/>
            </a:solidFill>
            <a:effectLst/>
          </c:spPr>
          <c:invertIfNegative val="0"/>
          <c:dLbls>
            <c:numFmt formatCode="#,##0" sourceLinked="0"/>
            <c:txPr>
              <a:bodyPr/>
              <a:lstStyle/>
              <a:p>
                <a:pPr>
                  <a:defRPr b="0" i="0" strike="noStrike" sz="1100" u="none">
                    <a:solidFill>
                      <a:srgbClr val="9A9AA5"/>
                    </a:solidFill>
                    <a:latin typeface="Calibri"/>
                  </a:defRPr>
                </a:pPr>
              </a:p>
            </c:txPr>
            <c:showLegendKey val="0"/>
            <c:showVal val="1"/>
            <c:showCatName val="0"/>
            <c:showSerName val="0"/>
            <c:showPercent val="0"/>
            <c:showBubbleSize val="0"/>
            <c:showLeaderLines val="0"/>
          </c:dLbls>
          <c:cat>
            <c:multiLvlStrRef>
              <c:f>Sheet1!$A$2:$A$9</c:f>
              <c:multiLvlStrCache>
                <c:ptCount val="8"/>
                <c:lvl>
                  <c:pt idx="0">
                    <c:v>S25</c:v>
                  </c:pt>
                  <c:pt idx="1">
                    <c:v>S26</c:v>
                  </c:pt>
                  <c:pt idx="2">
                    <c:v>S27</c:v>
                  </c:pt>
                  <c:pt idx="3">
                    <c:v>S28</c:v>
                  </c:pt>
                  <c:pt idx="4">
                    <c:v>S29</c:v>
                  </c:pt>
                  <c:pt idx="5">
                    <c:v>S30</c:v>
                  </c:pt>
                  <c:pt idx="6">
                    <c:v>S31</c:v>
                  </c:pt>
                  <c:pt idx="7">
                    <c:v>S32</c:v>
                  </c:pt>
                </c:lvl>
              </c:multiLvlStrCache>
            </c:multiLvlStrRef>
          </c:cat>
          <c:val>
            <c:numRef>
              <c:f>Sheet1!$B$2:$B$9</c:f>
              <c:numCache>
                <c:formatCode>General</c:formatCode>
                <c:ptCount val="8"/>
                <c:pt idx="0">
                  <c:v>39</c:v>
                </c:pt>
                <c:pt idx="1">
                  <c:v>130</c:v>
                </c:pt>
                <c:pt idx="2">
                  <c:v>104</c:v>
                </c:pt>
                <c:pt idx="3">
                  <c:v>66</c:v>
                </c:pt>
                <c:pt idx="4">
                  <c:v>41</c:v>
                </c:pt>
                <c:pt idx="5">
                  <c:v>182</c:v>
                </c:pt>
                <c:pt idx="6">
                  <c:v>71</c:v>
                </c:pt>
                <c:pt idx="7">
                  <c:v>70</c:v>
                </c:pt>
              </c:numCache>
            </c:numRef>
          </c:val>
        </c:ser>
        <c:dLbls>
          <c:numFmt formatCode="#,##0" sourceLinked="0"/>
          <c:txPr>
            <a:bodyPr/>
            <a:lstStyle/>
            <a:p>
              <a:pPr>
                <a:defRPr b="0" i="0" strike="noStrike" sz="1100" u="none">
                  <a:solidFill>
                    <a:srgbClr val="9A9AA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9AA5"/>
                </a:solidFill>
                <a:latin typeface="Calibri"/>
              </a:defRPr>
            </a:pPr>
            <a:endParaRPr lang="en-US"/>
          </a:p>
        </c:txPr>
        <c:crossAx val="2094734552"/>
        <c:crosses val="autoZero"/>
        <c:auto val="1"/>
        <c:lblAlgn val="ctr"/>
        <c:noMultiLvlLbl val="1"/>
      </c:catAx>
      <c:valAx>
        <c:axId val="2094734552"/>
        <c:scaling>
          <c:orientation val="minMax"/>
          <c:max val="2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9AA5"/>
                </a:solidFill>
                <a:latin typeface="Arial"/>
              </a:defRPr>
            </a:pPr>
            <a:endParaRPr lang="en-US"/>
          </a:p>
        </c:txPr>
        <c:crossAx val="2094734554"/>
        <c:crosses val="autoZero"/>
        <c:crossBetween val="between"/>
      </c:valAx>
      <c:spPr>
        <a:solidFill>
          <a:srgbClr val="16161B"/>
        </a:solidFill>
        <a:ln>
          <a:noFill/>
        </a:ln>
        <a:effectLst/>
      </c:spPr>
    </c:plotArea>
    <c:plotVisOnly val="1"/>
    <c:dispBlanksAs val="span"/>
  </c:chart>
  <c:spPr>
    <a:solidFill>
      <a:srgbClr val="16161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Soy Aitor Ruiz de Samaniego. Esta es la segunda parte de la entrega de kInorA: no qué hace el producto, sino cómo está construido y cómo se construyó. La parte de producto, con capturas de la aplicación, es una presentación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cuento cómo está hecho, y no solo qué hace. En una categoría donde el modelo de IA que uso hoy será peor y más caro dentro de seis meses, la ventaja no está en la funcionalidad: está en la velocidad de cambiarla. Cuarenta y dos cambios cerrados en cincuenta y dos días. Cambiar de proveedor de IA es un clic, y adelanto la objeción: hoy ese clic es barato y ciego a la calidad, y a eso vuelvo hacia el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debajo hay un monorepo con arquitectura limpia: web, móvil, API y PostgreSQL con pgvector. Las fronteras entre capas no son una recomendación: son nueve reglas que hacen fallar la compilación si se violan, y hay un test que comprueba que esas reglas fallan cuando deben fallar.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de IA es la parte más difícil. Ningún proveedor está soldado al código: cinco adaptadores de generación conmutables, y voz elegible por separado. Los prompts viven fuera del código, versionados; si el gestor falla, el sistema cae a la plantilla compilada y sigue generando. Y hay dos mecanismos distintos de enmascarado, porque una lesión y un peso no admiten el mismo trato: la lesión no llega al modelo, y el peso sí llega al modelo pero no queda en la traza.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ciclo no lo inventé yo, lo adopté; lo mío es cómo lo goberné. Nada se escribió sin pasar por siete fases donde el código es la sexta, y cada una deja un artefacto versionado. Un solo cambio dejó dos mil novecientas nueve líneas de exploración, propuesta, diseño, tareas, verificación y cierre. Y la exploración descubrió cuatro cosas que el issue original daba por buenas y no lo 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volumen sale de delegar en agentes sobre un orquestador de terceros, gentle-ai, de Alan Buscaglia, que aporta las fases, la delegación y la revisión adversarial. Lo propio de este trabajo son el contrato de ciento cincuenta líneas que gobierna a los agentes, las siete comprobaciones automáticas y la calibración de la puerta de cobertura. Judgment Day encontró cuatro defectos en el trabajo offline que no rompían ninguna aserción: rompían garantías. Y lo digo porque es el contraejemplo de mi propia tesis: la guarda que no existe es la que decide qué se te escapa.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números. Cincuenta y dos días, una persona dirigiendo agentes, setecientos catorce commits y ciento setenta y tres pull requests. Me adelanto: los trescientos dieciocho mil son líneas versionadas e incluyen tests y documentación. El dato que importa es que hay cuatrocientos noventa y un ficheros de test para quinientos dos de código. Y el tamaño de cada pull request está calibrado por lo que yo podía revisar, no por lo que un agente podía escribir.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roadmap real, tal y como quedó archivado en openspec. La v1 son las siete semanas de junio y julio: arquitectura, autenticación, el asistente de creación de plan, generación con IA y seguimiento offline. La v1.1 añade chat y voz conversacionales y adaptación por adherencia. Y aquí está lo que quiero señalar: v2, el nivel Entrenador, y v3, el nivel Gimnasio, no eran para después del máster. Se archivaron el treinta y uno de julio y el dos de agosto, dentro de la misma ventana de cincuenta y dos días.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 no se cumplió tal cual, y merece contarlo. La documentación iba por detrás de lo construido: el README seguía llamando «futuro» a v2 y v3 cuando ya estaban archivadas, y no mencionaba en absoluto la serie 17x, ya cerrada. El trabajo offline costó mucho más de lo previsto: parecía almacenamiento local y resultó ser un problema de sistemas distribuidos, con cuatro correcciones de revisión adversarial. Y una variable de entorno que el código lee y Compose no reenvía a producción se repitió cuatro veces con síntomas distintos, porque ninguna de las siete guardas la detecta.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 experiencia, qué haría distinto. Instrumentar el coste desde el primer cambio, no desde el dieciséis: Langfuse llegó casi al final, cuando ya se habían tomado decisiones de proveedor sin ese dato. Definir antes la métrica de calidad del plan generado, que todavía no existe y es la pregunta más importante del proyecto. Elegir una sola ruta móvil. Y convertir en regla de contrato que añadir una variable de entorno son tres ediciones a la vez, no una — y mejor que escribir la regla, una guarda que la compruebe.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falta, en clave técnica. La métrica de calidad del plan generado es la brecha más importante. El coste por usuario no está instrumentado por tenant, así que cualquier precio hoy es una hipótesis. Y hay deuda identificada y priorizada, no escondida: normalización de nombres de ejercicio, clasificador de grupo muscular, y la variable de entorno que Compose todavía no reenvía correctamente.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conclusión de fondo es esta: cuando escribir código deja de ser lo caro, lo caro pasa a ser saber qué pedir y comprobar que lo que llega es correcto. El método no consiste en que la inteligencia artificial decida, sino en construir el andamiaje que permite a una persona decidir mucho más rápido sin decidir peor.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C"/>
        </a:solidFill>
      </p:bgPr>
    </p:bg>
    <p:spTree>
      <p:nvGrpSpPr>
        <p:cNvPr id="1" name=""/>
        <p:cNvGrpSpPr/>
        <p:nvPr/>
      </p:nvGrpSpPr>
      <p:grpSpPr>
        <a:xfrm>
          <a:off x="0" y="0"/>
          <a:ext cx="0" cy="0"/>
          <a:chOff x="0" y="0"/>
          <a:chExt cx="0" cy="0"/>
        </a:xfrm>
      </p:grpSpPr>
      <p:sp>
        <p:nvSpPr>
          <p:cNvPr id="3" name="Shape 0"/>
          <p:cNvSpPr/>
          <p:nvPr/>
        </p:nvSpPr>
        <p:spPr>
          <a:xfrm>
            <a:off x="8595360" y="-1463040"/>
            <a:ext cx="5669280" cy="5669280"/>
          </a:xfrm>
          <a:prstGeom prst="ellipse">
            <a:avLst/>
          </a:prstGeom>
          <a:solidFill>
            <a:srgbClr val="16161B"/>
          </a:solidFill>
          <a:ln w="12700">
            <a:solidFill>
              <a:srgbClr val="16161B"/>
            </a:solidFill>
            <a:prstDash val="solid"/>
          </a:ln>
        </p:spPr>
      </p:sp>
      <p:sp>
        <p:nvSpPr>
          <p:cNvPr id="4" name="Shape 1"/>
          <p:cNvSpPr/>
          <p:nvPr/>
        </p:nvSpPr>
        <p:spPr>
          <a:xfrm>
            <a:off x="9966960" y="-91440"/>
            <a:ext cx="2926080" cy="2926080"/>
          </a:xfrm>
          <a:prstGeom prst="ellipse">
            <a:avLst/>
          </a:prstGeom>
          <a:solidFill>
            <a:srgbClr val="A8F060"/>
          </a:solidFill>
          <a:ln w="12700">
            <a:solidFill>
              <a:srgbClr val="A8F060"/>
            </a:solidFill>
            <a:prstDash val="solid"/>
          </a:ln>
        </p:spPr>
      </p:sp>
      <p:sp>
        <p:nvSpPr>
          <p:cNvPr id="5" name="Text 2"/>
          <p:cNvSpPr/>
          <p:nvPr/>
        </p:nvSpPr>
        <p:spPr>
          <a:xfrm>
            <a:off x="685800" y="2011680"/>
            <a:ext cx="7772400" cy="1188720"/>
          </a:xfrm>
          <a:prstGeom prst="rect">
            <a:avLst/>
          </a:prstGeom>
          <a:noFill/>
          <a:ln/>
        </p:spPr>
        <p:txBody>
          <a:bodyPr wrap="square" lIns="0" tIns="0" rIns="0" bIns="0" rtlCol="0" anchor="ctr"/>
          <a:lstStyle/>
          <a:p>
            <a:pPr indent="0" marL="0">
              <a:buNone/>
            </a:pPr>
            <a:r>
              <a:rPr lang="en-US" sz="6600" b="1" dirty="0">
                <a:solidFill>
                  <a:srgbClr val="F5F5F7"/>
                </a:solidFill>
                <a:latin typeface="Arial" pitchFamily="34" charset="0"/>
                <a:ea typeface="Arial" pitchFamily="34" charset="-122"/>
                <a:cs typeface="Arial" pitchFamily="34" charset="-120"/>
              </a:rPr>
              <a:t>kInorA</a:t>
            </a:r>
            <a:endParaRPr lang="en-US" sz="6600" dirty="0"/>
          </a:p>
        </p:txBody>
      </p:sp>
      <p:sp>
        <p:nvSpPr>
          <p:cNvPr id="6" name="Text 3"/>
          <p:cNvSpPr/>
          <p:nvPr/>
        </p:nvSpPr>
        <p:spPr>
          <a:xfrm>
            <a:off x="685800" y="3154680"/>
            <a:ext cx="7772400" cy="548640"/>
          </a:xfrm>
          <a:prstGeom prst="rect">
            <a:avLst/>
          </a:prstGeom>
          <a:noFill/>
          <a:ln/>
        </p:spPr>
        <p:txBody>
          <a:bodyPr wrap="square" lIns="0" tIns="0" rIns="0" bIns="0" rtlCol="0" anchor="ctr"/>
          <a:lstStyle/>
          <a:p>
            <a:pPr indent="0" marL="0">
              <a:buNone/>
            </a:pPr>
            <a:r>
              <a:rPr lang="en-US" sz="2000" dirty="0">
                <a:solidFill>
                  <a:srgbClr val="A8F060"/>
                </a:solidFill>
                <a:latin typeface="Calibri" pitchFamily="34" charset="0"/>
                <a:ea typeface="Calibri" pitchFamily="34" charset="-122"/>
                <a:cs typeface="Calibri" pitchFamily="34" charset="-120"/>
              </a:rPr>
              <a:t>Cómo está construido, y cómo se construyó</a:t>
            </a:r>
            <a:endParaRPr lang="en-US" sz="2000" dirty="0"/>
          </a:p>
        </p:txBody>
      </p:sp>
      <p:sp>
        <p:nvSpPr>
          <p:cNvPr id="7" name="Text 4"/>
          <p:cNvSpPr/>
          <p:nvPr/>
        </p:nvSpPr>
        <p:spPr>
          <a:xfrm>
            <a:off x="685800" y="3703320"/>
            <a:ext cx="7863840" cy="45720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Arquitectura, capa de IA, método de trabajo con agentes y resultados de 52 días.</a:t>
            </a:r>
            <a:endParaRPr lang="en-US" sz="1500" dirty="0"/>
          </a:p>
        </p:txBody>
      </p:sp>
      <p:sp>
        <p:nvSpPr>
          <p:cNvPr id="8" name="Shape 5"/>
          <p:cNvSpPr/>
          <p:nvPr/>
        </p:nvSpPr>
        <p:spPr>
          <a:xfrm>
            <a:off x="685800" y="4434840"/>
            <a:ext cx="7589520" cy="548640"/>
          </a:xfrm>
          <a:prstGeom prst="roundRect">
            <a:avLst>
              <a:gd name="adj" fmla="val 23333"/>
            </a:avLst>
          </a:prstGeom>
          <a:solidFill>
            <a:srgbClr val="1F1F25"/>
          </a:solidFill>
          <a:ln w="12700">
            <a:solidFill>
              <a:srgbClr val="33333B"/>
            </a:solidFill>
            <a:prstDash val="solid"/>
          </a:ln>
        </p:spPr>
      </p:sp>
      <p:sp>
        <p:nvSpPr>
          <p:cNvPr id="9" name="Text 6"/>
          <p:cNvSpPr/>
          <p:nvPr/>
        </p:nvSpPr>
        <p:spPr>
          <a:xfrm>
            <a:off x="960120" y="4434840"/>
            <a:ext cx="7040880" cy="548640"/>
          </a:xfrm>
          <a:prstGeom prst="rect">
            <a:avLst/>
          </a:prstGeom>
          <a:noFill/>
          <a:ln/>
        </p:spPr>
        <p:txBody>
          <a:bodyPr wrap="square" lIns="0" tIns="0" rIns="0" bIns="0" rtlCol="0" anchor="ctr"/>
          <a:lstStyle/>
          <a:p>
            <a:pPr indent="0" marL="0">
              <a:buNone/>
            </a:pPr>
            <a:r>
              <a:rPr lang="en-US" sz="1250" dirty="0">
                <a:solidFill>
                  <a:srgbClr val="F5F5F7"/>
                </a:solidFill>
                <a:latin typeface="Calibri" pitchFamily="34" charset="0"/>
                <a:ea typeface="Calibri" pitchFamily="34" charset="-122"/>
                <a:cs typeface="Calibri" pitchFamily="34" charset="-120"/>
              </a:rPr>
              <a:t>Parte 2 de 2 — Técnica. La parte de producto, con capturas de la app, es una presentación separada.</a:t>
            </a:r>
            <a:endParaRPr lang="en-US" sz="1250" dirty="0"/>
          </a:p>
        </p:txBody>
      </p:sp>
      <p:sp>
        <p:nvSpPr>
          <p:cNvPr id="10" name="Text 7"/>
          <p:cNvSpPr/>
          <p:nvPr/>
        </p:nvSpPr>
        <p:spPr>
          <a:xfrm>
            <a:off x="685800" y="5852160"/>
            <a:ext cx="8229600" cy="36576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Aitor Ruiz de Samaniego   ·   Trabajo de Fin de Máster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CONTEXTO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Por qué importa cómo está hecho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En este mercado, la velocidad de cambio vale más que cualquier funcionalidad concreta</a:t>
            </a:r>
            <a:endParaRPr lang="en-US" sz="1500" dirty="0"/>
          </a:p>
        </p:txBody>
      </p:sp>
      <p:sp>
        <p:nvSpPr>
          <p:cNvPr id="6" name="Shape 3"/>
          <p:cNvSpPr/>
          <p:nvPr/>
        </p:nvSpPr>
        <p:spPr>
          <a:xfrm>
            <a:off x="685800" y="1920240"/>
            <a:ext cx="5166360" cy="1572768"/>
          </a:xfrm>
          <a:prstGeom prst="roundRect">
            <a:avLst>
              <a:gd name="adj" fmla="val 8140"/>
            </a:avLst>
          </a:prstGeom>
          <a:solidFill>
            <a:srgbClr val="16161B"/>
          </a:solidFill>
          <a:ln w="12700">
            <a:solidFill>
              <a:srgbClr val="33333B"/>
            </a:solidFill>
            <a:prstDash val="solid"/>
          </a:ln>
        </p:spPr>
      </p:sp>
      <p:sp>
        <p:nvSpPr>
          <p:cNvPr id="7" name="Text 4"/>
          <p:cNvSpPr/>
          <p:nvPr/>
        </p:nvSpPr>
        <p:spPr>
          <a:xfrm>
            <a:off x="1005840" y="2176272"/>
            <a:ext cx="452628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Ciclo de semanas, no de trimestres</a:t>
            </a:r>
            <a:endParaRPr lang="en-US" sz="1600" dirty="0"/>
          </a:p>
        </p:txBody>
      </p:sp>
      <p:sp>
        <p:nvSpPr>
          <p:cNvPr id="8" name="Text 5"/>
          <p:cNvSpPr/>
          <p:nvPr/>
        </p:nvSpPr>
        <p:spPr>
          <a:xfrm>
            <a:off x="1005840" y="2633472"/>
            <a:ext cx="4526280" cy="86868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42 cambios cerrados en 52 días, entre capacidades nuevas y endurecimientos. La ventana de oportunidad de este mercado se mide en semanas.</a:t>
            </a:r>
            <a:endParaRPr lang="en-US" sz="1250" dirty="0"/>
          </a:p>
        </p:txBody>
      </p:sp>
      <p:sp>
        <p:nvSpPr>
          <p:cNvPr id="9" name="Shape 6"/>
          <p:cNvSpPr/>
          <p:nvPr/>
        </p:nvSpPr>
        <p:spPr>
          <a:xfrm>
            <a:off x="6309360" y="1920240"/>
            <a:ext cx="5166360" cy="1572768"/>
          </a:xfrm>
          <a:prstGeom prst="roundRect">
            <a:avLst>
              <a:gd name="adj" fmla="val 8140"/>
            </a:avLst>
          </a:prstGeom>
          <a:solidFill>
            <a:srgbClr val="16161B"/>
          </a:solidFill>
          <a:ln w="12700">
            <a:solidFill>
              <a:srgbClr val="33333B"/>
            </a:solidFill>
            <a:prstDash val="solid"/>
          </a:ln>
        </p:spPr>
      </p:sp>
      <p:sp>
        <p:nvSpPr>
          <p:cNvPr id="10" name="Text 7"/>
          <p:cNvSpPr/>
          <p:nvPr/>
        </p:nvSpPr>
        <p:spPr>
          <a:xfrm>
            <a:off x="6629400" y="2176272"/>
            <a:ext cx="452628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Crecer sin reescribir</a:t>
            </a:r>
            <a:endParaRPr lang="en-US" sz="1600" dirty="0"/>
          </a:p>
        </p:txBody>
      </p:sp>
      <p:sp>
        <p:nvSpPr>
          <p:cNvPr id="11" name="Text 8"/>
          <p:cNvSpPr/>
          <p:nvPr/>
        </p:nvSpPr>
        <p:spPr>
          <a:xfrm>
            <a:off x="6629400" y="2633472"/>
            <a:ext cx="4526280" cy="86868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El nivel Entrenador y la marca blanca entraron como cambios acotados, no como reescrituras del producto.</a:t>
            </a:r>
            <a:endParaRPr lang="en-US" sz="1250" dirty="0"/>
          </a:p>
        </p:txBody>
      </p:sp>
      <p:sp>
        <p:nvSpPr>
          <p:cNvPr id="12" name="Shape 9"/>
          <p:cNvSpPr/>
          <p:nvPr/>
        </p:nvSpPr>
        <p:spPr>
          <a:xfrm>
            <a:off x="685800" y="3785616"/>
            <a:ext cx="5166360" cy="1572768"/>
          </a:xfrm>
          <a:prstGeom prst="roundRect">
            <a:avLst>
              <a:gd name="adj" fmla="val 8140"/>
            </a:avLst>
          </a:prstGeom>
          <a:solidFill>
            <a:srgbClr val="16161B"/>
          </a:solidFill>
          <a:ln w="12700">
            <a:solidFill>
              <a:srgbClr val="33333B"/>
            </a:solidFill>
            <a:prstDash val="solid"/>
          </a:ln>
        </p:spPr>
      </p:sp>
      <p:sp>
        <p:nvSpPr>
          <p:cNvPr id="13" name="Text 10"/>
          <p:cNvSpPr/>
          <p:nvPr/>
        </p:nvSpPr>
        <p:spPr>
          <a:xfrm>
            <a:off x="1005840" y="4041648"/>
            <a:ext cx="452628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Adoptar lo nuevo sin migrar</a:t>
            </a:r>
            <a:endParaRPr lang="en-US" sz="1600" dirty="0"/>
          </a:p>
        </p:txBody>
      </p:sp>
      <p:sp>
        <p:nvSpPr>
          <p:cNvPr id="14" name="Text 11"/>
          <p:cNvSpPr/>
          <p:nvPr/>
        </p:nvSpPr>
        <p:spPr>
          <a:xfrm>
            <a:off x="1005840" y="4498848"/>
            <a:ext cx="4526280" cy="86868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Cuando aparece un modelo mejor o más barato, cambiar de proveedor es una decisión que se toma en un panel.</a:t>
            </a:r>
            <a:endParaRPr lang="en-US" sz="1250" dirty="0"/>
          </a:p>
        </p:txBody>
      </p:sp>
      <p:sp>
        <p:nvSpPr>
          <p:cNvPr id="15" name="Shape 12"/>
          <p:cNvSpPr/>
          <p:nvPr/>
        </p:nvSpPr>
        <p:spPr>
          <a:xfrm>
            <a:off x="6309360" y="3785616"/>
            <a:ext cx="5166360" cy="1572768"/>
          </a:xfrm>
          <a:prstGeom prst="roundRect">
            <a:avLst>
              <a:gd name="adj" fmla="val 8140"/>
            </a:avLst>
          </a:prstGeom>
          <a:solidFill>
            <a:srgbClr val="16161B"/>
          </a:solidFill>
          <a:ln w="12700">
            <a:solidFill>
              <a:srgbClr val="33333B"/>
            </a:solidFill>
            <a:prstDash val="solid"/>
          </a:ln>
        </p:spPr>
      </p:sp>
      <p:sp>
        <p:nvSpPr>
          <p:cNvPr id="16" name="Text 13"/>
          <p:cNvSpPr/>
          <p:nvPr/>
        </p:nvSpPr>
        <p:spPr>
          <a:xfrm>
            <a:off x="6629400" y="4041648"/>
            <a:ext cx="452628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El conocimiento no se evapora</a:t>
            </a:r>
            <a:endParaRPr lang="en-US" sz="1600" dirty="0"/>
          </a:p>
        </p:txBody>
      </p:sp>
      <p:sp>
        <p:nvSpPr>
          <p:cNvPr id="17" name="Text 14"/>
          <p:cNvSpPr/>
          <p:nvPr/>
        </p:nvSpPr>
        <p:spPr>
          <a:xfrm>
            <a:off x="6629400" y="4498848"/>
            <a:ext cx="4526280" cy="868680"/>
          </a:xfrm>
          <a:prstGeom prst="rect">
            <a:avLst/>
          </a:prstGeom>
          <a:noFill/>
          <a:ln/>
        </p:spPr>
        <p:txBody>
          <a:bodyPr wrap="square" lIns="0" tIns="0" rIns="0" bIns="0" rtlCol="0" anchor="t"/>
          <a:lstStyle/>
          <a:p>
            <a:pPr indent="0" marL="0">
              <a:buNone/>
            </a:pPr>
            <a:r>
              <a:rPr lang="en-US" sz="1250" dirty="0">
                <a:solidFill>
                  <a:srgbClr val="9A9AA5"/>
                </a:solidFill>
                <a:latin typeface="Calibri" pitchFamily="34" charset="0"/>
                <a:ea typeface="Calibri" pitchFamily="34" charset="-122"/>
                <a:cs typeface="Calibri" pitchFamily="34" charset="-120"/>
              </a:rPr>
              <a:t>42 cambios archivados con su razonamiento. Incorporar a una persona nueva —o a un agente— no depende de la memoria de nadie.</a:t>
            </a:r>
            <a:endParaRPr lang="en-US" sz="1250" dirty="0"/>
          </a:p>
        </p:txBody>
      </p:sp>
      <p:sp>
        <p:nvSpPr>
          <p:cNvPr id="18" name="Shape 15"/>
          <p:cNvSpPr/>
          <p:nvPr/>
        </p:nvSpPr>
        <p:spPr>
          <a:xfrm>
            <a:off x="685800" y="5486400"/>
            <a:ext cx="10789920" cy="777240"/>
          </a:xfrm>
          <a:prstGeom prst="roundRect">
            <a:avLst>
              <a:gd name="adj" fmla="val 16471"/>
            </a:avLst>
          </a:prstGeom>
          <a:solidFill>
            <a:srgbClr val="1F1F25"/>
          </a:solidFill>
          <a:ln w="12700">
            <a:solidFill>
              <a:srgbClr val="33333B"/>
            </a:solidFill>
            <a:prstDash val="solid"/>
          </a:ln>
        </p:spPr>
      </p:sp>
      <p:sp>
        <p:nvSpPr>
          <p:cNvPr id="19" name="Text 16"/>
          <p:cNvSpPr/>
          <p:nvPr/>
        </p:nvSpPr>
        <p:spPr>
          <a:xfrm>
            <a:off x="1005840" y="5486400"/>
            <a:ext cx="10149840" cy="777240"/>
          </a:xfrm>
          <a:prstGeom prst="rect">
            <a:avLst/>
          </a:prstGeom>
          <a:noFill/>
          <a:ln/>
        </p:spPr>
        <p:txBody>
          <a:bodyPr wrap="square" lIns="0" tIns="0" rIns="0" bIns="0" rtlCol="0" anchor="ctr"/>
          <a:lstStyle/>
          <a:p>
            <a:pPr indent="0" marL="0">
              <a:buNone/>
            </a:pPr>
            <a:r>
              <a:rPr lang="en-US" sz="1600" dirty="0">
                <a:solidFill>
                  <a:srgbClr val="F5F5F7"/>
                </a:solidFill>
                <a:latin typeface="Calibri" pitchFamily="34" charset="0"/>
                <a:ea typeface="Calibri" pitchFamily="34" charset="-122"/>
                <a:cs typeface="Calibri" pitchFamily="34" charset="-120"/>
              </a:rPr>
              <a:t>El método no es una nota al pie del proyecto. Es la ventaja competitiva.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CÓMO ESTÁ CONSTRUIDO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Arquitectura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Monorepo, arquitectura limpia y fronteras verificadas</a:t>
            </a:r>
            <a:endParaRPr lang="en-US" sz="1500" dirty="0"/>
          </a:p>
        </p:txBody>
      </p:sp>
      <p:sp>
        <p:nvSpPr>
          <p:cNvPr id="6" name="Shape 3"/>
          <p:cNvSpPr/>
          <p:nvPr/>
        </p:nvSpPr>
        <p:spPr>
          <a:xfrm>
            <a:off x="685800" y="1920240"/>
            <a:ext cx="2505456" cy="2194560"/>
          </a:xfrm>
          <a:prstGeom prst="roundRect">
            <a:avLst>
              <a:gd name="adj" fmla="val 5833"/>
            </a:avLst>
          </a:prstGeom>
          <a:solidFill>
            <a:srgbClr val="16161B"/>
          </a:solidFill>
          <a:ln w="12700">
            <a:solidFill>
              <a:srgbClr val="33333B"/>
            </a:solidFill>
            <a:prstDash val="solid"/>
          </a:ln>
        </p:spPr>
      </p:sp>
      <p:sp>
        <p:nvSpPr>
          <p:cNvPr id="7" name="Text 4"/>
          <p:cNvSpPr/>
          <p:nvPr/>
        </p:nvSpPr>
        <p:spPr>
          <a:xfrm>
            <a:off x="941832" y="2148840"/>
            <a:ext cx="1993392" cy="384048"/>
          </a:xfrm>
          <a:prstGeom prst="rect">
            <a:avLst/>
          </a:prstGeom>
          <a:noFill/>
          <a:ln/>
        </p:spPr>
        <p:txBody>
          <a:bodyPr wrap="square" lIns="0" tIns="0" rIns="0" bIns="0" rtlCol="0" anchor="ctr"/>
          <a:lstStyle/>
          <a:p>
            <a:pPr indent="0" marL="0">
              <a:buNone/>
            </a:pPr>
            <a:r>
              <a:rPr lang="en-US" sz="1700" b="1" dirty="0">
                <a:solidFill>
                  <a:srgbClr val="A8F060"/>
                </a:solidFill>
                <a:latin typeface="Arial" pitchFamily="34" charset="0"/>
                <a:ea typeface="Arial" pitchFamily="34" charset="-122"/>
                <a:cs typeface="Arial" pitchFamily="34" charset="-120"/>
              </a:rPr>
              <a:t>Clientes</a:t>
            </a:r>
            <a:endParaRPr lang="en-US" sz="1700" dirty="0"/>
          </a:p>
        </p:txBody>
      </p:sp>
      <p:sp>
        <p:nvSpPr>
          <p:cNvPr id="8" name="Text 5"/>
          <p:cNvSpPr/>
          <p:nvPr/>
        </p:nvSpPr>
        <p:spPr>
          <a:xfrm>
            <a:off x="941832" y="2606040"/>
            <a:ext cx="1993392" cy="12801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Web · Next.js 16</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Móvil · React Native</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PWA offline</a:t>
            </a:r>
            <a:endParaRPr lang="en-US" sz="1250" dirty="0"/>
          </a:p>
        </p:txBody>
      </p:sp>
      <p:sp>
        <p:nvSpPr>
          <p:cNvPr id="9" name="Shape 6"/>
          <p:cNvSpPr/>
          <p:nvPr/>
        </p:nvSpPr>
        <p:spPr>
          <a:xfrm>
            <a:off x="3447288" y="1920240"/>
            <a:ext cx="2505456" cy="2194560"/>
          </a:xfrm>
          <a:prstGeom prst="roundRect">
            <a:avLst>
              <a:gd name="adj" fmla="val 5833"/>
            </a:avLst>
          </a:prstGeom>
          <a:solidFill>
            <a:srgbClr val="16161B"/>
          </a:solidFill>
          <a:ln w="12700">
            <a:solidFill>
              <a:srgbClr val="33333B"/>
            </a:solidFill>
            <a:prstDash val="solid"/>
          </a:ln>
        </p:spPr>
      </p:sp>
      <p:sp>
        <p:nvSpPr>
          <p:cNvPr id="10" name="Text 7"/>
          <p:cNvSpPr/>
          <p:nvPr/>
        </p:nvSpPr>
        <p:spPr>
          <a:xfrm>
            <a:off x="3703320" y="2148840"/>
            <a:ext cx="1993392" cy="384048"/>
          </a:xfrm>
          <a:prstGeom prst="rect">
            <a:avLst/>
          </a:prstGeom>
          <a:noFill/>
          <a:ln/>
        </p:spPr>
        <p:txBody>
          <a:bodyPr wrap="square" lIns="0" tIns="0" rIns="0" bIns="0" rtlCol="0" anchor="ctr"/>
          <a:lstStyle/>
          <a:p>
            <a:pPr indent="0" marL="0">
              <a:buNone/>
            </a:pPr>
            <a:r>
              <a:rPr lang="en-US" sz="1700" b="1" dirty="0">
                <a:solidFill>
                  <a:srgbClr val="A8F060"/>
                </a:solidFill>
                <a:latin typeface="Arial" pitchFamily="34" charset="0"/>
                <a:ea typeface="Arial" pitchFamily="34" charset="-122"/>
                <a:cs typeface="Arial" pitchFamily="34" charset="-120"/>
              </a:rPr>
              <a:t>API</a:t>
            </a:r>
            <a:endParaRPr lang="en-US" sz="1700" dirty="0"/>
          </a:p>
        </p:txBody>
      </p:sp>
      <p:sp>
        <p:nvSpPr>
          <p:cNvPr id="11" name="Text 8"/>
          <p:cNvSpPr/>
          <p:nvPr/>
        </p:nvSpPr>
        <p:spPr>
          <a:xfrm>
            <a:off x="3703320" y="2606040"/>
            <a:ext cx="1993392" cy="12801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Fastify 5 · Node 24</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Rutas · casos de uso</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WebSocket</a:t>
            </a:r>
            <a:endParaRPr lang="en-US" sz="1250" dirty="0"/>
          </a:p>
        </p:txBody>
      </p:sp>
      <p:sp>
        <p:nvSpPr>
          <p:cNvPr id="12" name="Shape 9"/>
          <p:cNvSpPr/>
          <p:nvPr/>
        </p:nvSpPr>
        <p:spPr>
          <a:xfrm>
            <a:off x="6208776" y="1920240"/>
            <a:ext cx="2505456" cy="2194560"/>
          </a:xfrm>
          <a:prstGeom prst="roundRect">
            <a:avLst>
              <a:gd name="adj" fmla="val 5833"/>
            </a:avLst>
          </a:prstGeom>
          <a:solidFill>
            <a:srgbClr val="16161B"/>
          </a:solidFill>
          <a:ln w="12700">
            <a:solidFill>
              <a:srgbClr val="33333B"/>
            </a:solidFill>
            <a:prstDash val="solid"/>
          </a:ln>
        </p:spPr>
      </p:sp>
      <p:sp>
        <p:nvSpPr>
          <p:cNvPr id="13" name="Text 10"/>
          <p:cNvSpPr/>
          <p:nvPr/>
        </p:nvSpPr>
        <p:spPr>
          <a:xfrm>
            <a:off x="6464808" y="2148840"/>
            <a:ext cx="1993392" cy="384048"/>
          </a:xfrm>
          <a:prstGeom prst="rect">
            <a:avLst/>
          </a:prstGeom>
          <a:noFill/>
          <a:ln/>
        </p:spPr>
        <p:txBody>
          <a:bodyPr wrap="square" lIns="0" tIns="0" rIns="0" bIns="0" rtlCol="0" anchor="ctr"/>
          <a:lstStyle/>
          <a:p>
            <a:pPr indent="0" marL="0">
              <a:buNone/>
            </a:pPr>
            <a:r>
              <a:rPr lang="en-US" sz="1700" b="1" dirty="0">
                <a:solidFill>
                  <a:srgbClr val="A8F060"/>
                </a:solidFill>
                <a:latin typeface="Arial" pitchFamily="34" charset="0"/>
                <a:ea typeface="Arial" pitchFamily="34" charset="-122"/>
                <a:cs typeface="Arial" pitchFamily="34" charset="-120"/>
              </a:rPr>
              <a:t>Núcleo</a:t>
            </a:r>
            <a:endParaRPr lang="en-US" sz="1700" dirty="0"/>
          </a:p>
        </p:txBody>
      </p:sp>
      <p:sp>
        <p:nvSpPr>
          <p:cNvPr id="14" name="Text 11"/>
          <p:cNvSpPr/>
          <p:nvPr/>
        </p:nvSpPr>
        <p:spPr>
          <a:xfrm>
            <a:off x="6464808" y="2606040"/>
            <a:ext cx="1993392" cy="12801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packages/domain</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packages/contracts</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Sin framework</a:t>
            </a:r>
            <a:endParaRPr lang="en-US" sz="1250" dirty="0"/>
          </a:p>
        </p:txBody>
      </p:sp>
      <p:sp>
        <p:nvSpPr>
          <p:cNvPr id="15" name="Shape 12"/>
          <p:cNvSpPr/>
          <p:nvPr/>
        </p:nvSpPr>
        <p:spPr>
          <a:xfrm>
            <a:off x="8970264" y="1920240"/>
            <a:ext cx="2505456" cy="2194560"/>
          </a:xfrm>
          <a:prstGeom prst="roundRect">
            <a:avLst>
              <a:gd name="adj" fmla="val 5833"/>
            </a:avLst>
          </a:prstGeom>
          <a:solidFill>
            <a:srgbClr val="16161B"/>
          </a:solidFill>
          <a:ln w="12700">
            <a:solidFill>
              <a:srgbClr val="33333B"/>
            </a:solidFill>
            <a:prstDash val="solid"/>
          </a:ln>
        </p:spPr>
      </p:sp>
      <p:sp>
        <p:nvSpPr>
          <p:cNvPr id="16" name="Text 13"/>
          <p:cNvSpPr/>
          <p:nvPr/>
        </p:nvSpPr>
        <p:spPr>
          <a:xfrm>
            <a:off x="9226296" y="2148840"/>
            <a:ext cx="1993392" cy="384048"/>
          </a:xfrm>
          <a:prstGeom prst="rect">
            <a:avLst/>
          </a:prstGeom>
          <a:noFill/>
          <a:ln/>
        </p:spPr>
        <p:txBody>
          <a:bodyPr wrap="square" lIns="0" tIns="0" rIns="0" bIns="0" rtlCol="0" anchor="ctr"/>
          <a:lstStyle/>
          <a:p>
            <a:pPr indent="0" marL="0">
              <a:buNone/>
            </a:pPr>
            <a:r>
              <a:rPr lang="en-US" sz="1700" b="1" dirty="0">
                <a:solidFill>
                  <a:srgbClr val="A8F060"/>
                </a:solidFill>
                <a:latin typeface="Arial" pitchFamily="34" charset="0"/>
                <a:ea typeface="Arial" pitchFamily="34" charset="-122"/>
                <a:cs typeface="Arial" pitchFamily="34" charset="-120"/>
              </a:rPr>
              <a:t>Datos</a:t>
            </a:r>
            <a:endParaRPr lang="en-US" sz="1700" dirty="0"/>
          </a:p>
        </p:txBody>
      </p:sp>
      <p:sp>
        <p:nvSpPr>
          <p:cNvPr id="17" name="Text 14"/>
          <p:cNvSpPr/>
          <p:nvPr/>
        </p:nvSpPr>
        <p:spPr>
          <a:xfrm>
            <a:off x="9226296" y="2606040"/>
            <a:ext cx="1993392" cy="12801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PostgreSQL 17</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pgvector</a:t>
            </a:r>
            <a:endParaRPr lang="en-US" sz="1250" dirty="0"/>
          </a:p>
          <a:p>
            <a:pPr marL="342900" indent="-342900">
              <a:spcAft>
                <a:spcPts val="500"/>
              </a:spcAft>
              <a:buSzPct val="100000"/>
              <a:buChar char="•"/>
            </a:pPr>
            <a:r>
              <a:rPr lang="en-US" sz="1250" dirty="0">
                <a:solidFill>
                  <a:srgbClr val="9A9AA5"/>
                </a:solidFill>
                <a:latin typeface="Calibri" pitchFamily="34" charset="0"/>
                <a:ea typeface="Calibri" pitchFamily="34" charset="-122"/>
                <a:cs typeface="Calibri" pitchFamily="34" charset="-120"/>
              </a:rPr>
              <a:t>29 tablas</a:t>
            </a:r>
            <a:endParaRPr lang="en-US" sz="1250" dirty="0"/>
          </a:p>
        </p:txBody>
      </p:sp>
      <p:sp>
        <p:nvSpPr>
          <p:cNvPr id="18" name="Shape 15"/>
          <p:cNvSpPr/>
          <p:nvPr/>
        </p:nvSpPr>
        <p:spPr>
          <a:xfrm>
            <a:off x="685800" y="4434840"/>
            <a:ext cx="10789920" cy="1463040"/>
          </a:xfrm>
          <a:prstGeom prst="roundRect">
            <a:avLst>
              <a:gd name="adj" fmla="val 8750"/>
            </a:avLst>
          </a:prstGeom>
          <a:solidFill>
            <a:srgbClr val="1F1F25"/>
          </a:solidFill>
          <a:ln w="12700">
            <a:solidFill>
              <a:srgbClr val="33333B"/>
            </a:solidFill>
            <a:prstDash val="solid"/>
          </a:ln>
        </p:spPr>
      </p:sp>
      <p:sp>
        <p:nvSpPr>
          <p:cNvPr id="19" name="Text 16"/>
          <p:cNvSpPr/>
          <p:nvPr/>
        </p:nvSpPr>
        <p:spPr>
          <a:xfrm>
            <a:off x="1051560" y="4617720"/>
            <a:ext cx="10058400" cy="411480"/>
          </a:xfrm>
          <a:prstGeom prst="rect">
            <a:avLst/>
          </a:prstGeom>
          <a:noFill/>
          <a:ln/>
        </p:spPr>
        <p:txBody>
          <a:bodyPr wrap="square" lIns="0" tIns="0" rIns="0" bIns="0" rtlCol="0" anchor="ctr"/>
          <a:lstStyle/>
          <a:p>
            <a:pPr indent="0" marL="0">
              <a:buNone/>
            </a:pPr>
            <a:r>
              <a:rPr lang="en-US" sz="1800" b="1" dirty="0">
                <a:solidFill>
                  <a:srgbClr val="F5F5F7"/>
                </a:solidFill>
                <a:latin typeface="Arial" pitchFamily="34" charset="0"/>
                <a:ea typeface="Arial" pitchFamily="34" charset="-122"/>
                <a:cs typeface="Arial" pitchFamily="34" charset="-120"/>
              </a:rPr>
              <a:t>9 reglas de dependencia que hacen fallar la compilación</a:t>
            </a:r>
            <a:endParaRPr lang="en-US" sz="1800" dirty="0"/>
          </a:p>
        </p:txBody>
      </p:sp>
      <p:sp>
        <p:nvSpPr>
          <p:cNvPr id="20" name="Text 17"/>
          <p:cNvSpPr/>
          <p:nvPr/>
        </p:nvSpPr>
        <p:spPr>
          <a:xfrm>
            <a:off x="1051560" y="5074920"/>
            <a:ext cx="9966960" cy="731520"/>
          </a:xfrm>
          <a:prstGeom prst="rect">
            <a:avLst/>
          </a:prstGeom>
          <a:noFill/>
          <a:ln/>
        </p:spPr>
        <p:txBody>
          <a:bodyPr wrap="square" lIns="0" tIns="0" rIns="0" bIns="0" rtlCol="0" anchor="ctr"/>
          <a:lstStyle/>
          <a:p>
            <a:pPr indent="0" marL="0">
              <a:buNone/>
            </a:pPr>
            <a:r>
              <a:rPr lang="en-US" sz="1350" dirty="0">
                <a:solidFill>
                  <a:srgbClr val="9A9AA5"/>
                </a:solidFill>
                <a:latin typeface="Calibri" pitchFamily="34" charset="0"/>
                <a:ea typeface="Calibri" pitchFamily="34" charset="-122"/>
                <a:cs typeface="Calibri" pitchFamily="34" charset="-120"/>
              </a:rPr>
              <a:t>El dominio no importa framework, base de datos ni red. El SDK de pagos vive en un único fichero. Las rutas no tocan la capa de datos. Y un test negativo comprueba que cada regla falla cuando debe fallar.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CÓMO ESTÁ CONSTRUIDO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La capa de IA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Puertos, no proveedores</a:t>
            </a:r>
            <a:endParaRPr lang="en-US" sz="1500" dirty="0"/>
          </a:p>
        </p:txBody>
      </p:sp>
      <p:sp>
        <p:nvSpPr>
          <p:cNvPr id="6" name="Shape 3"/>
          <p:cNvSpPr/>
          <p:nvPr/>
        </p:nvSpPr>
        <p:spPr>
          <a:xfrm>
            <a:off x="685800" y="1920240"/>
            <a:ext cx="5349240" cy="1691640"/>
          </a:xfrm>
          <a:prstGeom prst="roundRect">
            <a:avLst>
              <a:gd name="adj" fmla="val 7568"/>
            </a:avLst>
          </a:prstGeom>
          <a:solidFill>
            <a:srgbClr val="16161B"/>
          </a:solidFill>
          <a:ln w="12700">
            <a:solidFill>
              <a:srgbClr val="33333B"/>
            </a:solidFill>
            <a:prstDash val="solid"/>
          </a:ln>
        </p:spPr>
      </p:sp>
      <p:sp>
        <p:nvSpPr>
          <p:cNvPr id="7" name="Text 4"/>
          <p:cNvSpPr/>
          <p:nvPr/>
        </p:nvSpPr>
        <p:spPr>
          <a:xfrm>
            <a:off x="1005840" y="2176272"/>
            <a:ext cx="470916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5 adaptadores de generación</a:t>
            </a:r>
            <a:endParaRPr lang="en-US" sz="1600" dirty="0"/>
          </a:p>
        </p:txBody>
      </p:sp>
      <p:sp>
        <p:nvSpPr>
          <p:cNvPr id="8" name="Text 5"/>
          <p:cNvSpPr/>
          <p:nvPr/>
        </p:nvSpPr>
        <p:spPr>
          <a:xfrm>
            <a:off x="1005840" y="2633472"/>
            <a:ext cx="4709160" cy="868680"/>
          </a:xfrm>
          <a:prstGeom prst="rect">
            <a:avLst/>
          </a:prstGeom>
          <a:noFill/>
          <a:ln/>
        </p:spPr>
        <p:txBody>
          <a:bodyPr wrap="square" lIns="0" tIns="0" rIns="0" bIns="0" rtlCol="0" anchor="ctr"/>
          <a:lstStyle/>
          <a:p>
            <a:pPr indent="0" marL="0">
              <a:buNone/>
            </a:pPr>
            <a:r>
              <a:rPr lang="en-US" sz="1250" dirty="0">
                <a:solidFill>
                  <a:srgbClr val="9A9AA5"/>
                </a:solidFill>
                <a:latin typeface="Calibri" pitchFamily="34" charset="0"/>
                <a:ea typeface="Calibri" pitchFamily="34" charset="-122"/>
                <a:cs typeface="Calibri" pitchFamily="34" charset="-120"/>
              </a:rPr>
              <a:t>OpenRouter por defecto, más OpenAI, Anthropic, Google y OpenCode-Go, conmutables en caliente desde el panel de administración.</a:t>
            </a:r>
            <a:endParaRPr lang="en-US" sz="1250" dirty="0"/>
          </a:p>
        </p:txBody>
      </p:sp>
      <p:sp>
        <p:nvSpPr>
          <p:cNvPr id="9" name="Shape 6"/>
          <p:cNvSpPr/>
          <p:nvPr/>
        </p:nvSpPr>
        <p:spPr>
          <a:xfrm>
            <a:off x="6492240" y="1920240"/>
            <a:ext cx="5349240" cy="1691640"/>
          </a:xfrm>
          <a:prstGeom prst="roundRect">
            <a:avLst>
              <a:gd name="adj" fmla="val 7568"/>
            </a:avLst>
          </a:prstGeom>
          <a:solidFill>
            <a:srgbClr val="16161B"/>
          </a:solidFill>
          <a:ln w="12700">
            <a:solidFill>
              <a:srgbClr val="33333B"/>
            </a:solidFill>
            <a:prstDash val="solid"/>
          </a:ln>
        </p:spPr>
      </p:sp>
      <p:sp>
        <p:nvSpPr>
          <p:cNvPr id="10" name="Text 7"/>
          <p:cNvSpPr/>
          <p:nvPr/>
        </p:nvSpPr>
        <p:spPr>
          <a:xfrm>
            <a:off x="6812280" y="2176272"/>
            <a:ext cx="470916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Voz elegible por separado</a:t>
            </a:r>
            <a:endParaRPr lang="en-US" sz="1600" dirty="0"/>
          </a:p>
        </p:txBody>
      </p:sp>
      <p:sp>
        <p:nvSpPr>
          <p:cNvPr id="11" name="Text 8"/>
          <p:cNvSpPr/>
          <p:nvPr/>
        </p:nvSpPr>
        <p:spPr>
          <a:xfrm>
            <a:off x="6812280" y="2633472"/>
            <a:ext cx="4709160" cy="868680"/>
          </a:xfrm>
          <a:prstGeom prst="rect">
            <a:avLst/>
          </a:prstGeom>
          <a:noFill/>
          <a:ln/>
        </p:spPr>
        <p:txBody>
          <a:bodyPr wrap="square" lIns="0" tIns="0" rIns="0" bIns="0" rtlCol="0" anchor="ctr"/>
          <a:lstStyle/>
          <a:p>
            <a:pPr indent="0" marL="0">
              <a:buNone/>
            </a:pPr>
            <a:r>
              <a:rPr lang="en-US" sz="1250" dirty="0">
                <a:solidFill>
                  <a:srgbClr val="9A9AA5"/>
                </a:solidFill>
                <a:latin typeface="Calibri" pitchFamily="34" charset="0"/>
                <a:ea typeface="Calibri" pitchFamily="34" charset="-122"/>
                <a:cs typeface="Calibri" pitchFamily="34" charset="-120"/>
              </a:rPr>
              <a:t>Transcripción y síntesis con OpenAI, Gemini o Deepgram, decididas de forma independiente.</a:t>
            </a:r>
            <a:endParaRPr lang="en-US" sz="1250" dirty="0"/>
          </a:p>
        </p:txBody>
      </p:sp>
      <p:sp>
        <p:nvSpPr>
          <p:cNvPr id="12" name="Shape 9"/>
          <p:cNvSpPr/>
          <p:nvPr/>
        </p:nvSpPr>
        <p:spPr>
          <a:xfrm>
            <a:off x="685800" y="3904488"/>
            <a:ext cx="5349240" cy="1691640"/>
          </a:xfrm>
          <a:prstGeom prst="roundRect">
            <a:avLst>
              <a:gd name="adj" fmla="val 7568"/>
            </a:avLst>
          </a:prstGeom>
          <a:solidFill>
            <a:srgbClr val="16161B"/>
          </a:solidFill>
          <a:ln w="12700">
            <a:solidFill>
              <a:srgbClr val="33333B"/>
            </a:solidFill>
            <a:prstDash val="solid"/>
          </a:ln>
        </p:spPr>
      </p:sp>
      <p:sp>
        <p:nvSpPr>
          <p:cNvPr id="13" name="Text 10"/>
          <p:cNvSpPr/>
          <p:nvPr/>
        </p:nvSpPr>
        <p:spPr>
          <a:xfrm>
            <a:off x="1005840" y="4160520"/>
            <a:ext cx="470916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Prompts fuera del código</a:t>
            </a:r>
            <a:endParaRPr lang="en-US" sz="1600" dirty="0"/>
          </a:p>
        </p:txBody>
      </p:sp>
      <p:sp>
        <p:nvSpPr>
          <p:cNvPr id="14" name="Text 11"/>
          <p:cNvSpPr/>
          <p:nvPr/>
        </p:nvSpPr>
        <p:spPr>
          <a:xfrm>
            <a:off x="1005840" y="4617720"/>
            <a:ext cx="4709160" cy="868680"/>
          </a:xfrm>
          <a:prstGeom prst="rect">
            <a:avLst/>
          </a:prstGeom>
          <a:noFill/>
          <a:ln/>
        </p:spPr>
        <p:txBody>
          <a:bodyPr wrap="square" lIns="0" tIns="0" rIns="0" bIns="0" rtlCol="0" anchor="ctr"/>
          <a:lstStyle/>
          <a:p>
            <a:pPr indent="0" marL="0">
              <a:buNone/>
            </a:pPr>
            <a:r>
              <a:rPr lang="en-US" sz="1250" dirty="0">
                <a:solidFill>
                  <a:srgbClr val="9A9AA5"/>
                </a:solidFill>
                <a:latin typeface="Calibri" pitchFamily="34" charset="0"/>
                <a:ea typeface="Calibri" pitchFamily="34" charset="-122"/>
                <a:cs typeface="Calibri" pitchFamily="34" charset="-120"/>
              </a:rPr>
              <a:t>Versionados en Langfuse. Si falla la descarga o la validación, cae a la plantilla compilada y sigue generando.</a:t>
            </a:r>
            <a:endParaRPr lang="en-US" sz="1250" dirty="0"/>
          </a:p>
        </p:txBody>
      </p:sp>
      <p:sp>
        <p:nvSpPr>
          <p:cNvPr id="15" name="Shape 12"/>
          <p:cNvSpPr/>
          <p:nvPr/>
        </p:nvSpPr>
        <p:spPr>
          <a:xfrm>
            <a:off x="6492240" y="3904488"/>
            <a:ext cx="5349240" cy="1691640"/>
          </a:xfrm>
          <a:prstGeom prst="roundRect">
            <a:avLst>
              <a:gd name="adj" fmla="val 7568"/>
            </a:avLst>
          </a:prstGeom>
          <a:solidFill>
            <a:srgbClr val="16161B"/>
          </a:solidFill>
          <a:ln w="12700">
            <a:solidFill>
              <a:srgbClr val="33333B"/>
            </a:solidFill>
            <a:prstDash val="solid"/>
          </a:ln>
        </p:spPr>
      </p:sp>
      <p:sp>
        <p:nvSpPr>
          <p:cNvPr id="16" name="Text 13"/>
          <p:cNvSpPr/>
          <p:nvPr/>
        </p:nvSpPr>
        <p:spPr>
          <a:xfrm>
            <a:off x="6812280" y="4160520"/>
            <a:ext cx="4709160" cy="411480"/>
          </a:xfrm>
          <a:prstGeom prst="rect">
            <a:avLst/>
          </a:prstGeom>
          <a:noFill/>
          <a:ln/>
        </p:spPr>
        <p:txBody>
          <a:bodyPr wrap="square" lIns="0" tIns="0" rIns="0" bIns="0" rtlCol="0" anchor="ctr"/>
          <a:lstStyle/>
          <a:p>
            <a:pPr indent="0" marL="0">
              <a:buNone/>
            </a:pPr>
            <a:r>
              <a:rPr lang="en-US" sz="1600" b="1" dirty="0">
                <a:solidFill>
                  <a:srgbClr val="A8F060"/>
                </a:solidFill>
                <a:latin typeface="Arial" pitchFamily="34" charset="0"/>
                <a:ea typeface="Arial" pitchFamily="34" charset="-122"/>
                <a:cs typeface="Arial" pitchFamily="34" charset="-120"/>
              </a:rPr>
              <a:t>Privacidad en dos direcciones</a:t>
            </a:r>
            <a:endParaRPr lang="en-US" sz="1600" dirty="0"/>
          </a:p>
        </p:txBody>
      </p:sp>
      <p:sp>
        <p:nvSpPr>
          <p:cNvPr id="17" name="Text 14"/>
          <p:cNvSpPr/>
          <p:nvPr/>
        </p:nvSpPr>
        <p:spPr>
          <a:xfrm>
            <a:off x="6812280" y="4617720"/>
            <a:ext cx="4709160" cy="868680"/>
          </a:xfrm>
          <a:prstGeom prst="rect">
            <a:avLst/>
          </a:prstGeom>
          <a:noFill/>
          <a:ln/>
        </p:spPr>
        <p:txBody>
          <a:bodyPr wrap="square" lIns="0" tIns="0" rIns="0" bIns="0" rtlCol="0" anchor="ctr"/>
          <a:lstStyle/>
          <a:p>
            <a:pPr indent="0" marL="0">
              <a:buNone/>
            </a:pPr>
            <a:r>
              <a:rPr lang="en-US" sz="1250" dirty="0">
                <a:solidFill>
                  <a:srgbClr val="9A9AA5"/>
                </a:solidFill>
                <a:latin typeface="Calibri" pitchFamily="34" charset="0"/>
                <a:ea typeface="Calibri" pitchFamily="34" charset="-122"/>
                <a:cs typeface="Calibri" pitchFamily="34" charset="-120"/>
              </a:rPr>
              <a:t>La lesión se enmascara antes de llegar al modelo, que tampoco la ve. El peso sí llega al modelo, pero se enmascara en la traza. Son datos del artículo 9 del RGPD.</a:t>
            </a:r>
            <a:endParaRPr lang="en-US" sz="1250" dirty="0"/>
          </a:p>
        </p:txBody>
      </p:sp>
      <p:sp>
        <p:nvSpPr>
          <p:cNvPr id="18" name="Text 15"/>
          <p:cNvSpPr/>
          <p:nvPr/>
        </p:nvSpPr>
        <p:spPr>
          <a:xfrm>
            <a:off x="685800" y="5806440"/>
            <a:ext cx="10515600" cy="411480"/>
          </a:xfrm>
          <a:prstGeom prst="rect">
            <a:avLst/>
          </a:prstGeom>
          <a:noFill/>
          <a:ln/>
        </p:spPr>
        <p:txBody>
          <a:bodyPr wrap="square" lIns="0" tIns="0" rIns="0" bIns="0" rtlCol="0" anchor="ctr"/>
          <a:lstStyle/>
          <a:p>
            <a:pPr indent="0" marL="0">
              <a:buNone/>
            </a:pPr>
            <a:r>
              <a:rPr lang="en-US" sz="1500" i="1" dirty="0">
                <a:solidFill>
                  <a:srgbClr val="F5F5F7"/>
                </a:solidFill>
                <a:latin typeface="Calibri" pitchFamily="34" charset="0"/>
                <a:ea typeface="Calibri" pitchFamily="34" charset="-122"/>
                <a:cs typeface="Calibri" pitchFamily="34" charset="-120"/>
              </a:rPr>
              <a:t>Cambiar de proveedor es una decisión operativa, no una migración.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MÉTODO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Cómo se construyó</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Siete fases, y el código es la sexta</a:t>
            </a:r>
            <a:endParaRPr lang="en-US" sz="1500" dirty="0"/>
          </a:p>
        </p:txBody>
      </p:sp>
      <p:sp>
        <p:nvSpPr>
          <p:cNvPr id="6" name="Shape 3"/>
          <p:cNvSpPr/>
          <p:nvPr/>
        </p:nvSpPr>
        <p:spPr>
          <a:xfrm>
            <a:off x="685800" y="1965960"/>
            <a:ext cx="1439527" cy="914400"/>
          </a:xfrm>
          <a:prstGeom prst="roundRect">
            <a:avLst>
              <a:gd name="adj" fmla="val 14000"/>
            </a:avLst>
          </a:prstGeom>
          <a:solidFill>
            <a:srgbClr val="16161B"/>
          </a:solidFill>
          <a:ln w="12700">
            <a:solidFill>
              <a:srgbClr val="33333B"/>
            </a:solidFill>
            <a:prstDash val="solid"/>
          </a:ln>
        </p:spPr>
      </p:sp>
      <p:sp>
        <p:nvSpPr>
          <p:cNvPr id="7" name="Text 4"/>
          <p:cNvSpPr/>
          <p:nvPr/>
        </p:nvSpPr>
        <p:spPr>
          <a:xfrm>
            <a:off x="685800"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Explorar</a:t>
            </a:r>
            <a:endParaRPr lang="en-US" sz="1300" dirty="0"/>
          </a:p>
        </p:txBody>
      </p:sp>
      <p:sp>
        <p:nvSpPr>
          <p:cNvPr id="8" name="Shape 5"/>
          <p:cNvSpPr/>
          <p:nvPr/>
        </p:nvSpPr>
        <p:spPr>
          <a:xfrm>
            <a:off x="2244199" y="1965960"/>
            <a:ext cx="1439527" cy="914400"/>
          </a:xfrm>
          <a:prstGeom prst="roundRect">
            <a:avLst>
              <a:gd name="adj" fmla="val 14000"/>
            </a:avLst>
          </a:prstGeom>
          <a:solidFill>
            <a:srgbClr val="16161B"/>
          </a:solidFill>
          <a:ln w="12700">
            <a:solidFill>
              <a:srgbClr val="33333B"/>
            </a:solidFill>
            <a:prstDash val="solid"/>
          </a:ln>
        </p:spPr>
      </p:sp>
      <p:sp>
        <p:nvSpPr>
          <p:cNvPr id="9" name="Text 6"/>
          <p:cNvSpPr/>
          <p:nvPr/>
        </p:nvSpPr>
        <p:spPr>
          <a:xfrm>
            <a:off x="2244199"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Proponer</a:t>
            </a:r>
            <a:endParaRPr lang="en-US" sz="1300" dirty="0"/>
          </a:p>
        </p:txBody>
      </p:sp>
      <p:sp>
        <p:nvSpPr>
          <p:cNvPr id="10" name="Shape 7"/>
          <p:cNvSpPr/>
          <p:nvPr/>
        </p:nvSpPr>
        <p:spPr>
          <a:xfrm>
            <a:off x="3802598" y="1965960"/>
            <a:ext cx="1439527" cy="914400"/>
          </a:xfrm>
          <a:prstGeom prst="roundRect">
            <a:avLst>
              <a:gd name="adj" fmla="val 14000"/>
            </a:avLst>
          </a:prstGeom>
          <a:solidFill>
            <a:srgbClr val="16161B"/>
          </a:solidFill>
          <a:ln w="12700">
            <a:solidFill>
              <a:srgbClr val="33333B"/>
            </a:solidFill>
            <a:prstDash val="solid"/>
          </a:ln>
        </p:spPr>
      </p:sp>
      <p:sp>
        <p:nvSpPr>
          <p:cNvPr id="11" name="Text 8"/>
          <p:cNvSpPr/>
          <p:nvPr/>
        </p:nvSpPr>
        <p:spPr>
          <a:xfrm>
            <a:off x="3802598"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Especificar</a:t>
            </a:r>
            <a:endParaRPr lang="en-US" sz="1300" dirty="0"/>
          </a:p>
        </p:txBody>
      </p:sp>
      <p:sp>
        <p:nvSpPr>
          <p:cNvPr id="12" name="Shape 9"/>
          <p:cNvSpPr/>
          <p:nvPr/>
        </p:nvSpPr>
        <p:spPr>
          <a:xfrm>
            <a:off x="5360997" y="1965960"/>
            <a:ext cx="1439527" cy="914400"/>
          </a:xfrm>
          <a:prstGeom prst="roundRect">
            <a:avLst>
              <a:gd name="adj" fmla="val 14000"/>
            </a:avLst>
          </a:prstGeom>
          <a:solidFill>
            <a:srgbClr val="16161B"/>
          </a:solidFill>
          <a:ln w="12700">
            <a:solidFill>
              <a:srgbClr val="33333B"/>
            </a:solidFill>
            <a:prstDash val="solid"/>
          </a:ln>
        </p:spPr>
      </p:sp>
      <p:sp>
        <p:nvSpPr>
          <p:cNvPr id="13" name="Text 10"/>
          <p:cNvSpPr/>
          <p:nvPr/>
        </p:nvSpPr>
        <p:spPr>
          <a:xfrm>
            <a:off x="5360997"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Diseñar</a:t>
            </a:r>
            <a:endParaRPr lang="en-US" sz="1300" dirty="0"/>
          </a:p>
        </p:txBody>
      </p:sp>
      <p:sp>
        <p:nvSpPr>
          <p:cNvPr id="14" name="Shape 11"/>
          <p:cNvSpPr/>
          <p:nvPr/>
        </p:nvSpPr>
        <p:spPr>
          <a:xfrm>
            <a:off x="6919395" y="1965960"/>
            <a:ext cx="1439527" cy="914400"/>
          </a:xfrm>
          <a:prstGeom prst="roundRect">
            <a:avLst>
              <a:gd name="adj" fmla="val 14000"/>
            </a:avLst>
          </a:prstGeom>
          <a:solidFill>
            <a:srgbClr val="16161B"/>
          </a:solidFill>
          <a:ln w="12700">
            <a:solidFill>
              <a:srgbClr val="33333B"/>
            </a:solidFill>
            <a:prstDash val="solid"/>
          </a:ln>
        </p:spPr>
      </p:sp>
      <p:sp>
        <p:nvSpPr>
          <p:cNvPr id="15" name="Text 12"/>
          <p:cNvSpPr/>
          <p:nvPr/>
        </p:nvSpPr>
        <p:spPr>
          <a:xfrm>
            <a:off x="6919395"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Tareas</a:t>
            </a:r>
            <a:endParaRPr lang="en-US" sz="1300" dirty="0"/>
          </a:p>
        </p:txBody>
      </p:sp>
      <p:sp>
        <p:nvSpPr>
          <p:cNvPr id="16" name="Shape 13"/>
          <p:cNvSpPr/>
          <p:nvPr/>
        </p:nvSpPr>
        <p:spPr>
          <a:xfrm>
            <a:off x="8477794" y="1965960"/>
            <a:ext cx="1439527" cy="914400"/>
          </a:xfrm>
          <a:prstGeom prst="roundRect">
            <a:avLst>
              <a:gd name="adj" fmla="val 14000"/>
            </a:avLst>
          </a:prstGeom>
          <a:solidFill>
            <a:srgbClr val="1F1F25"/>
          </a:solidFill>
          <a:ln w="12700">
            <a:solidFill>
              <a:srgbClr val="33333B"/>
            </a:solidFill>
            <a:prstDash val="solid"/>
          </a:ln>
        </p:spPr>
      </p:sp>
      <p:sp>
        <p:nvSpPr>
          <p:cNvPr id="17" name="Text 14"/>
          <p:cNvSpPr/>
          <p:nvPr/>
        </p:nvSpPr>
        <p:spPr>
          <a:xfrm>
            <a:off x="8477794" y="1965960"/>
            <a:ext cx="1439527" cy="914400"/>
          </a:xfrm>
          <a:prstGeom prst="rect">
            <a:avLst/>
          </a:prstGeom>
          <a:noFill/>
          <a:ln/>
        </p:spPr>
        <p:txBody>
          <a:bodyPr wrap="square" lIns="0" tIns="0" rIns="0" bIns="0" rtlCol="0" anchor="ctr"/>
          <a:lstStyle/>
          <a:p>
            <a:pPr algn="ctr" indent="0" marL="0">
              <a:buNone/>
            </a:pPr>
            <a:r>
              <a:rPr lang="en-US" sz="1300" b="1" dirty="0">
                <a:solidFill>
                  <a:srgbClr val="A8F060"/>
                </a:solidFill>
                <a:latin typeface="Arial" pitchFamily="34" charset="0"/>
                <a:ea typeface="Arial" pitchFamily="34" charset="-122"/>
                <a:cs typeface="Arial" pitchFamily="34" charset="-120"/>
              </a:rPr>
              <a:t>Aplicar</a:t>
            </a:r>
            <a:endParaRPr lang="en-US" sz="1300" dirty="0"/>
          </a:p>
        </p:txBody>
      </p:sp>
      <p:sp>
        <p:nvSpPr>
          <p:cNvPr id="18" name="Shape 15"/>
          <p:cNvSpPr/>
          <p:nvPr/>
        </p:nvSpPr>
        <p:spPr>
          <a:xfrm>
            <a:off x="10036193" y="1965960"/>
            <a:ext cx="1439527" cy="914400"/>
          </a:xfrm>
          <a:prstGeom prst="roundRect">
            <a:avLst>
              <a:gd name="adj" fmla="val 14000"/>
            </a:avLst>
          </a:prstGeom>
          <a:solidFill>
            <a:srgbClr val="16161B"/>
          </a:solidFill>
          <a:ln w="12700">
            <a:solidFill>
              <a:srgbClr val="33333B"/>
            </a:solidFill>
            <a:prstDash val="solid"/>
          </a:ln>
        </p:spPr>
      </p:sp>
      <p:sp>
        <p:nvSpPr>
          <p:cNvPr id="19" name="Text 16"/>
          <p:cNvSpPr/>
          <p:nvPr/>
        </p:nvSpPr>
        <p:spPr>
          <a:xfrm>
            <a:off x="10036193" y="1965960"/>
            <a:ext cx="1439527" cy="914400"/>
          </a:xfrm>
          <a:prstGeom prst="rect">
            <a:avLst/>
          </a:prstGeom>
          <a:noFill/>
          <a:ln/>
        </p:spPr>
        <p:txBody>
          <a:bodyPr wrap="square" lIns="0" tIns="0" rIns="0" bIns="0" rtlCol="0" anchor="ctr"/>
          <a:lstStyle/>
          <a:p>
            <a:pPr algn="ctr" indent="0" marL="0">
              <a:buNone/>
            </a:pPr>
            <a:r>
              <a:rPr lang="en-US" sz="1300" b="1" dirty="0">
                <a:solidFill>
                  <a:srgbClr val="F5F5F7"/>
                </a:solidFill>
                <a:latin typeface="Arial" pitchFamily="34" charset="0"/>
                <a:ea typeface="Arial" pitchFamily="34" charset="-122"/>
                <a:cs typeface="Arial" pitchFamily="34" charset="-120"/>
              </a:rPr>
              <a:t>Verificar</a:t>
            </a:r>
            <a:endParaRPr lang="en-US" sz="1300" dirty="0"/>
          </a:p>
        </p:txBody>
      </p:sp>
      <p:sp>
        <p:nvSpPr>
          <p:cNvPr id="20" name="Shape 17"/>
          <p:cNvSpPr/>
          <p:nvPr/>
        </p:nvSpPr>
        <p:spPr>
          <a:xfrm>
            <a:off x="685800" y="3154680"/>
            <a:ext cx="5349240" cy="2377440"/>
          </a:xfrm>
          <a:prstGeom prst="roundRect">
            <a:avLst>
              <a:gd name="adj" fmla="val 5385"/>
            </a:avLst>
          </a:prstGeom>
          <a:solidFill>
            <a:srgbClr val="16161B"/>
          </a:solidFill>
          <a:ln w="12700">
            <a:solidFill>
              <a:srgbClr val="33333B"/>
            </a:solidFill>
            <a:prstDash val="solid"/>
          </a:ln>
        </p:spPr>
      </p:sp>
      <p:sp>
        <p:nvSpPr>
          <p:cNvPr id="21" name="Text 18"/>
          <p:cNvSpPr/>
          <p:nvPr/>
        </p:nvSpPr>
        <p:spPr>
          <a:xfrm>
            <a:off x="1005840" y="3383280"/>
            <a:ext cx="4663440" cy="384048"/>
          </a:xfrm>
          <a:prstGeom prst="rect">
            <a:avLst/>
          </a:prstGeom>
          <a:noFill/>
          <a:ln/>
        </p:spPr>
        <p:txBody>
          <a:bodyPr wrap="square" lIns="0" tIns="0" rIns="0" bIns="0" rtlCol="0" anchor="ctr"/>
          <a:lstStyle/>
          <a:p>
            <a:pPr indent="0" marL="0">
              <a:buNone/>
            </a:pPr>
            <a:r>
              <a:rPr lang="en-US" sz="1700" b="1" dirty="0">
                <a:solidFill>
                  <a:srgbClr val="A8F060"/>
                </a:solidFill>
                <a:latin typeface="Arial" pitchFamily="34" charset="0"/>
                <a:ea typeface="Arial" pitchFamily="34" charset="-122"/>
                <a:cs typeface="Arial" pitchFamily="34" charset="-120"/>
              </a:rPr>
              <a:t>Un cambio real: 17c</a:t>
            </a:r>
            <a:endParaRPr lang="en-US" sz="1700" dirty="0"/>
          </a:p>
        </p:txBody>
      </p:sp>
      <p:sp>
        <p:nvSpPr>
          <p:cNvPr id="22" name="Text 19"/>
          <p:cNvSpPr/>
          <p:nvPr/>
        </p:nvSpPr>
        <p:spPr>
          <a:xfrm>
            <a:off x="1005840" y="3840480"/>
            <a:ext cx="4663440" cy="155448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design.md — 776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tasks.md — 606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spec.md — 358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proposal.md — 335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verify-report.md — 260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archive-report.md — 231 líneas</a:t>
            </a:r>
            <a:endParaRPr lang="en-US" sz="1250" dirty="0"/>
          </a:p>
          <a:p>
            <a:pPr marL="342900" indent="-342900">
              <a:spcAft>
                <a:spcPts val="400"/>
              </a:spcAft>
              <a:buSzPct val="100000"/>
              <a:buChar char="•"/>
            </a:pPr>
            <a:r>
              <a:rPr lang="en-US" sz="1250" dirty="0">
                <a:solidFill>
                  <a:srgbClr val="9A9AA5"/>
                </a:solidFill>
                <a:latin typeface="Calibri" pitchFamily="34" charset="0"/>
                <a:ea typeface="Calibri" pitchFamily="34" charset="-122"/>
                <a:cs typeface="Calibri" pitchFamily="34" charset="-120"/>
              </a:rPr>
              <a:t>exploration.md — 158 líneas</a:t>
            </a:r>
            <a:endParaRPr lang="en-US" sz="1250" dirty="0"/>
          </a:p>
          <a:p>
            <a:pPr indent="0" marL="0">
              <a:spcAft>
                <a:spcPts val="400"/>
              </a:spcAft>
              <a:buNone/>
            </a:pPr>
            <a:r>
              <a:rPr lang="en-US" sz="1250" dirty="0">
                <a:solidFill>
                  <a:srgbClr val="9A9AA5"/>
                </a:solidFill>
                <a:latin typeface="Calibri" pitchFamily="34" charset="0"/>
                <a:ea typeface="Calibri" pitchFamily="34" charset="-122"/>
                <a:cs typeface="Calibri" pitchFamily="34" charset="-120"/>
              </a:rPr>
              <a:t>Total: 2.909 líneas</a:t>
            </a:r>
            <a:endParaRPr lang="en-US" sz="1250" dirty="0"/>
          </a:p>
        </p:txBody>
      </p:sp>
      <p:sp>
        <p:nvSpPr>
          <p:cNvPr id="23" name="Shape 20"/>
          <p:cNvSpPr/>
          <p:nvPr/>
        </p:nvSpPr>
        <p:spPr>
          <a:xfrm>
            <a:off x="6492240" y="3154680"/>
            <a:ext cx="5349240" cy="2377440"/>
          </a:xfrm>
          <a:prstGeom prst="roundRect">
            <a:avLst>
              <a:gd name="adj" fmla="val 5385"/>
            </a:avLst>
          </a:prstGeom>
          <a:solidFill>
            <a:srgbClr val="1F1F25"/>
          </a:solidFill>
          <a:ln w="12700">
            <a:solidFill>
              <a:srgbClr val="33333B"/>
            </a:solidFill>
            <a:prstDash val="solid"/>
          </a:ln>
        </p:spPr>
      </p:sp>
      <p:sp>
        <p:nvSpPr>
          <p:cNvPr id="24" name="Text 21"/>
          <p:cNvSpPr/>
          <p:nvPr/>
        </p:nvSpPr>
        <p:spPr>
          <a:xfrm>
            <a:off x="6812280" y="3383280"/>
            <a:ext cx="4663440" cy="384048"/>
          </a:xfrm>
          <a:prstGeom prst="rect">
            <a:avLst/>
          </a:prstGeom>
          <a:noFill/>
          <a:ln/>
        </p:spPr>
        <p:txBody>
          <a:bodyPr wrap="square" lIns="0" tIns="0" rIns="0" bIns="0" rtlCol="0" anchor="ctr"/>
          <a:lstStyle/>
          <a:p>
            <a:pPr indent="0" marL="0">
              <a:buNone/>
            </a:pPr>
            <a:r>
              <a:rPr lang="en-US" sz="1700" b="1" dirty="0">
                <a:solidFill>
                  <a:srgbClr val="F5F5F7"/>
                </a:solidFill>
                <a:latin typeface="Arial" pitchFamily="34" charset="0"/>
                <a:ea typeface="Arial" pitchFamily="34" charset="-122"/>
                <a:cs typeface="Arial" pitchFamily="34" charset="-120"/>
              </a:rPr>
              <a:t>La exploración paga el ciclo entero</a:t>
            </a:r>
            <a:endParaRPr lang="en-US" sz="1700" dirty="0"/>
          </a:p>
        </p:txBody>
      </p:sp>
      <p:sp>
        <p:nvSpPr>
          <p:cNvPr id="25" name="Text 22"/>
          <p:cNvSpPr/>
          <p:nvPr/>
        </p:nvSpPr>
        <p:spPr>
          <a:xfrm>
            <a:off x="6812280" y="3840480"/>
            <a:ext cx="4663440" cy="146304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Antes de escribir una línea encontró que la app móvil no tenía pantalla de perfil, que la serie de pesos tenía otra forma, que el cambio reescribiría el historial, y un canal de fuga de privacidad que el issue no mencionaba.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MÉTODO</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Delegar sin perder el control</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Contrato propio sobre orquestación de terceros</a:t>
            </a:r>
            <a:endParaRPr lang="en-US" sz="1500" dirty="0"/>
          </a:p>
        </p:txBody>
      </p:sp>
      <p:sp>
        <p:nvSpPr>
          <p:cNvPr id="6" name="Shape 3"/>
          <p:cNvSpPr/>
          <p:nvPr/>
        </p:nvSpPr>
        <p:spPr>
          <a:xfrm>
            <a:off x="685800" y="1965960"/>
            <a:ext cx="3429000" cy="2331720"/>
          </a:xfrm>
          <a:prstGeom prst="roundRect">
            <a:avLst>
              <a:gd name="adj" fmla="val 5490"/>
            </a:avLst>
          </a:prstGeom>
          <a:solidFill>
            <a:srgbClr val="16161B"/>
          </a:solidFill>
          <a:ln w="12700">
            <a:solidFill>
              <a:srgbClr val="33333B"/>
            </a:solidFill>
            <a:prstDash val="solid"/>
          </a:ln>
        </p:spPr>
      </p:sp>
      <p:sp>
        <p:nvSpPr>
          <p:cNvPr id="7" name="Text 4"/>
          <p:cNvSpPr/>
          <p:nvPr/>
        </p:nvSpPr>
        <p:spPr>
          <a:xfrm>
            <a:off x="978408" y="2212848"/>
            <a:ext cx="2843784" cy="411480"/>
          </a:xfrm>
          <a:prstGeom prst="rect">
            <a:avLst/>
          </a:prstGeom>
          <a:noFill/>
          <a:ln/>
        </p:spPr>
        <p:txBody>
          <a:bodyPr wrap="square" lIns="0" tIns="0" rIns="0" bIns="0" rtlCol="0" anchor="ctr"/>
          <a:lstStyle/>
          <a:p>
            <a:pPr indent="0" marL="0">
              <a:buNone/>
            </a:pPr>
            <a:r>
              <a:rPr lang="en-US" sz="1800" b="1" dirty="0">
                <a:solidFill>
                  <a:srgbClr val="A8F060"/>
                </a:solidFill>
                <a:latin typeface="Arial" pitchFamily="34" charset="0"/>
                <a:ea typeface="Arial" pitchFamily="34" charset="-122"/>
                <a:cs typeface="Arial" pitchFamily="34" charset="-120"/>
              </a:rPr>
              <a:t>AGENTS.md</a:t>
            </a:r>
            <a:endParaRPr lang="en-US" sz="1800" dirty="0"/>
          </a:p>
        </p:txBody>
      </p:sp>
      <p:sp>
        <p:nvSpPr>
          <p:cNvPr id="8" name="Text 5"/>
          <p:cNvSpPr/>
          <p:nvPr/>
        </p:nvSpPr>
        <p:spPr>
          <a:xfrm>
            <a:off x="978408" y="2697480"/>
            <a:ext cx="2843784" cy="141732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150 líneas de contrato. No fabricar resultados de tests. No commitear sin aprobación. Creció con cada fallo observado.</a:t>
            </a:r>
            <a:endParaRPr lang="en-US" sz="1300" dirty="0"/>
          </a:p>
        </p:txBody>
      </p:sp>
      <p:sp>
        <p:nvSpPr>
          <p:cNvPr id="9" name="Shape 6"/>
          <p:cNvSpPr/>
          <p:nvPr/>
        </p:nvSpPr>
        <p:spPr>
          <a:xfrm>
            <a:off x="4498848" y="1965960"/>
            <a:ext cx="3429000" cy="2331720"/>
          </a:xfrm>
          <a:prstGeom prst="roundRect">
            <a:avLst>
              <a:gd name="adj" fmla="val 5490"/>
            </a:avLst>
          </a:prstGeom>
          <a:solidFill>
            <a:srgbClr val="16161B"/>
          </a:solidFill>
          <a:ln w="12700">
            <a:solidFill>
              <a:srgbClr val="33333B"/>
            </a:solidFill>
            <a:prstDash val="solid"/>
          </a:ln>
        </p:spPr>
      </p:sp>
      <p:sp>
        <p:nvSpPr>
          <p:cNvPr id="10" name="Text 7"/>
          <p:cNvSpPr/>
          <p:nvPr/>
        </p:nvSpPr>
        <p:spPr>
          <a:xfrm>
            <a:off x="4791456" y="2212848"/>
            <a:ext cx="2843784" cy="411480"/>
          </a:xfrm>
          <a:prstGeom prst="rect">
            <a:avLst/>
          </a:prstGeom>
          <a:noFill/>
          <a:ln/>
        </p:spPr>
        <p:txBody>
          <a:bodyPr wrap="square" lIns="0" tIns="0" rIns="0" bIns="0" rtlCol="0" anchor="ctr"/>
          <a:lstStyle/>
          <a:p>
            <a:pPr indent="0" marL="0">
              <a:buNone/>
            </a:pPr>
            <a:r>
              <a:rPr lang="en-US" sz="1800" b="1" dirty="0">
                <a:solidFill>
                  <a:srgbClr val="A8F060"/>
                </a:solidFill>
                <a:latin typeface="Arial" pitchFamily="34" charset="0"/>
                <a:ea typeface="Arial" pitchFamily="34" charset="-122"/>
                <a:cs typeface="Arial" pitchFamily="34" charset="-120"/>
              </a:rPr>
              <a:t>7 comprobaciones automáticas</a:t>
            </a:r>
            <a:endParaRPr lang="en-US" sz="1800" dirty="0"/>
          </a:p>
        </p:txBody>
      </p:sp>
      <p:sp>
        <p:nvSpPr>
          <p:cNvPr id="11" name="Text 8"/>
          <p:cNvSpPr/>
          <p:nvPr/>
        </p:nvSpPr>
        <p:spPr>
          <a:xfrm>
            <a:off x="4791456" y="2697480"/>
            <a:ext cx="2843784" cy="141732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Tipos, tests, arquitectura, dependencias, interfaz contra API, compilación y directorios de test huérfanos. Bloquean la integración.</a:t>
            </a:r>
            <a:endParaRPr lang="en-US" sz="1300" dirty="0"/>
          </a:p>
        </p:txBody>
      </p:sp>
      <p:sp>
        <p:nvSpPr>
          <p:cNvPr id="12" name="Shape 9"/>
          <p:cNvSpPr/>
          <p:nvPr/>
        </p:nvSpPr>
        <p:spPr>
          <a:xfrm>
            <a:off x="8311896" y="1965960"/>
            <a:ext cx="3429000" cy="2331720"/>
          </a:xfrm>
          <a:prstGeom prst="roundRect">
            <a:avLst>
              <a:gd name="adj" fmla="val 5490"/>
            </a:avLst>
          </a:prstGeom>
          <a:solidFill>
            <a:srgbClr val="16161B"/>
          </a:solidFill>
          <a:ln w="12700">
            <a:solidFill>
              <a:srgbClr val="33333B"/>
            </a:solidFill>
            <a:prstDash val="solid"/>
          </a:ln>
        </p:spPr>
      </p:sp>
      <p:sp>
        <p:nvSpPr>
          <p:cNvPr id="13" name="Text 10"/>
          <p:cNvSpPr/>
          <p:nvPr/>
        </p:nvSpPr>
        <p:spPr>
          <a:xfrm>
            <a:off x="8604504" y="2212848"/>
            <a:ext cx="2843784" cy="411480"/>
          </a:xfrm>
          <a:prstGeom prst="rect">
            <a:avLst/>
          </a:prstGeom>
          <a:noFill/>
          <a:ln/>
        </p:spPr>
        <p:txBody>
          <a:bodyPr wrap="square" lIns="0" tIns="0" rIns="0" bIns="0" rtlCol="0" anchor="ctr"/>
          <a:lstStyle/>
          <a:p>
            <a:pPr indent="0" marL="0">
              <a:buNone/>
            </a:pPr>
            <a:r>
              <a:rPr lang="en-US" sz="1800" b="1" dirty="0">
                <a:solidFill>
                  <a:srgbClr val="A8F060"/>
                </a:solidFill>
                <a:latin typeface="Arial" pitchFamily="34" charset="0"/>
                <a:ea typeface="Arial" pitchFamily="34" charset="-122"/>
                <a:cs typeface="Arial" pitchFamily="34" charset="-120"/>
              </a:rPr>
              <a:t>Judgment Day</a:t>
            </a:r>
            <a:endParaRPr lang="en-US" sz="1800" dirty="0"/>
          </a:p>
        </p:txBody>
      </p:sp>
      <p:sp>
        <p:nvSpPr>
          <p:cNvPr id="14" name="Text 11"/>
          <p:cNvSpPr/>
          <p:nvPr/>
        </p:nvSpPr>
        <p:spPr>
          <a:xfrm>
            <a:off x="8604504" y="2697480"/>
            <a:ext cx="2843784" cy="1417320"/>
          </a:xfrm>
          <a:prstGeom prst="rect">
            <a:avLst/>
          </a:prstGeom>
          <a:noFill/>
          <a:ln/>
        </p:spPr>
        <p:txBody>
          <a:bodyPr wrap="square" lIns="0" tIns="0" rIns="0" bIns="0" rtlCol="0" anchor="t"/>
          <a:lstStyle/>
          <a:p>
            <a:pPr indent="0" marL="0">
              <a:buNone/>
            </a:pPr>
            <a:r>
              <a:rPr lang="en-US" sz="1300" dirty="0">
                <a:solidFill>
                  <a:srgbClr val="9A9AA5"/>
                </a:solidFill>
                <a:latin typeface="Calibri" pitchFamily="34" charset="0"/>
                <a:ea typeface="Calibri" pitchFamily="34" charset="-122"/>
                <a:cs typeface="Calibri" pitchFamily="34" charset="-120"/>
              </a:rPr>
              <a:t>Revisión dual ciega adversarial, del orquestador gentle-ai. Cuatro defectos encontrados en el trabajo offline, ninguno rompía un test.</a:t>
            </a:r>
            <a:endParaRPr lang="en-US" sz="1300" dirty="0"/>
          </a:p>
        </p:txBody>
      </p:sp>
      <p:sp>
        <p:nvSpPr>
          <p:cNvPr id="15" name="Shape 12"/>
          <p:cNvSpPr/>
          <p:nvPr/>
        </p:nvSpPr>
        <p:spPr>
          <a:xfrm>
            <a:off x="685800" y="4572000"/>
            <a:ext cx="10789920" cy="960120"/>
          </a:xfrm>
          <a:prstGeom prst="roundRect">
            <a:avLst>
              <a:gd name="adj" fmla="val 13333"/>
            </a:avLst>
          </a:prstGeom>
          <a:solidFill>
            <a:srgbClr val="1F1F25"/>
          </a:solidFill>
          <a:ln w="12700">
            <a:solidFill>
              <a:srgbClr val="33333B"/>
            </a:solidFill>
            <a:prstDash val="solid"/>
          </a:ln>
        </p:spPr>
      </p:sp>
      <p:sp>
        <p:nvSpPr>
          <p:cNvPr id="16" name="Text 13"/>
          <p:cNvSpPr/>
          <p:nvPr/>
        </p:nvSpPr>
        <p:spPr>
          <a:xfrm>
            <a:off x="1051560" y="4572000"/>
            <a:ext cx="1737360" cy="960120"/>
          </a:xfrm>
          <a:prstGeom prst="rect">
            <a:avLst/>
          </a:prstGeom>
          <a:noFill/>
          <a:ln/>
        </p:spPr>
        <p:txBody>
          <a:bodyPr wrap="square" lIns="0" tIns="0" rIns="0" bIns="0" rtlCol="0" anchor="ctr"/>
          <a:lstStyle/>
          <a:p>
            <a:pPr indent="0" marL="0">
              <a:buNone/>
            </a:pPr>
            <a:r>
              <a:rPr lang="en-US" sz="1300" b="1" dirty="0">
                <a:solidFill>
                  <a:srgbClr val="E8C15A"/>
                </a:solidFill>
                <a:latin typeface="Arial" pitchFamily="34" charset="0"/>
                <a:ea typeface="Arial" pitchFamily="34" charset="-122"/>
                <a:cs typeface="Arial" pitchFamily="34" charset="-120"/>
              </a:rPr>
              <a:t>Y lo que no vieron</a:t>
            </a:r>
            <a:endParaRPr lang="en-US" sz="1300" dirty="0"/>
          </a:p>
        </p:txBody>
      </p:sp>
      <p:sp>
        <p:nvSpPr>
          <p:cNvPr id="17" name="Text 14"/>
          <p:cNvSpPr/>
          <p:nvPr/>
        </p:nvSpPr>
        <p:spPr>
          <a:xfrm>
            <a:off x="2971800" y="4572000"/>
            <a:ext cx="8503920" cy="960120"/>
          </a:xfrm>
          <a:prstGeom prst="rect">
            <a:avLst/>
          </a:prstGeom>
          <a:noFill/>
          <a:ln/>
        </p:spPr>
        <p:txBody>
          <a:bodyPr wrap="square" lIns="0" tIns="0" rIns="0" bIns="0" rtlCol="0" anchor="ctr"/>
          <a:lstStyle/>
          <a:p>
            <a:pPr indent="0" marL="0">
              <a:buNone/>
            </a:pPr>
            <a:r>
              <a:rPr lang="en-US" sz="1300" dirty="0">
                <a:solidFill>
                  <a:srgbClr val="F5F5F7"/>
                </a:solidFill>
                <a:latin typeface="Calibri" pitchFamily="34" charset="0"/>
                <a:ea typeface="Calibri" pitchFamily="34" charset="-122"/>
                <a:cs typeface="Calibri" pitchFamily="34" charset="-120"/>
              </a:rPr>
              <a:t>Cuatro veces una variable de entorno que el código lee y que Compose no reenvía llegó a producción con el valor por defecto. Ninguna de las siete lo detecta. Vuelvo sobre esto en la retrospectiva.</a:t>
            </a:r>
            <a:endParaRPr lang="en-US" sz="1300" dirty="0"/>
          </a:p>
        </p:txBody>
      </p:sp>
      <p:sp>
        <p:nvSpPr>
          <p:cNvPr id="18" name="Text 15"/>
          <p:cNvSpPr/>
          <p:nvPr/>
        </p:nvSpPr>
        <p:spPr>
          <a:xfrm>
            <a:off x="685800" y="5715000"/>
            <a:ext cx="10607040" cy="548640"/>
          </a:xfrm>
          <a:prstGeom prst="rect">
            <a:avLst/>
          </a:prstGeom>
          <a:noFill/>
          <a:ln/>
        </p:spPr>
        <p:txBody>
          <a:bodyPr wrap="square" lIns="0" tIns="0" rIns="0" bIns="0" rtlCol="0" anchor="ctr"/>
          <a:lstStyle/>
          <a:p>
            <a:pPr indent="0" marL="0">
              <a:buNone/>
            </a:pPr>
            <a:r>
              <a:rPr lang="en-US" sz="1100" dirty="0">
                <a:solidFill>
                  <a:srgbClr val="9A9AA5"/>
                </a:solidFill>
                <a:latin typeface="Calibri" pitchFamily="34" charset="0"/>
                <a:ea typeface="Calibri" pitchFamily="34" charset="-122"/>
                <a:cs typeface="Calibri" pitchFamily="34" charset="-120"/>
              </a:rPr>
              <a:t>Cobertura de tests: 94,35 % de las funciones de la API con base de datos, 91,51 % sin ella.    ·    El orquestador (gentle-ai, de Alan Buscaglia, MIT) aporta las fases, la delegación y Judgment Day; el contrato, las siete comprobaciones y la calibración de la puerta son de este proyecto.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RESULTADOS</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Resultados</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52 días · una persona dirigiendo agentes · en los huecos</a:t>
            </a:r>
            <a:endParaRPr lang="en-US" sz="1500" dirty="0"/>
          </a:p>
        </p:txBody>
      </p:sp>
      <p:sp>
        <p:nvSpPr>
          <p:cNvPr id="6" name="Shape 3"/>
          <p:cNvSpPr/>
          <p:nvPr/>
        </p:nvSpPr>
        <p:spPr>
          <a:xfrm>
            <a:off x="685800" y="1874520"/>
            <a:ext cx="2505456" cy="1417320"/>
          </a:xfrm>
          <a:prstGeom prst="roundRect">
            <a:avLst>
              <a:gd name="adj" fmla="val 9032"/>
            </a:avLst>
          </a:prstGeom>
          <a:solidFill>
            <a:srgbClr val="16161B"/>
          </a:solidFill>
          <a:ln w="12700">
            <a:solidFill>
              <a:srgbClr val="33333B"/>
            </a:solidFill>
            <a:prstDash val="solid"/>
          </a:ln>
        </p:spPr>
      </p:sp>
      <p:sp>
        <p:nvSpPr>
          <p:cNvPr id="7" name="Text 4"/>
          <p:cNvSpPr/>
          <p:nvPr/>
        </p:nvSpPr>
        <p:spPr>
          <a:xfrm>
            <a:off x="868680" y="2011680"/>
            <a:ext cx="2139696" cy="731520"/>
          </a:xfrm>
          <a:prstGeom prst="rect">
            <a:avLst/>
          </a:prstGeom>
          <a:noFill/>
          <a:ln/>
        </p:spPr>
        <p:txBody>
          <a:bodyPr wrap="square" lIns="0" tIns="0" rIns="0" bIns="0" rtlCol="0" anchor="ctr"/>
          <a:lstStyle/>
          <a:p>
            <a:pPr algn="ctr" indent="0" marL="0">
              <a:buNone/>
            </a:pPr>
            <a:r>
              <a:rPr lang="en-US" sz="3400" b="1" dirty="0">
                <a:solidFill>
                  <a:srgbClr val="A8F060"/>
                </a:solidFill>
                <a:latin typeface="Arial" pitchFamily="34" charset="0"/>
                <a:ea typeface="Arial" pitchFamily="34" charset="-122"/>
                <a:cs typeface="Arial" pitchFamily="34" charset="-120"/>
              </a:rPr>
              <a:t>714</a:t>
            </a:r>
            <a:endParaRPr lang="en-US" sz="3400" dirty="0"/>
          </a:p>
        </p:txBody>
      </p:sp>
      <p:sp>
        <p:nvSpPr>
          <p:cNvPr id="8" name="Text 5"/>
          <p:cNvSpPr/>
          <p:nvPr/>
        </p:nvSpPr>
        <p:spPr>
          <a:xfrm>
            <a:off x="868680" y="2761488"/>
            <a:ext cx="2139696" cy="365760"/>
          </a:xfrm>
          <a:prstGeom prst="rect">
            <a:avLst/>
          </a:prstGeom>
          <a:noFill/>
          <a:ln/>
        </p:spPr>
        <p:txBody>
          <a:bodyPr wrap="square" lIns="0" tIns="0" rIns="0" bIns="0" rtlCol="0" anchor="ctr"/>
          <a:lstStyle/>
          <a:p>
            <a:pPr algn="ctr" indent="0" marL="0">
              <a:buNone/>
            </a:pPr>
            <a:r>
              <a:rPr lang="en-US" sz="1300" dirty="0">
                <a:solidFill>
                  <a:srgbClr val="9A9AA5"/>
                </a:solidFill>
                <a:latin typeface="Calibri" pitchFamily="34" charset="0"/>
                <a:ea typeface="Calibri" pitchFamily="34" charset="-122"/>
                <a:cs typeface="Calibri" pitchFamily="34" charset="-120"/>
              </a:rPr>
              <a:t>commits</a:t>
            </a:r>
            <a:endParaRPr lang="en-US" sz="1300" dirty="0"/>
          </a:p>
        </p:txBody>
      </p:sp>
      <p:sp>
        <p:nvSpPr>
          <p:cNvPr id="9" name="Shape 6"/>
          <p:cNvSpPr/>
          <p:nvPr/>
        </p:nvSpPr>
        <p:spPr>
          <a:xfrm>
            <a:off x="3447288" y="1874520"/>
            <a:ext cx="2505456" cy="1417320"/>
          </a:xfrm>
          <a:prstGeom prst="roundRect">
            <a:avLst>
              <a:gd name="adj" fmla="val 9032"/>
            </a:avLst>
          </a:prstGeom>
          <a:solidFill>
            <a:srgbClr val="16161B"/>
          </a:solidFill>
          <a:ln w="12700">
            <a:solidFill>
              <a:srgbClr val="33333B"/>
            </a:solidFill>
            <a:prstDash val="solid"/>
          </a:ln>
        </p:spPr>
      </p:sp>
      <p:sp>
        <p:nvSpPr>
          <p:cNvPr id="10" name="Text 7"/>
          <p:cNvSpPr/>
          <p:nvPr/>
        </p:nvSpPr>
        <p:spPr>
          <a:xfrm>
            <a:off x="3630168" y="2011680"/>
            <a:ext cx="2139696" cy="731520"/>
          </a:xfrm>
          <a:prstGeom prst="rect">
            <a:avLst/>
          </a:prstGeom>
          <a:noFill/>
          <a:ln/>
        </p:spPr>
        <p:txBody>
          <a:bodyPr wrap="square" lIns="0" tIns="0" rIns="0" bIns="0" rtlCol="0" anchor="ctr"/>
          <a:lstStyle/>
          <a:p>
            <a:pPr algn="ctr" indent="0" marL="0">
              <a:buNone/>
            </a:pPr>
            <a:r>
              <a:rPr lang="en-US" sz="3400" b="1" dirty="0">
                <a:solidFill>
                  <a:srgbClr val="A8F060"/>
                </a:solidFill>
                <a:latin typeface="Arial" pitchFamily="34" charset="0"/>
                <a:ea typeface="Arial" pitchFamily="34" charset="-122"/>
                <a:cs typeface="Arial" pitchFamily="34" charset="-120"/>
              </a:rPr>
              <a:t>173</a:t>
            </a:r>
            <a:endParaRPr lang="en-US" sz="3400" dirty="0"/>
          </a:p>
        </p:txBody>
      </p:sp>
      <p:sp>
        <p:nvSpPr>
          <p:cNvPr id="11" name="Text 8"/>
          <p:cNvSpPr/>
          <p:nvPr/>
        </p:nvSpPr>
        <p:spPr>
          <a:xfrm>
            <a:off x="3630168" y="2761488"/>
            <a:ext cx="2139696" cy="365760"/>
          </a:xfrm>
          <a:prstGeom prst="rect">
            <a:avLst/>
          </a:prstGeom>
          <a:noFill/>
          <a:ln/>
        </p:spPr>
        <p:txBody>
          <a:bodyPr wrap="square" lIns="0" tIns="0" rIns="0" bIns="0" rtlCol="0" anchor="ctr"/>
          <a:lstStyle/>
          <a:p>
            <a:pPr algn="ctr" indent="0" marL="0">
              <a:buNone/>
            </a:pPr>
            <a:r>
              <a:rPr lang="en-US" sz="1300" dirty="0">
                <a:solidFill>
                  <a:srgbClr val="9A9AA5"/>
                </a:solidFill>
                <a:latin typeface="Calibri" pitchFamily="34" charset="0"/>
                <a:ea typeface="Calibri" pitchFamily="34" charset="-122"/>
                <a:cs typeface="Calibri" pitchFamily="34" charset="-120"/>
              </a:rPr>
              <a:t>pull requests</a:t>
            </a:r>
            <a:endParaRPr lang="en-US" sz="1300" dirty="0"/>
          </a:p>
        </p:txBody>
      </p:sp>
      <p:sp>
        <p:nvSpPr>
          <p:cNvPr id="12" name="Shape 9"/>
          <p:cNvSpPr/>
          <p:nvPr/>
        </p:nvSpPr>
        <p:spPr>
          <a:xfrm>
            <a:off x="6208776" y="1874520"/>
            <a:ext cx="2505456" cy="1417320"/>
          </a:xfrm>
          <a:prstGeom prst="roundRect">
            <a:avLst>
              <a:gd name="adj" fmla="val 9032"/>
            </a:avLst>
          </a:prstGeom>
          <a:solidFill>
            <a:srgbClr val="16161B"/>
          </a:solidFill>
          <a:ln w="12700">
            <a:solidFill>
              <a:srgbClr val="33333B"/>
            </a:solidFill>
            <a:prstDash val="solid"/>
          </a:ln>
        </p:spPr>
      </p:sp>
      <p:sp>
        <p:nvSpPr>
          <p:cNvPr id="13" name="Text 10"/>
          <p:cNvSpPr/>
          <p:nvPr/>
        </p:nvSpPr>
        <p:spPr>
          <a:xfrm>
            <a:off x="6391656" y="2011680"/>
            <a:ext cx="2139696" cy="731520"/>
          </a:xfrm>
          <a:prstGeom prst="rect">
            <a:avLst/>
          </a:prstGeom>
          <a:noFill/>
          <a:ln/>
        </p:spPr>
        <p:txBody>
          <a:bodyPr wrap="square" lIns="0" tIns="0" rIns="0" bIns="0" rtlCol="0" anchor="ctr"/>
          <a:lstStyle/>
          <a:p>
            <a:pPr algn="ctr" indent="0" marL="0">
              <a:buNone/>
            </a:pPr>
            <a:r>
              <a:rPr lang="en-US" sz="3400" b="1" dirty="0">
                <a:solidFill>
                  <a:srgbClr val="A8F060"/>
                </a:solidFill>
                <a:latin typeface="Arial" pitchFamily="34" charset="0"/>
                <a:ea typeface="Arial" pitchFamily="34" charset="-122"/>
                <a:cs typeface="Arial" pitchFamily="34" charset="-120"/>
              </a:rPr>
              <a:t>318.732</a:t>
            </a:r>
            <a:endParaRPr lang="en-US" sz="3400" dirty="0"/>
          </a:p>
        </p:txBody>
      </p:sp>
      <p:sp>
        <p:nvSpPr>
          <p:cNvPr id="14" name="Text 11"/>
          <p:cNvSpPr/>
          <p:nvPr/>
        </p:nvSpPr>
        <p:spPr>
          <a:xfrm>
            <a:off x="6391656" y="2761488"/>
            <a:ext cx="2139696" cy="365760"/>
          </a:xfrm>
          <a:prstGeom prst="rect">
            <a:avLst/>
          </a:prstGeom>
          <a:noFill/>
          <a:ln/>
        </p:spPr>
        <p:txBody>
          <a:bodyPr wrap="square" lIns="0" tIns="0" rIns="0" bIns="0" rtlCol="0" anchor="ctr"/>
          <a:lstStyle/>
          <a:p>
            <a:pPr algn="ctr" indent="0" marL="0">
              <a:buNone/>
            </a:pPr>
            <a:r>
              <a:rPr lang="en-US" sz="1300" dirty="0">
                <a:solidFill>
                  <a:srgbClr val="9A9AA5"/>
                </a:solidFill>
                <a:latin typeface="Calibri" pitchFamily="34" charset="0"/>
                <a:ea typeface="Calibri" pitchFamily="34" charset="-122"/>
                <a:cs typeface="Calibri" pitchFamily="34" charset="-120"/>
              </a:rPr>
              <a:t>líneas versionadas: código, tests y 337 documentos</a:t>
            </a:r>
            <a:endParaRPr lang="en-US" sz="1300" dirty="0"/>
          </a:p>
        </p:txBody>
      </p:sp>
      <p:sp>
        <p:nvSpPr>
          <p:cNvPr id="15" name="Shape 12"/>
          <p:cNvSpPr/>
          <p:nvPr/>
        </p:nvSpPr>
        <p:spPr>
          <a:xfrm>
            <a:off x="8970264" y="1874520"/>
            <a:ext cx="2505456" cy="1417320"/>
          </a:xfrm>
          <a:prstGeom prst="roundRect">
            <a:avLst>
              <a:gd name="adj" fmla="val 9032"/>
            </a:avLst>
          </a:prstGeom>
          <a:solidFill>
            <a:srgbClr val="16161B"/>
          </a:solidFill>
          <a:ln w="12700">
            <a:solidFill>
              <a:srgbClr val="33333B"/>
            </a:solidFill>
            <a:prstDash val="solid"/>
          </a:ln>
        </p:spPr>
      </p:sp>
      <p:sp>
        <p:nvSpPr>
          <p:cNvPr id="16" name="Text 13"/>
          <p:cNvSpPr/>
          <p:nvPr/>
        </p:nvSpPr>
        <p:spPr>
          <a:xfrm>
            <a:off x="9153144" y="2011680"/>
            <a:ext cx="2139696" cy="731520"/>
          </a:xfrm>
          <a:prstGeom prst="rect">
            <a:avLst/>
          </a:prstGeom>
          <a:noFill/>
          <a:ln/>
        </p:spPr>
        <p:txBody>
          <a:bodyPr wrap="square" lIns="0" tIns="0" rIns="0" bIns="0" rtlCol="0" anchor="ctr"/>
          <a:lstStyle/>
          <a:p>
            <a:pPr algn="ctr" indent="0" marL="0">
              <a:buNone/>
            </a:pPr>
            <a:r>
              <a:rPr lang="en-US" sz="3400" b="1" dirty="0">
                <a:solidFill>
                  <a:srgbClr val="A8F060"/>
                </a:solidFill>
                <a:latin typeface="Arial" pitchFamily="34" charset="0"/>
                <a:ea typeface="Arial" pitchFamily="34" charset="-122"/>
                <a:cs typeface="Arial" pitchFamily="34" charset="-120"/>
              </a:rPr>
              <a:t>491 / 502</a:t>
            </a:r>
            <a:endParaRPr lang="en-US" sz="3400" dirty="0"/>
          </a:p>
        </p:txBody>
      </p:sp>
      <p:sp>
        <p:nvSpPr>
          <p:cNvPr id="17" name="Text 14"/>
          <p:cNvSpPr/>
          <p:nvPr/>
        </p:nvSpPr>
        <p:spPr>
          <a:xfrm>
            <a:off x="9153144" y="2761488"/>
            <a:ext cx="2139696" cy="365760"/>
          </a:xfrm>
          <a:prstGeom prst="rect">
            <a:avLst/>
          </a:prstGeom>
          <a:noFill/>
          <a:ln/>
        </p:spPr>
        <p:txBody>
          <a:bodyPr wrap="square" lIns="0" tIns="0" rIns="0" bIns="0" rtlCol="0" anchor="ctr"/>
          <a:lstStyle/>
          <a:p>
            <a:pPr algn="ctr" indent="0" marL="0">
              <a:buNone/>
            </a:pPr>
            <a:r>
              <a:rPr lang="en-US" sz="1300" dirty="0">
                <a:solidFill>
                  <a:srgbClr val="9A9AA5"/>
                </a:solidFill>
                <a:latin typeface="Calibri" pitchFamily="34" charset="0"/>
                <a:ea typeface="Calibri" pitchFamily="34" charset="-122"/>
                <a:cs typeface="Calibri" pitchFamily="34" charset="-120"/>
              </a:rPr>
              <a:t>ficheros de test / de código</a:t>
            </a:r>
            <a:endParaRPr lang="en-US" sz="1300" dirty="0"/>
          </a:p>
        </p:txBody>
      </p:sp>
      <p:sp>
        <p:nvSpPr>
          <p:cNvPr id="18" name="Shape 15"/>
          <p:cNvSpPr/>
          <p:nvPr/>
        </p:nvSpPr>
        <p:spPr>
          <a:xfrm>
            <a:off x="685800" y="3520440"/>
            <a:ext cx="6949440" cy="2468880"/>
          </a:xfrm>
          <a:prstGeom prst="roundRect">
            <a:avLst>
              <a:gd name="adj" fmla="val 5185"/>
            </a:avLst>
          </a:prstGeom>
          <a:solidFill>
            <a:srgbClr val="16161B"/>
          </a:solidFill>
          <a:ln w="12700">
            <a:solidFill>
              <a:srgbClr val="33333B"/>
            </a:solidFill>
            <a:prstDash val="solid"/>
          </a:ln>
        </p:spPr>
      </p:sp>
      <p:graphicFrame>
        <p:nvGraphicFramePr>
          <p:cNvPr id="19" name="Chart 0" descr=""/>
          <p:cNvGraphicFramePr/>
          <p:nvPr/>
        </p:nvGraphicFramePr>
        <p:xfrm>
          <a:off x="822960" y="3611880"/>
          <a:ext cx="6675120" cy="2286000"/>
        </p:xfrm>
        <a:graphic xmlns:a="http://schemas.openxmlformats.org/drawingml/2006/main">
          <a:graphicData uri="http://schemas.openxmlformats.org/drawingml/2006/chart">
            <c:chart xmlns:c="http://schemas.openxmlformats.org/drawingml/2006/chart" r:id="rId1"/>
          </a:graphicData>
        </a:graphic>
      </p:graphicFrame>
      <p:sp>
        <p:nvSpPr>
          <p:cNvPr id="20" name="Shape 16"/>
          <p:cNvSpPr/>
          <p:nvPr/>
        </p:nvSpPr>
        <p:spPr>
          <a:xfrm>
            <a:off x="7863840" y="3520440"/>
            <a:ext cx="3611880" cy="2468880"/>
          </a:xfrm>
          <a:prstGeom prst="roundRect">
            <a:avLst>
              <a:gd name="adj" fmla="val 5185"/>
            </a:avLst>
          </a:prstGeom>
          <a:solidFill>
            <a:srgbClr val="1F1F25"/>
          </a:solidFill>
          <a:ln w="12700">
            <a:solidFill>
              <a:srgbClr val="33333B"/>
            </a:solidFill>
            <a:prstDash val="solid"/>
          </a:ln>
        </p:spPr>
      </p:sp>
      <p:sp>
        <p:nvSpPr>
          <p:cNvPr id="21" name="Text 17"/>
          <p:cNvSpPr/>
          <p:nvPr/>
        </p:nvSpPr>
        <p:spPr>
          <a:xfrm>
            <a:off x="8138160" y="3794760"/>
            <a:ext cx="3108960" cy="777240"/>
          </a:xfrm>
          <a:prstGeom prst="rect">
            <a:avLst/>
          </a:prstGeom>
          <a:noFill/>
          <a:ln/>
        </p:spPr>
        <p:txBody>
          <a:bodyPr wrap="square" lIns="0" tIns="0" rIns="0" bIns="0" rtlCol="0" anchor="ctr"/>
          <a:lstStyle/>
          <a:p>
            <a:pPr indent="0" marL="0">
              <a:buNone/>
            </a:pPr>
            <a:r>
              <a:rPr lang="en-US" sz="4200" b="1" dirty="0">
                <a:solidFill>
                  <a:srgbClr val="A8F060"/>
                </a:solidFill>
                <a:latin typeface="Arial" pitchFamily="34" charset="0"/>
                <a:ea typeface="Arial" pitchFamily="34" charset="-122"/>
                <a:cs typeface="Arial" pitchFamily="34" charset="-120"/>
              </a:rPr>
              <a:t>40 %</a:t>
            </a:r>
            <a:endParaRPr lang="en-US" sz="4200" dirty="0"/>
          </a:p>
        </p:txBody>
      </p:sp>
      <p:sp>
        <p:nvSpPr>
          <p:cNvPr id="22" name="Text 18"/>
          <p:cNvSpPr/>
          <p:nvPr/>
        </p:nvSpPr>
        <p:spPr>
          <a:xfrm>
            <a:off x="8138160" y="4617720"/>
            <a:ext cx="3108960" cy="109728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de los commits caen en sábado o domingo. El viernes es el día más flojo.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ROADMAP</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Roadmap inicial</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Lo que se archivó, fase a fase, en openspec/changes/archive</a:t>
            </a:r>
            <a:endParaRPr lang="en-US" sz="1500" dirty="0"/>
          </a:p>
        </p:txBody>
      </p:sp>
      <p:sp>
        <p:nvSpPr>
          <p:cNvPr id="6" name="Shape 3"/>
          <p:cNvSpPr/>
          <p:nvPr/>
        </p:nvSpPr>
        <p:spPr>
          <a:xfrm>
            <a:off x="685800" y="1920240"/>
            <a:ext cx="2491740" cy="3246120"/>
          </a:xfrm>
          <a:prstGeom prst="roundRect">
            <a:avLst>
              <a:gd name="adj" fmla="val 5138"/>
            </a:avLst>
          </a:prstGeom>
          <a:solidFill>
            <a:srgbClr val="1F1F25"/>
          </a:solidFill>
          <a:ln w="12700">
            <a:solidFill>
              <a:srgbClr val="33333B"/>
            </a:solidFill>
            <a:prstDash val="solid"/>
          </a:ln>
        </p:spPr>
      </p:sp>
      <p:sp>
        <p:nvSpPr>
          <p:cNvPr id="7" name="Text 4"/>
          <p:cNvSpPr/>
          <p:nvPr/>
        </p:nvSpPr>
        <p:spPr>
          <a:xfrm>
            <a:off x="905256" y="2121408"/>
            <a:ext cx="2052828" cy="457200"/>
          </a:xfrm>
          <a:prstGeom prst="rect">
            <a:avLst/>
          </a:prstGeom>
          <a:noFill/>
          <a:ln/>
        </p:spPr>
        <p:txBody>
          <a:bodyPr wrap="square" lIns="0" tIns="0" rIns="0" bIns="0" rtlCol="0" anchor="ctr"/>
          <a:lstStyle/>
          <a:p>
            <a:pPr indent="0" marL="0">
              <a:buNone/>
            </a:pPr>
            <a:r>
              <a:rPr lang="en-US" sz="1550" b="1" dirty="0">
                <a:solidFill>
                  <a:srgbClr val="A8F060"/>
                </a:solidFill>
                <a:latin typeface="Arial" pitchFamily="34" charset="0"/>
                <a:ea typeface="Arial" pitchFamily="34" charset="-122"/>
                <a:cs typeface="Arial" pitchFamily="34" charset="-120"/>
              </a:rPr>
              <a:t>v1 — Base</a:t>
            </a:r>
            <a:endParaRPr lang="en-US" sz="1550" dirty="0"/>
          </a:p>
        </p:txBody>
      </p:sp>
      <p:sp>
        <p:nvSpPr>
          <p:cNvPr id="8" name="Text 5"/>
          <p:cNvSpPr/>
          <p:nvPr/>
        </p:nvSpPr>
        <p:spPr>
          <a:xfrm>
            <a:off x="905256" y="2578608"/>
            <a:ext cx="2052828" cy="274320"/>
          </a:xfrm>
          <a:prstGeom prst="rect">
            <a:avLst/>
          </a:prstGeom>
          <a:noFill/>
          <a:ln/>
        </p:spPr>
        <p:txBody>
          <a:bodyPr wrap="square" lIns="0" tIns="0" rIns="0" bIns="0" rtlCol="0" anchor="ctr"/>
          <a:lstStyle/>
          <a:p>
            <a:pPr indent="0" marL="0">
              <a:buNone/>
            </a:pPr>
            <a:r>
              <a:rPr lang="en-US" sz="1100" dirty="0">
                <a:solidFill>
                  <a:srgbClr val="9A9AA5"/>
                </a:solidFill>
                <a:latin typeface="Calibri" pitchFamily="34" charset="0"/>
                <a:ea typeface="Calibri" pitchFamily="34" charset="-122"/>
                <a:cs typeface="Calibri" pitchFamily="34" charset="-120"/>
              </a:rPr>
              <a:t>20 jun – 21 jul</a:t>
            </a:r>
            <a:endParaRPr lang="en-US" sz="1100" dirty="0"/>
          </a:p>
        </p:txBody>
      </p:sp>
      <p:sp>
        <p:nvSpPr>
          <p:cNvPr id="9" name="Text 6"/>
          <p:cNvSpPr/>
          <p:nvPr/>
        </p:nvSpPr>
        <p:spPr>
          <a:xfrm>
            <a:off x="905256" y="2926080"/>
            <a:ext cx="2052828" cy="2148840"/>
          </a:xfrm>
          <a:prstGeom prst="rect">
            <a:avLst/>
          </a:prstGeom>
          <a:noFill/>
          <a:ln/>
        </p:spPr>
        <p:txBody>
          <a:bodyPr wrap="square" lIns="0" tIns="0" rIns="0" bIns="0" rtlCol="0" anchor="t"/>
          <a:lstStyle/>
          <a:p>
            <a:pPr indent="0" marL="0">
              <a:buNone/>
            </a:pPr>
            <a:r>
              <a:rPr lang="en-US" sz="1150" dirty="0">
                <a:solidFill>
                  <a:srgbClr val="F5F5F7"/>
                </a:solidFill>
                <a:latin typeface="Calibri" pitchFamily="34" charset="0"/>
                <a:ea typeface="Calibri" pitchFamily="34" charset="-122"/>
                <a:cs typeface="Calibri" pitchFamily="34" charset="-120"/>
              </a:rPr>
              <a:t>Monorepo, contratos, esquema multi-tenant, CI/CD, TDD, auth, wizard, generación con IA, seguimiento offline, i18n.</a:t>
            </a:r>
            <a:endParaRPr lang="en-US" sz="1150" dirty="0"/>
          </a:p>
        </p:txBody>
      </p:sp>
      <p:sp>
        <p:nvSpPr>
          <p:cNvPr id="10" name="Shape 7"/>
          <p:cNvSpPr/>
          <p:nvPr/>
        </p:nvSpPr>
        <p:spPr>
          <a:xfrm>
            <a:off x="3451860" y="1920240"/>
            <a:ext cx="2491740" cy="3246120"/>
          </a:xfrm>
          <a:prstGeom prst="roundRect">
            <a:avLst>
              <a:gd name="adj" fmla="val 5138"/>
            </a:avLst>
          </a:prstGeom>
          <a:solidFill>
            <a:srgbClr val="16161B"/>
          </a:solidFill>
          <a:ln w="12700">
            <a:solidFill>
              <a:srgbClr val="33333B"/>
            </a:solidFill>
            <a:prstDash val="solid"/>
          </a:ln>
        </p:spPr>
      </p:sp>
      <p:sp>
        <p:nvSpPr>
          <p:cNvPr id="11" name="Text 8"/>
          <p:cNvSpPr/>
          <p:nvPr/>
        </p:nvSpPr>
        <p:spPr>
          <a:xfrm>
            <a:off x="3671316" y="2121408"/>
            <a:ext cx="2052828" cy="457200"/>
          </a:xfrm>
          <a:prstGeom prst="rect">
            <a:avLst/>
          </a:prstGeom>
          <a:noFill/>
          <a:ln/>
        </p:spPr>
        <p:txBody>
          <a:bodyPr wrap="square" lIns="0" tIns="0" rIns="0" bIns="0" rtlCol="0" anchor="ctr"/>
          <a:lstStyle/>
          <a:p>
            <a:pPr indent="0" marL="0">
              <a:buNone/>
            </a:pPr>
            <a:r>
              <a:rPr lang="en-US" sz="1550" b="1" dirty="0">
                <a:solidFill>
                  <a:srgbClr val="A8F060"/>
                </a:solidFill>
                <a:latin typeface="Arial" pitchFamily="34" charset="0"/>
                <a:ea typeface="Arial" pitchFamily="34" charset="-122"/>
                <a:cs typeface="Arial" pitchFamily="34" charset="-120"/>
              </a:rPr>
              <a:t>v1.1 — Conversacional</a:t>
            </a:r>
            <a:endParaRPr lang="en-US" sz="1550" dirty="0"/>
          </a:p>
        </p:txBody>
      </p:sp>
      <p:sp>
        <p:nvSpPr>
          <p:cNvPr id="12" name="Text 9"/>
          <p:cNvSpPr/>
          <p:nvPr/>
        </p:nvSpPr>
        <p:spPr>
          <a:xfrm>
            <a:off x="3671316" y="2578608"/>
            <a:ext cx="2052828" cy="274320"/>
          </a:xfrm>
          <a:prstGeom prst="rect">
            <a:avLst/>
          </a:prstGeom>
          <a:noFill/>
          <a:ln/>
        </p:spPr>
        <p:txBody>
          <a:bodyPr wrap="square" lIns="0" tIns="0" rIns="0" bIns="0" rtlCol="0" anchor="ctr"/>
          <a:lstStyle/>
          <a:p>
            <a:pPr indent="0" marL="0">
              <a:buNone/>
            </a:pPr>
            <a:r>
              <a:rPr lang="en-US" sz="1100" dirty="0">
                <a:solidFill>
                  <a:srgbClr val="9A9AA5"/>
                </a:solidFill>
                <a:latin typeface="Calibri" pitchFamily="34" charset="0"/>
                <a:ea typeface="Calibri" pitchFamily="34" charset="-122"/>
                <a:cs typeface="Calibri" pitchFamily="34" charset="-120"/>
              </a:rPr>
              <a:t>23 jul – 30 jul</a:t>
            </a:r>
            <a:endParaRPr lang="en-US" sz="1100" dirty="0"/>
          </a:p>
        </p:txBody>
      </p:sp>
      <p:sp>
        <p:nvSpPr>
          <p:cNvPr id="13" name="Text 10"/>
          <p:cNvSpPr/>
          <p:nvPr/>
        </p:nvSpPr>
        <p:spPr>
          <a:xfrm>
            <a:off x="3671316" y="2926080"/>
            <a:ext cx="2052828" cy="2148840"/>
          </a:xfrm>
          <a:prstGeom prst="rect">
            <a:avLst/>
          </a:prstGeom>
          <a:noFill/>
          <a:ln/>
        </p:spPr>
        <p:txBody>
          <a:bodyPr wrap="square" lIns="0" tIns="0" rIns="0" bIns="0" rtlCol="0" anchor="t"/>
          <a:lstStyle/>
          <a:p>
            <a:pPr indent="0" marL="0">
              <a:buNone/>
            </a:pPr>
            <a:r>
              <a:rPr lang="en-US" sz="1150" dirty="0">
                <a:solidFill>
                  <a:srgbClr val="F5F5F7"/>
                </a:solidFill>
                <a:latin typeface="Calibri" pitchFamily="34" charset="0"/>
                <a:ea typeface="Calibri" pitchFamily="34" charset="-122"/>
                <a:cs typeface="Calibri" pitchFamily="34" charset="-120"/>
              </a:rPr>
              <a:t>Chat y voz interactivos, adaptación por adherencia y por esfuerzo percibido (RPE).</a:t>
            </a:r>
            <a:endParaRPr lang="en-US" sz="1150" dirty="0"/>
          </a:p>
        </p:txBody>
      </p:sp>
      <p:sp>
        <p:nvSpPr>
          <p:cNvPr id="14" name="Shape 11"/>
          <p:cNvSpPr/>
          <p:nvPr/>
        </p:nvSpPr>
        <p:spPr>
          <a:xfrm>
            <a:off x="6217920" y="1920240"/>
            <a:ext cx="2491740" cy="3246120"/>
          </a:xfrm>
          <a:prstGeom prst="roundRect">
            <a:avLst>
              <a:gd name="adj" fmla="val 5138"/>
            </a:avLst>
          </a:prstGeom>
          <a:solidFill>
            <a:srgbClr val="16161B"/>
          </a:solidFill>
          <a:ln w="12700">
            <a:solidFill>
              <a:srgbClr val="33333B"/>
            </a:solidFill>
            <a:prstDash val="solid"/>
          </a:ln>
        </p:spPr>
      </p:sp>
      <p:sp>
        <p:nvSpPr>
          <p:cNvPr id="15" name="Text 12"/>
          <p:cNvSpPr/>
          <p:nvPr/>
        </p:nvSpPr>
        <p:spPr>
          <a:xfrm>
            <a:off x="6437376" y="2121408"/>
            <a:ext cx="2052828" cy="457200"/>
          </a:xfrm>
          <a:prstGeom prst="rect">
            <a:avLst/>
          </a:prstGeom>
          <a:noFill/>
          <a:ln/>
        </p:spPr>
        <p:txBody>
          <a:bodyPr wrap="square" lIns="0" tIns="0" rIns="0" bIns="0" rtlCol="0" anchor="ctr"/>
          <a:lstStyle/>
          <a:p>
            <a:pPr indent="0" marL="0">
              <a:buNone/>
            </a:pPr>
            <a:r>
              <a:rPr lang="en-US" sz="1550" b="1" dirty="0">
                <a:solidFill>
                  <a:srgbClr val="A8F060"/>
                </a:solidFill>
                <a:latin typeface="Arial" pitchFamily="34" charset="0"/>
                <a:ea typeface="Arial" pitchFamily="34" charset="-122"/>
                <a:cs typeface="Arial" pitchFamily="34" charset="-120"/>
              </a:rPr>
              <a:t>v2 — Entrenador</a:t>
            </a:r>
            <a:endParaRPr lang="en-US" sz="1550" dirty="0"/>
          </a:p>
        </p:txBody>
      </p:sp>
      <p:sp>
        <p:nvSpPr>
          <p:cNvPr id="16" name="Text 13"/>
          <p:cNvSpPr/>
          <p:nvPr/>
        </p:nvSpPr>
        <p:spPr>
          <a:xfrm>
            <a:off x="6437376" y="2578608"/>
            <a:ext cx="2052828" cy="274320"/>
          </a:xfrm>
          <a:prstGeom prst="rect">
            <a:avLst/>
          </a:prstGeom>
          <a:noFill/>
          <a:ln/>
        </p:spPr>
        <p:txBody>
          <a:bodyPr wrap="square" lIns="0" tIns="0" rIns="0" bIns="0" rtlCol="0" anchor="ctr"/>
          <a:lstStyle/>
          <a:p>
            <a:pPr indent="0" marL="0">
              <a:buNone/>
            </a:pPr>
            <a:r>
              <a:rPr lang="en-US" sz="1100" dirty="0">
                <a:solidFill>
                  <a:srgbClr val="9A9AA5"/>
                </a:solidFill>
                <a:latin typeface="Calibri" pitchFamily="34" charset="0"/>
                <a:ea typeface="Calibri" pitchFamily="34" charset="-122"/>
                <a:cs typeface="Calibri" pitchFamily="34" charset="-120"/>
              </a:rPr>
              <a:t>31 jul – 1 ago</a:t>
            </a:r>
            <a:endParaRPr lang="en-US" sz="1100" dirty="0"/>
          </a:p>
        </p:txBody>
      </p:sp>
      <p:sp>
        <p:nvSpPr>
          <p:cNvPr id="17" name="Text 14"/>
          <p:cNvSpPr/>
          <p:nvPr/>
        </p:nvSpPr>
        <p:spPr>
          <a:xfrm>
            <a:off x="6437376" y="2926080"/>
            <a:ext cx="2052828" cy="2148840"/>
          </a:xfrm>
          <a:prstGeom prst="rect">
            <a:avLst/>
          </a:prstGeom>
          <a:noFill/>
          <a:ln/>
        </p:spPr>
        <p:txBody>
          <a:bodyPr wrap="square" lIns="0" tIns="0" rIns="0" bIns="0" rtlCol="0" anchor="t"/>
          <a:lstStyle/>
          <a:p>
            <a:pPr indent="0" marL="0">
              <a:buNone/>
            </a:pPr>
            <a:r>
              <a:rPr lang="en-US" sz="1150" dirty="0">
                <a:solidFill>
                  <a:srgbClr val="F5F5F7"/>
                </a:solidFill>
                <a:latin typeface="Calibri" pitchFamily="34" charset="0"/>
                <a:ea typeface="Calibri" pitchFamily="34" charset="-122"/>
                <a:cs typeface="Calibri" pitchFamily="34" charset="-120"/>
              </a:rPr>
              <a:t>Acceso y panel para el nivel Entrenador, con marca propia.</a:t>
            </a:r>
            <a:endParaRPr lang="en-US" sz="1150" dirty="0"/>
          </a:p>
        </p:txBody>
      </p:sp>
      <p:sp>
        <p:nvSpPr>
          <p:cNvPr id="18" name="Shape 15"/>
          <p:cNvSpPr/>
          <p:nvPr/>
        </p:nvSpPr>
        <p:spPr>
          <a:xfrm>
            <a:off x="8983980" y="1920240"/>
            <a:ext cx="2491740" cy="3246120"/>
          </a:xfrm>
          <a:prstGeom prst="roundRect">
            <a:avLst>
              <a:gd name="adj" fmla="val 5138"/>
            </a:avLst>
          </a:prstGeom>
          <a:solidFill>
            <a:srgbClr val="16161B"/>
          </a:solidFill>
          <a:ln w="12700">
            <a:solidFill>
              <a:srgbClr val="33333B"/>
            </a:solidFill>
            <a:prstDash val="solid"/>
          </a:ln>
        </p:spPr>
      </p:sp>
      <p:sp>
        <p:nvSpPr>
          <p:cNvPr id="19" name="Text 16"/>
          <p:cNvSpPr/>
          <p:nvPr/>
        </p:nvSpPr>
        <p:spPr>
          <a:xfrm>
            <a:off x="9203436" y="2121408"/>
            <a:ext cx="2052828" cy="457200"/>
          </a:xfrm>
          <a:prstGeom prst="rect">
            <a:avLst/>
          </a:prstGeom>
          <a:noFill/>
          <a:ln/>
        </p:spPr>
        <p:txBody>
          <a:bodyPr wrap="square" lIns="0" tIns="0" rIns="0" bIns="0" rtlCol="0" anchor="ctr"/>
          <a:lstStyle/>
          <a:p>
            <a:pPr indent="0" marL="0">
              <a:buNone/>
            </a:pPr>
            <a:r>
              <a:rPr lang="en-US" sz="1550" b="1" dirty="0">
                <a:solidFill>
                  <a:srgbClr val="A8F060"/>
                </a:solidFill>
                <a:latin typeface="Arial" pitchFamily="34" charset="0"/>
                <a:ea typeface="Arial" pitchFamily="34" charset="-122"/>
                <a:cs typeface="Arial" pitchFamily="34" charset="-120"/>
              </a:rPr>
              <a:t>v3 — Gimnasios</a:t>
            </a:r>
            <a:endParaRPr lang="en-US" sz="1550" dirty="0"/>
          </a:p>
        </p:txBody>
      </p:sp>
      <p:sp>
        <p:nvSpPr>
          <p:cNvPr id="20" name="Text 17"/>
          <p:cNvSpPr/>
          <p:nvPr/>
        </p:nvSpPr>
        <p:spPr>
          <a:xfrm>
            <a:off x="9203436" y="2578608"/>
            <a:ext cx="2052828" cy="274320"/>
          </a:xfrm>
          <a:prstGeom prst="rect">
            <a:avLst/>
          </a:prstGeom>
          <a:noFill/>
          <a:ln/>
        </p:spPr>
        <p:txBody>
          <a:bodyPr wrap="square" lIns="0" tIns="0" rIns="0" bIns="0" rtlCol="0" anchor="ctr"/>
          <a:lstStyle/>
          <a:p>
            <a:pPr indent="0" marL="0">
              <a:buNone/>
            </a:pPr>
            <a:r>
              <a:rPr lang="en-US" sz="1100" dirty="0">
                <a:solidFill>
                  <a:srgbClr val="9A9AA5"/>
                </a:solidFill>
                <a:latin typeface="Calibri" pitchFamily="34" charset="0"/>
                <a:ea typeface="Calibri" pitchFamily="34" charset="-122"/>
                <a:cs typeface="Calibri" pitchFamily="34" charset="-120"/>
              </a:rPr>
              <a:t>2 ago – 9 ago</a:t>
            </a:r>
            <a:endParaRPr lang="en-US" sz="1100" dirty="0"/>
          </a:p>
        </p:txBody>
      </p:sp>
      <p:sp>
        <p:nvSpPr>
          <p:cNvPr id="21" name="Text 18"/>
          <p:cNvSpPr/>
          <p:nvPr/>
        </p:nvSpPr>
        <p:spPr>
          <a:xfrm>
            <a:off x="9203436" y="2926080"/>
            <a:ext cx="2052828" cy="2148840"/>
          </a:xfrm>
          <a:prstGeom prst="rect">
            <a:avLst/>
          </a:prstGeom>
          <a:noFill/>
          <a:ln/>
        </p:spPr>
        <p:txBody>
          <a:bodyPr wrap="square" lIns="0" tIns="0" rIns="0" bIns="0" rtlCol="0" anchor="t"/>
          <a:lstStyle/>
          <a:p>
            <a:pPr indent="0" marL="0">
              <a:buNone/>
            </a:pPr>
            <a:r>
              <a:rPr lang="en-US" sz="1150" dirty="0">
                <a:solidFill>
                  <a:srgbClr val="F5F5F7"/>
                </a:solidFill>
                <a:latin typeface="Calibri" pitchFamily="34" charset="0"/>
                <a:ea typeface="Calibri" pitchFamily="34" charset="-122"/>
                <a:cs typeface="Calibri" pitchFamily="34" charset="-120"/>
              </a:rPr>
              <a:t>Marca blanca, aprovisionamiento por nivel, facturación por asiento, gestión de prompts con Langfuse, recuperación de sesión, perfil y gestión de planes.</a:t>
            </a:r>
            <a:endParaRPr lang="en-US" sz="1150" dirty="0"/>
          </a:p>
        </p:txBody>
      </p:sp>
      <p:sp>
        <p:nvSpPr>
          <p:cNvPr id="22" name="Shape 19"/>
          <p:cNvSpPr/>
          <p:nvPr/>
        </p:nvSpPr>
        <p:spPr>
          <a:xfrm>
            <a:off x="685800" y="5394960"/>
            <a:ext cx="10789920" cy="914400"/>
          </a:xfrm>
          <a:prstGeom prst="roundRect">
            <a:avLst>
              <a:gd name="adj" fmla="val 14000"/>
            </a:avLst>
          </a:prstGeom>
          <a:solidFill>
            <a:srgbClr val="1F1F25"/>
          </a:solidFill>
          <a:ln w="12700">
            <a:solidFill>
              <a:srgbClr val="33333B"/>
            </a:solidFill>
            <a:prstDash val="solid"/>
          </a:ln>
        </p:spPr>
      </p:sp>
      <p:sp>
        <p:nvSpPr>
          <p:cNvPr id="23" name="Text 20"/>
          <p:cNvSpPr/>
          <p:nvPr/>
        </p:nvSpPr>
        <p:spPr>
          <a:xfrm>
            <a:off x="1005840" y="5394960"/>
            <a:ext cx="10149840" cy="914400"/>
          </a:xfrm>
          <a:prstGeom prst="rect">
            <a:avLst/>
          </a:prstGeom>
          <a:noFill/>
          <a:ln/>
        </p:spPr>
        <p:txBody>
          <a:bodyPr wrap="square" lIns="0" tIns="0" rIns="0" bIns="0" rtlCol="0" anchor="ctr"/>
          <a:lstStyle/>
          <a:p>
            <a:pPr indent="0" marL="0">
              <a:buNone/>
            </a:pPr>
            <a:r>
              <a:rPr lang="en-US" sz="1350" dirty="0">
                <a:solidFill>
                  <a:srgbClr val="F5F5F7"/>
                </a:solidFill>
                <a:latin typeface="Calibri" pitchFamily="34" charset="0"/>
                <a:ea typeface="Calibri" pitchFamily="34" charset="-122"/>
                <a:cs typeface="Calibri" pitchFamily="34" charset="-120"/>
              </a:rPr>
              <a:t>v2 y v3 no eran «después del máster»: se archivaron dentro de los mismos 52 días. La documentación tardó en admitirlo — vuelvo sobre esto en la siguiente diapositiva.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RETROSPECTIVA</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Desviaciones del plan</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Lo que no salió exactamente como estaba previsto</a:t>
            </a:r>
            <a:endParaRPr lang="en-US" sz="1500" dirty="0"/>
          </a:p>
        </p:txBody>
      </p:sp>
      <p:sp>
        <p:nvSpPr>
          <p:cNvPr id="6" name="Shape 3"/>
          <p:cNvSpPr/>
          <p:nvPr/>
        </p:nvSpPr>
        <p:spPr>
          <a:xfrm>
            <a:off x="685800" y="1920240"/>
            <a:ext cx="5166360" cy="1572768"/>
          </a:xfrm>
          <a:prstGeom prst="roundRect">
            <a:avLst>
              <a:gd name="adj" fmla="val 8140"/>
            </a:avLst>
          </a:prstGeom>
          <a:solidFill>
            <a:srgbClr val="16161B"/>
          </a:solidFill>
          <a:ln w="12700">
            <a:solidFill>
              <a:srgbClr val="33333B"/>
            </a:solidFill>
            <a:prstDash val="solid"/>
          </a:ln>
        </p:spPr>
      </p:sp>
      <p:sp>
        <p:nvSpPr>
          <p:cNvPr id="7" name="Text 4"/>
          <p:cNvSpPr/>
          <p:nvPr/>
        </p:nvSpPr>
        <p:spPr>
          <a:xfrm>
            <a:off x="978408" y="2121408"/>
            <a:ext cx="4581144" cy="502920"/>
          </a:xfrm>
          <a:prstGeom prst="rect">
            <a:avLst/>
          </a:prstGeom>
          <a:noFill/>
          <a:ln/>
        </p:spPr>
        <p:txBody>
          <a:bodyPr wrap="square" lIns="0" tIns="0" rIns="0" bIns="0" rtlCol="0" anchor="ctr"/>
          <a:lstStyle/>
          <a:p>
            <a:pPr indent="0" marL="0">
              <a:buNone/>
            </a:pPr>
            <a:r>
              <a:rPr lang="en-US" sz="1450" b="1" dirty="0">
                <a:solidFill>
                  <a:srgbClr val="E8C15A"/>
                </a:solidFill>
                <a:latin typeface="Arial" pitchFamily="34" charset="0"/>
                <a:ea typeface="Arial" pitchFamily="34" charset="-122"/>
                <a:cs typeface="Arial" pitchFamily="34" charset="-120"/>
              </a:rPr>
              <a:t>El roadmap iba por detrás de sí mismo</a:t>
            </a:r>
            <a:endParaRPr lang="en-US" sz="1450" dirty="0"/>
          </a:p>
        </p:txBody>
      </p:sp>
      <p:sp>
        <p:nvSpPr>
          <p:cNvPr id="8" name="Text 5"/>
          <p:cNvSpPr/>
          <p:nvPr/>
        </p:nvSpPr>
        <p:spPr>
          <a:xfrm>
            <a:off x="978408" y="2578608"/>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El README llamaba «futuro» a v2 (Entrenador) y v3 (Gimnasios) cuando 15a, 15b, 16a, 16d y 16e ya estaban archivados, y no recogía la serie 17x en absoluto.</a:t>
            </a:r>
            <a:endParaRPr lang="en-US" sz="1200" dirty="0"/>
          </a:p>
        </p:txBody>
      </p:sp>
      <p:sp>
        <p:nvSpPr>
          <p:cNvPr id="9" name="Shape 6"/>
          <p:cNvSpPr/>
          <p:nvPr/>
        </p:nvSpPr>
        <p:spPr>
          <a:xfrm>
            <a:off x="6309360" y="1920240"/>
            <a:ext cx="5166360" cy="1572768"/>
          </a:xfrm>
          <a:prstGeom prst="roundRect">
            <a:avLst>
              <a:gd name="adj" fmla="val 8140"/>
            </a:avLst>
          </a:prstGeom>
          <a:solidFill>
            <a:srgbClr val="16161B"/>
          </a:solidFill>
          <a:ln w="12700">
            <a:solidFill>
              <a:srgbClr val="33333B"/>
            </a:solidFill>
            <a:prstDash val="solid"/>
          </a:ln>
        </p:spPr>
      </p:sp>
      <p:sp>
        <p:nvSpPr>
          <p:cNvPr id="10" name="Text 7"/>
          <p:cNvSpPr/>
          <p:nvPr/>
        </p:nvSpPr>
        <p:spPr>
          <a:xfrm>
            <a:off x="6601968" y="2121408"/>
            <a:ext cx="4581144" cy="502920"/>
          </a:xfrm>
          <a:prstGeom prst="rect">
            <a:avLst/>
          </a:prstGeom>
          <a:noFill/>
          <a:ln/>
        </p:spPr>
        <p:txBody>
          <a:bodyPr wrap="square" lIns="0" tIns="0" rIns="0" bIns="0" rtlCol="0" anchor="ctr"/>
          <a:lstStyle/>
          <a:p>
            <a:pPr indent="0" marL="0">
              <a:buNone/>
            </a:pPr>
            <a:r>
              <a:rPr lang="en-US" sz="1450" b="1" dirty="0">
                <a:solidFill>
                  <a:srgbClr val="E8C15A"/>
                </a:solidFill>
                <a:latin typeface="Arial" pitchFamily="34" charset="0"/>
                <a:ea typeface="Arial" pitchFamily="34" charset="-122"/>
                <a:cs typeface="Arial" pitchFamily="34" charset="-120"/>
              </a:rPr>
              <a:t>Offline costó más de lo previsto</a:t>
            </a:r>
            <a:endParaRPr lang="en-US" sz="1450" dirty="0"/>
          </a:p>
        </p:txBody>
      </p:sp>
      <p:sp>
        <p:nvSpPr>
          <p:cNvPr id="11" name="Text 8"/>
          <p:cNvSpPr/>
          <p:nvPr/>
        </p:nvSpPr>
        <p:spPr>
          <a:xfrm>
            <a:off x="6601968" y="2578608"/>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Parecía almacenamiento local y resultó ser sistemas distribuidos: requirió un cambio de endurecimiento propio y cuatro correcciones de Judgment Day.</a:t>
            </a:r>
            <a:endParaRPr lang="en-US" sz="1200" dirty="0"/>
          </a:p>
        </p:txBody>
      </p:sp>
      <p:sp>
        <p:nvSpPr>
          <p:cNvPr id="12" name="Shape 9"/>
          <p:cNvSpPr/>
          <p:nvPr/>
        </p:nvSpPr>
        <p:spPr>
          <a:xfrm>
            <a:off x="685800" y="3785616"/>
            <a:ext cx="5166360" cy="1572768"/>
          </a:xfrm>
          <a:prstGeom prst="roundRect">
            <a:avLst>
              <a:gd name="adj" fmla="val 8140"/>
            </a:avLst>
          </a:prstGeom>
          <a:solidFill>
            <a:srgbClr val="16161B"/>
          </a:solidFill>
          <a:ln w="12700">
            <a:solidFill>
              <a:srgbClr val="33333B"/>
            </a:solidFill>
            <a:prstDash val="solid"/>
          </a:ln>
        </p:spPr>
      </p:sp>
      <p:sp>
        <p:nvSpPr>
          <p:cNvPr id="13" name="Text 10"/>
          <p:cNvSpPr/>
          <p:nvPr/>
        </p:nvSpPr>
        <p:spPr>
          <a:xfrm>
            <a:off x="978408" y="3986784"/>
            <a:ext cx="4581144" cy="502920"/>
          </a:xfrm>
          <a:prstGeom prst="rect">
            <a:avLst/>
          </a:prstGeom>
          <a:noFill/>
          <a:ln/>
        </p:spPr>
        <p:txBody>
          <a:bodyPr wrap="square" lIns="0" tIns="0" rIns="0" bIns="0" rtlCol="0" anchor="ctr"/>
          <a:lstStyle/>
          <a:p>
            <a:pPr indent="0" marL="0">
              <a:buNone/>
            </a:pPr>
            <a:r>
              <a:rPr lang="en-US" sz="1450" b="1" dirty="0">
                <a:solidFill>
                  <a:srgbClr val="E8C15A"/>
                </a:solidFill>
                <a:latin typeface="Arial" pitchFamily="34" charset="0"/>
                <a:ea typeface="Arial" pitchFamily="34" charset="-122"/>
                <a:cs typeface="Arial" pitchFamily="34" charset="-120"/>
              </a:rPr>
              <a:t>La misma variable de entorno, cuatro veces</a:t>
            </a:r>
            <a:endParaRPr lang="en-US" sz="1450" dirty="0"/>
          </a:p>
        </p:txBody>
      </p:sp>
      <p:sp>
        <p:nvSpPr>
          <p:cNvPr id="14" name="Text 11"/>
          <p:cNvSpPr/>
          <p:nvPr/>
        </p:nvSpPr>
        <p:spPr>
          <a:xfrm>
            <a:off x="978408" y="4443984"/>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Stripe, el proveedor de voz, Deepgram y el ajuste de voz de Gemini: cuatro incidentes con el mismo patrón, porque Compose ignora en silencio lo que no está en su bloque environment.</a:t>
            </a:r>
            <a:endParaRPr lang="en-US" sz="1200" dirty="0"/>
          </a:p>
        </p:txBody>
      </p:sp>
      <p:sp>
        <p:nvSpPr>
          <p:cNvPr id="15" name="Shape 12"/>
          <p:cNvSpPr/>
          <p:nvPr/>
        </p:nvSpPr>
        <p:spPr>
          <a:xfrm>
            <a:off x="6309360" y="3785616"/>
            <a:ext cx="5166360" cy="1572768"/>
          </a:xfrm>
          <a:prstGeom prst="roundRect">
            <a:avLst>
              <a:gd name="adj" fmla="val 8140"/>
            </a:avLst>
          </a:prstGeom>
          <a:solidFill>
            <a:srgbClr val="16161B"/>
          </a:solidFill>
          <a:ln w="12700">
            <a:solidFill>
              <a:srgbClr val="33333B"/>
            </a:solidFill>
            <a:prstDash val="solid"/>
          </a:ln>
        </p:spPr>
      </p:sp>
      <p:sp>
        <p:nvSpPr>
          <p:cNvPr id="16" name="Text 13"/>
          <p:cNvSpPr/>
          <p:nvPr/>
        </p:nvSpPr>
        <p:spPr>
          <a:xfrm>
            <a:off x="6601968" y="3986784"/>
            <a:ext cx="4581144" cy="502920"/>
          </a:xfrm>
          <a:prstGeom prst="rect">
            <a:avLst/>
          </a:prstGeom>
          <a:noFill/>
          <a:ln/>
        </p:spPr>
        <p:txBody>
          <a:bodyPr wrap="square" lIns="0" tIns="0" rIns="0" bIns="0" rtlCol="0" anchor="ctr"/>
          <a:lstStyle/>
          <a:p>
            <a:pPr indent="0" marL="0">
              <a:buNone/>
            </a:pPr>
            <a:r>
              <a:rPr lang="en-US" sz="1450" b="1" dirty="0">
                <a:solidFill>
                  <a:srgbClr val="E8C15A"/>
                </a:solidFill>
                <a:latin typeface="Arial" pitchFamily="34" charset="0"/>
                <a:ea typeface="Arial" pitchFamily="34" charset="-122"/>
                <a:cs typeface="Arial" pitchFamily="34" charset="-120"/>
              </a:rPr>
              <a:t>Dos rutas móviles conviviendo</a:t>
            </a:r>
            <a:endParaRPr lang="en-US" sz="1450" dirty="0"/>
          </a:p>
        </p:txBody>
      </p:sp>
      <p:sp>
        <p:nvSpPr>
          <p:cNvPr id="17" name="Text 14"/>
          <p:cNvSpPr/>
          <p:nvPr/>
        </p:nvSpPr>
        <p:spPr>
          <a:xfrm>
            <a:off x="6601968" y="4443984"/>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La app nativa con Expo y el envoltorio Capacitor sobre la web coexisten. La segunda es herencia de una estrategia anterior y hoy es ambigüedad sin resolver.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RETROSPECTIVA</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Lo que se haría distinto</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Del capítulo de retrospectiva, sin suavizarlo</a:t>
            </a:r>
            <a:endParaRPr lang="en-US" sz="1500" dirty="0"/>
          </a:p>
        </p:txBody>
      </p:sp>
      <p:sp>
        <p:nvSpPr>
          <p:cNvPr id="6" name="Shape 3"/>
          <p:cNvSpPr/>
          <p:nvPr/>
        </p:nvSpPr>
        <p:spPr>
          <a:xfrm>
            <a:off x="685800" y="1920240"/>
            <a:ext cx="5166360" cy="1572768"/>
          </a:xfrm>
          <a:prstGeom prst="roundRect">
            <a:avLst>
              <a:gd name="adj" fmla="val 8140"/>
            </a:avLst>
          </a:prstGeom>
          <a:solidFill>
            <a:srgbClr val="1F1F25"/>
          </a:solidFill>
          <a:ln w="12700">
            <a:solidFill>
              <a:srgbClr val="33333B"/>
            </a:solidFill>
            <a:prstDash val="solid"/>
          </a:ln>
        </p:spPr>
      </p:sp>
      <p:sp>
        <p:nvSpPr>
          <p:cNvPr id="7" name="Text 4"/>
          <p:cNvSpPr/>
          <p:nvPr/>
        </p:nvSpPr>
        <p:spPr>
          <a:xfrm>
            <a:off x="978408" y="2121408"/>
            <a:ext cx="4581144" cy="502920"/>
          </a:xfrm>
          <a:prstGeom prst="rect">
            <a:avLst/>
          </a:prstGeom>
          <a:noFill/>
          <a:ln/>
        </p:spPr>
        <p:txBody>
          <a:bodyPr wrap="square" lIns="0" tIns="0" rIns="0" bIns="0" rtlCol="0" anchor="ctr"/>
          <a:lstStyle/>
          <a:p>
            <a:pPr indent="0" marL="0">
              <a:buNone/>
            </a:pPr>
            <a:r>
              <a:rPr lang="en-US" sz="1450" b="1" dirty="0">
                <a:solidFill>
                  <a:srgbClr val="A8F060"/>
                </a:solidFill>
                <a:latin typeface="Arial" pitchFamily="34" charset="0"/>
                <a:ea typeface="Arial" pitchFamily="34" charset="-122"/>
                <a:cs typeface="Arial" pitchFamily="34" charset="-120"/>
              </a:rPr>
              <a:t>Instrumentar el coste desde el día uno</a:t>
            </a:r>
            <a:endParaRPr lang="en-US" sz="1450" dirty="0"/>
          </a:p>
        </p:txBody>
      </p:sp>
      <p:sp>
        <p:nvSpPr>
          <p:cNvPr id="8" name="Text 5"/>
          <p:cNvSpPr/>
          <p:nvPr/>
        </p:nvSpPr>
        <p:spPr>
          <a:xfrm>
            <a:off x="978408" y="2578608"/>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Langfuse llegó en el cambio 16e, casi al final. Tener coste por generación desde el cambio 08 habría convertido la elección de proveedor en una decisión medida, no en una estimación.</a:t>
            </a:r>
            <a:endParaRPr lang="en-US" sz="1200" dirty="0"/>
          </a:p>
        </p:txBody>
      </p:sp>
      <p:sp>
        <p:nvSpPr>
          <p:cNvPr id="9" name="Shape 6"/>
          <p:cNvSpPr/>
          <p:nvPr/>
        </p:nvSpPr>
        <p:spPr>
          <a:xfrm>
            <a:off x="6309360" y="1920240"/>
            <a:ext cx="5166360" cy="1572768"/>
          </a:xfrm>
          <a:prstGeom prst="roundRect">
            <a:avLst>
              <a:gd name="adj" fmla="val 8140"/>
            </a:avLst>
          </a:prstGeom>
          <a:solidFill>
            <a:srgbClr val="1F1F25"/>
          </a:solidFill>
          <a:ln w="12700">
            <a:solidFill>
              <a:srgbClr val="33333B"/>
            </a:solidFill>
            <a:prstDash val="solid"/>
          </a:ln>
        </p:spPr>
      </p:sp>
      <p:sp>
        <p:nvSpPr>
          <p:cNvPr id="10" name="Text 7"/>
          <p:cNvSpPr/>
          <p:nvPr/>
        </p:nvSpPr>
        <p:spPr>
          <a:xfrm>
            <a:off x="6601968" y="2121408"/>
            <a:ext cx="4581144" cy="502920"/>
          </a:xfrm>
          <a:prstGeom prst="rect">
            <a:avLst/>
          </a:prstGeom>
          <a:noFill/>
          <a:ln/>
        </p:spPr>
        <p:txBody>
          <a:bodyPr wrap="square" lIns="0" tIns="0" rIns="0" bIns="0" rtlCol="0" anchor="ctr"/>
          <a:lstStyle/>
          <a:p>
            <a:pPr indent="0" marL="0">
              <a:buNone/>
            </a:pPr>
            <a:r>
              <a:rPr lang="en-US" sz="1450" b="1" dirty="0">
                <a:solidFill>
                  <a:srgbClr val="A8F060"/>
                </a:solidFill>
                <a:latin typeface="Arial" pitchFamily="34" charset="0"/>
                <a:ea typeface="Arial" pitchFamily="34" charset="-122"/>
                <a:cs typeface="Arial" pitchFamily="34" charset="-120"/>
              </a:rPr>
              <a:t>Definir antes la métrica de calidad del plan</a:t>
            </a:r>
            <a:endParaRPr lang="en-US" sz="1450" dirty="0"/>
          </a:p>
        </p:txBody>
      </p:sp>
      <p:sp>
        <p:nvSpPr>
          <p:cNvPr id="11" name="Text 8"/>
          <p:cNvSpPr/>
          <p:nvPr/>
        </p:nvSpPr>
        <p:spPr>
          <a:xfrm>
            <a:off x="6601968" y="2578608"/>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Sigue sin existir. Hay una arquitectura que permite cambiar de modelo con un clic y ninguna forma de saber si el cambio mejora el producto.</a:t>
            </a:r>
            <a:endParaRPr lang="en-US" sz="1200" dirty="0"/>
          </a:p>
        </p:txBody>
      </p:sp>
      <p:sp>
        <p:nvSpPr>
          <p:cNvPr id="12" name="Shape 9"/>
          <p:cNvSpPr/>
          <p:nvPr/>
        </p:nvSpPr>
        <p:spPr>
          <a:xfrm>
            <a:off x="685800" y="3785616"/>
            <a:ext cx="5166360" cy="1572768"/>
          </a:xfrm>
          <a:prstGeom prst="roundRect">
            <a:avLst>
              <a:gd name="adj" fmla="val 8140"/>
            </a:avLst>
          </a:prstGeom>
          <a:solidFill>
            <a:srgbClr val="1F1F25"/>
          </a:solidFill>
          <a:ln w="12700">
            <a:solidFill>
              <a:srgbClr val="33333B"/>
            </a:solidFill>
            <a:prstDash val="solid"/>
          </a:ln>
        </p:spPr>
      </p:sp>
      <p:sp>
        <p:nvSpPr>
          <p:cNvPr id="13" name="Text 10"/>
          <p:cNvSpPr/>
          <p:nvPr/>
        </p:nvSpPr>
        <p:spPr>
          <a:xfrm>
            <a:off x="978408" y="3986784"/>
            <a:ext cx="4581144" cy="502920"/>
          </a:xfrm>
          <a:prstGeom prst="rect">
            <a:avLst/>
          </a:prstGeom>
          <a:noFill/>
          <a:ln/>
        </p:spPr>
        <p:txBody>
          <a:bodyPr wrap="square" lIns="0" tIns="0" rIns="0" bIns="0" rtlCol="0" anchor="ctr"/>
          <a:lstStyle/>
          <a:p>
            <a:pPr indent="0" marL="0">
              <a:buNone/>
            </a:pPr>
            <a:r>
              <a:rPr lang="en-US" sz="1450" b="1" dirty="0">
                <a:solidFill>
                  <a:srgbClr val="A8F060"/>
                </a:solidFill>
                <a:latin typeface="Arial" pitchFamily="34" charset="0"/>
                <a:ea typeface="Arial" pitchFamily="34" charset="-122"/>
                <a:cs typeface="Arial" pitchFamily="34" charset="-120"/>
              </a:rPr>
              <a:t>Elegir una sola ruta móvil</a:t>
            </a:r>
            <a:endParaRPr lang="en-US" sz="1450" dirty="0"/>
          </a:p>
        </p:txBody>
      </p:sp>
      <p:sp>
        <p:nvSpPr>
          <p:cNvPr id="14" name="Text 11"/>
          <p:cNvSpPr/>
          <p:nvPr/>
        </p:nvSpPr>
        <p:spPr>
          <a:xfrm>
            <a:off x="978408" y="4443984"/>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Expo y el envoltorio Capacitor coexisten sin una razón de negocio actual. Es deuda, no una decisión activa.</a:t>
            </a:r>
            <a:endParaRPr lang="en-US" sz="1200" dirty="0"/>
          </a:p>
        </p:txBody>
      </p:sp>
      <p:sp>
        <p:nvSpPr>
          <p:cNvPr id="15" name="Shape 12"/>
          <p:cNvSpPr/>
          <p:nvPr/>
        </p:nvSpPr>
        <p:spPr>
          <a:xfrm>
            <a:off x="6309360" y="3785616"/>
            <a:ext cx="5166360" cy="1572768"/>
          </a:xfrm>
          <a:prstGeom prst="roundRect">
            <a:avLst>
              <a:gd name="adj" fmla="val 8140"/>
            </a:avLst>
          </a:prstGeom>
          <a:solidFill>
            <a:srgbClr val="1F1F25"/>
          </a:solidFill>
          <a:ln w="12700">
            <a:solidFill>
              <a:srgbClr val="33333B"/>
            </a:solidFill>
            <a:prstDash val="solid"/>
          </a:ln>
        </p:spPr>
      </p:sp>
      <p:sp>
        <p:nvSpPr>
          <p:cNvPr id="16" name="Text 13"/>
          <p:cNvSpPr/>
          <p:nvPr/>
        </p:nvSpPr>
        <p:spPr>
          <a:xfrm>
            <a:off x="6601968" y="3986784"/>
            <a:ext cx="4581144" cy="502920"/>
          </a:xfrm>
          <a:prstGeom prst="rect">
            <a:avLst/>
          </a:prstGeom>
          <a:noFill/>
          <a:ln/>
        </p:spPr>
        <p:txBody>
          <a:bodyPr wrap="square" lIns="0" tIns="0" rIns="0" bIns="0" rtlCol="0" anchor="ctr"/>
          <a:lstStyle/>
          <a:p>
            <a:pPr indent="0" marL="0">
              <a:buNone/>
            </a:pPr>
            <a:r>
              <a:rPr lang="en-US" sz="1450" b="1" dirty="0">
                <a:solidFill>
                  <a:srgbClr val="A8F060"/>
                </a:solidFill>
                <a:latin typeface="Arial" pitchFamily="34" charset="0"/>
                <a:ea typeface="Arial" pitchFamily="34" charset="-122"/>
                <a:cs typeface="Arial" pitchFamily="34" charset="-120"/>
              </a:rPr>
              <a:t>Una guarda para las variables de entorno</a:t>
            </a:r>
            <a:endParaRPr lang="en-US" sz="1450" dirty="0"/>
          </a:p>
        </p:txBody>
      </p:sp>
      <p:sp>
        <p:nvSpPr>
          <p:cNvPr id="17" name="Text 14"/>
          <p:cNvSpPr/>
          <p:nvPr/>
        </p:nvSpPr>
        <p:spPr>
          <a:xfrm>
            <a:off x="6601968" y="4443984"/>
            <a:ext cx="4581144" cy="868680"/>
          </a:xfrm>
          <a:prstGeom prst="rect">
            <a:avLst/>
          </a:prstGeom>
          <a:noFill/>
          <a:ln/>
        </p:spPr>
        <p:txBody>
          <a:bodyPr wrap="square" lIns="0" tIns="0" rIns="0" bIns="0" rtlCol="0" anchor="t"/>
          <a:lstStyle/>
          <a:p>
            <a:pPr indent="0" marL="0">
              <a:buNone/>
            </a:pPr>
            <a:r>
              <a:rPr lang="en-US" sz="1200" dirty="0">
                <a:solidFill>
                  <a:srgbClr val="9A9AA5"/>
                </a:solidFill>
                <a:latin typeface="Calibri" pitchFamily="34" charset="0"/>
                <a:ea typeface="Calibri" pitchFamily="34" charset="-122"/>
                <a:cs typeface="Calibri" pitchFamily="34" charset="-120"/>
              </a:rPr>
              <a:t>La regla de las tres ediciones ya está escrita en AGENTS.md, pero llegó después del cuarto incidente. Debería haber sido una guarda automática desde la primera variable, no una norma que confiar a la memoria.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C"/>
        </a:solidFill>
      </p:bgPr>
    </p:bg>
    <p:spTree>
      <p:nvGrpSpPr>
        <p:cNvPr id="1" name=""/>
        <p:cNvGrpSpPr/>
        <p:nvPr/>
      </p:nvGrpSpPr>
      <p:grpSpPr>
        <a:xfrm>
          <a:off x="0" y="0"/>
          <a:ext cx="0" cy="0"/>
          <a:chOff x="0" y="0"/>
          <a:chExt cx="0" cy="0"/>
        </a:xfrm>
      </p:grpSpPr>
      <p:sp>
        <p:nvSpPr>
          <p:cNvPr id="2" name="Text 0"/>
          <p:cNvSpPr/>
          <p:nvPr/>
        </p:nvSpPr>
        <p:spPr>
          <a:xfrm>
            <a:off x="7818120" y="384048"/>
            <a:ext cx="3657600" cy="274320"/>
          </a:xfrm>
          <a:prstGeom prst="rect">
            <a:avLst/>
          </a:prstGeom>
          <a:noFill/>
          <a:ln/>
        </p:spPr>
        <p:txBody>
          <a:bodyPr wrap="square" lIns="0" tIns="0" rIns="0" bIns="0" rtlCol="0" anchor="ctr"/>
          <a:lstStyle/>
          <a:p>
            <a:pPr algn="r" indent="0" marL="0">
              <a:buNone/>
            </a:pPr>
            <a:r>
              <a:rPr lang="en-US" sz="1000" b="1" spc="150" kern="0" dirty="0">
                <a:solidFill>
                  <a:srgbClr val="33333B"/>
                </a:solidFill>
                <a:latin typeface="Calibri" pitchFamily="34" charset="0"/>
                <a:ea typeface="Calibri" pitchFamily="34" charset="-122"/>
                <a:cs typeface="Calibri" pitchFamily="34" charset="-120"/>
              </a:rPr>
              <a:t>ESTADO ACTUAL</a:t>
            </a:r>
            <a:endParaRPr lang="en-US" sz="1000" dirty="0"/>
          </a:p>
        </p:txBody>
      </p:sp>
      <p:sp>
        <p:nvSpPr>
          <p:cNvPr id="4" name="Text 1"/>
          <p:cNvSpPr/>
          <p:nvPr/>
        </p:nvSpPr>
        <p:spPr>
          <a:xfrm>
            <a:off x="685800" y="457200"/>
            <a:ext cx="10789920" cy="73152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Qué falta</a:t>
            </a:r>
            <a:endParaRPr lang="en-US" sz="3400" dirty="0"/>
          </a:p>
        </p:txBody>
      </p:sp>
      <p:sp>
        <p:nvSpPr>
          <p:cNvPr id="5" name="Text 2"/>
          <p:cNvSpPr/>
          <p:nvPr/>
        </p:nvSpPr>
        <p:spPr>
          <a:xfrm>
            <a:off x="685800" y="1188720"/>
            <a:ext cx="10789920" cy="411480"/>
          </a:xfrm>
          <a:prstGeom prst="rect">
            <a:avLst/>
          </a:prstGeom>
          <a:noFill/>
          <a:ln/>
        </p:spPr>
        <p:txBody>
          <a:bodyPr wrap="square" lIns="0" tIns="0" rIns="0" bIns="0" rtlCol="0" anchor="ctr"/>
          <a:lstStyle/>
          <a:p>
            <a:pPr indent="0" marL="0">
              <a:buNone/>
            </a:pPr>
            <a:r>
              <a:rPr lang="en-US" sz="1500" dirty="0">
                <a:solidFill>
                  <a:srgbClr val="9A9AA5"/>
                </a:solidFill>
                <a:latin typeface="Calibri" pitchFamily="34" charset="0"/>
                <a:ea typeface="Calibri" pitchFamily="34" charset="-122"/>
                <a:cs typeface="Calibri" pitchFamily="34" charset="-120"/>
              </a:rPr>
              <a:t>Brechas técnicas priorizadas, no escondidas</a:t>
            </a:r>
            <a:endParaRPr lang="en-US" sz="1500" dirty="0"/>
          </a:p>
        </p:txBody>
      </p:sp>
      <p:sp>
        <p:nvSpPr>
          <p:cNvPr id="6" name="Shape 3"/>
          <p:cNvSpPr/>
          <p:nvPr/>
        </p:nvSpPr>
        <p:spPr>
          <a:xfrm>
            <a:off x="685800" y="1874520"/>
            <a:ext cx="10789920" cy="1143000"/>
          </a:xfrm>
          <a:prstGeom prst="roundRect">
            <a:avLst>
              <a:gd name="adj" fmla="val 11200"/>
            </a:avLst>
          </a:prstGeom>
          <a:solidFill>
            <a:srgbClr val="16161B"/>
          </a:solidFill>
          <a:ln w="12700">
            <a:solidFill>
              <a:srgbClr val="33333B"/>
            </a:solidFill>
            <a:prstDash val="solid"/>
          </a:ln>
        </p:spPr>
      </p:sp>
      <p:sp>
        <p:nvSpPr>
          <p:cNvPr id="7" name="Shape 4"/>
          <p:cNvSpPr/>
          <p:nvPr/>
        </p:nvSpPr>
        <p:spPr>
          <a:xfrm>
            <a:off x="1005840" y="2167128"/>
            <a:ext cx="548640" cy="548640"/>
          </a:xfrm>
          <a:prstGeom prst="ellipse">
            <a:avLst/>
          </a:prstGeom>
          <a:solidFill>
            <a:srgbClr val="A8F060"/>
          </a:solidFill>
          <a:ln w="12700">
            <a:solidFill>
              <a:srgbClr val="A8F060"/>
            </a:solidFill>
            <a:prstDash val="solid"/>
          </a:ln>
        </p:spPr>
      </p:sp>
      <p:sp>
        <p:nvSpPr>
          <p:cNvPr id="8" name="Text 5"/>
          <p:cNvSpPr/>
          <p:nvPr/>
        </p:nvSpPr>
        <p:spPr>
          <a:xfrm>
            <a:off x="1005840" y="2167128"/>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1</a:t>
            </a:r>
            <a:endParaRPr lang="en-US" sz="1600" dirty="0"/>
          </a:p>
        </p:txBody>
      </p:sp>
      <p:sp>
        <p:nvSpPr>
          <p:cNvPr id="9" name="Text 6"/>
          <p:cNvSpPr/>
          <p:nvPr/>
        </p:nvSpPr>
        <p:spPr>
          <a:xfrm>
            <a:off x="1874520" y="2093976"/>
            <a:ext cx="530352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Métrica de calidad del plan generado</a:t>
            </a:r>
            <a:endParaRPr lang="en-US" sz="1700" dirty="0"/>
          </a:p>
        </p:txBody>
      </p:sp>
      <p:sp>
        <p:nvSpPr>
          <p:cNvPr id="10" name="Text 7"/>
          <p:cNvSpPr/>
          <p:nvPr/>
        </p:nvSpPr>
        <p:spPr>
          <a:xfrm>
            <a:off x="1874520" y="2496312"/>
            <a:ext cx="914400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No existe hoy. Sin ella, la arquitectura multiproveedor es una capacidad que no se puede explotar con criterio.</a:t>
            </a:r>
            <a:endParaRPr lang="en-US" sz="1300" dirty="0"/>
          </a:p>
        </p:txBody>
      </p:sp>
      <p:sp>
        <p:nvSpPr>
          <p:cNvPr id="11" name="Shape 8"/>
          <p:cNvSpPr/>
          <p:nvPr/>
        </p:nvSpPr>
        <p:spPr>
          <a:xfrm>
            <a:off x="685800" y="3172968"/>
            <a:ext cx="10789920" cy="1143000"/>
          </a:xfrm>
          <a:prstGeom prst="roundRect">
            <a:avLst>
              <a:gd name="adj" fmla="val 11200"/>
            </a:avLst>
          </a:prstGeom>
          <a:solidFill>
            <a:srgbClr val="16161B"/>
          </a:solidFill>
          <a:ln w="12700">
            <a:solidFill>
              <a:srgbClr val="33333B"/>
            </a:solidFill>
            <a:prstDash val="solid"/>
          </a:ln>
        </p:spPr>
      </p:sp>
      <p:sp>
        <p:nvSpPr>
          <p:cNvPr id="12" name="Shape 9"/>
          <p:cNvSpPr/>
          <p:nvPr/>
        </p:nvSpPr>
        <p:spPr>
          <a:xfrm>
            <a:off x="1005840" y="3465576"/>
            <a:ext cx="548640" cy="548640"/>
          </a:xfrm>
          <a:prstGeom prst="ellipse">
            <a:avLst/>
          </a:prstGeom>
          <a:solidFill>
            <a:srgbClr val="A8F060"/>
          </a:solidFill>
          <a:ln w="12700">
            <a:solidFill>
              <a:srgbClr val="A8F060"/>
            </a:solidFill>
            <a:prstDash val="solid"/>
          </a:ln>
        </p:spPr>
      </p:sp>
      <p:sp>
        <p:nvSpPr>
          <p:cNvPr id="13" name="Text 10"/>
          <p:cNvSpPr/>
          <p:nvPr/>
        </p:nvSpPr>
        <p:spPr>
          <a:xfrm>
            <a:off x="1005840" y="3465576"/>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2</a:t>
            </a:r>
            <a:endParaRPr lang="en-US" sz="1600" dirty="0"/>
          </a:p>
        </p:txBody>
      </p:sp>
      <p:sp>
        <p:nvSpPr>
          <p:cNvPr id="14" name="Text 11"/>
          <p:cNvSpPr/>
          <p:nvPr/>
        </p:nvSpPr>
        <p:spPr>
          <a:xfrm>
            <a:off x="1874520" y="3392424"/>
            <a:ext cx="530352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Coste por usuario, no instrumentado</a:t>
            </a:r>
            <a:endParaRPr lang="en-US" sz="1700" dirty="0"/>
          </a:p>
        </p:txBody>
      </p:sp>
      <p:sp>
        <p:nvSpPr>
          <p:cNvPr id="15" name="Text 12"/>
          <p:cNvSpPr/>
          <p:nvPr/>
        </p:nvSpPr>
        <p:spPr>
          <a:xfrm>
            <a:off x="1874520" y="3794760"/>
            <a:ext cx="914400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Langfuse traza tokens y latencia por llamada; falta agregarlo por tenant y contrastarlo con el precio.</a:t>
            </a:r>
            <a:endParaRPr lang="en-US" sz="1300" dirty="0"/>
          </a:p>
        </p:txBody>
      </p:sp>
      <p:sp>
        <p:nvSpPr>
          <p:cNvPr id="16" name="Shape 13"/>
          <p:cNvSpPr/>
          <p:nvPr/>
        </p:nvSpPr>
        <p:spPr>
          <a:xfrm>
            <a:off x="685800" y="4471416"/>
            <a:ext cx="10789920" cy="1143000"/>
          </a:xfrm>
          <a:prstGeom prst="roundRect">
            <a:avLst>
              <a:gd name="adj" fmla="val 11200"/>
            </a:avLst>
          </a:prstGeom>
          <a:solidFill>
            <a:srgbClr val="16161B"/>
          </a:solidFill>
          <a:ln w="12700">
            <a:solidFill>
              <a:srgbClr val="33333B"/>
            </a:solidFill>
            <a:prstDash val="solid"/>
          </a:ln>
        </p:spPr>
      </p:sp>
      <p:sp>
        <p:nvSpPr>
          <p:cNvPr id="17" name="Shape 14"/>
          <p:cNvSpPr/>
          <p:nvPr/>
        </p:nvSpPr>
        <p:spPr>
          <a:xfrm>
            <a:off x="1005840" y="4764024"/>
            <a:ext cx="548640" cy="548640"/>
          </a:xfrm>
          <a:prstGeom prst="ellipse">
            <a:avLst/>
          </a:prstGeom>
          <a:solidFill>
            <a:srgbClr val="A8F060"/>
          </a:solidFill>
          <a:ln w="12700">
            <a:solidFill>
              <a:srgbClr val="A8F060"/>
            </a:solidFill>
            <a:prstDash val="solid"/>
          </a:ln>
        </p:spPr>
      </p:sp>
      <p:sp>
        <p:nvSpPr>
          <p:cNvPr id="18" name="Text 15"/>
          <p:cNvSpPr/>
          <p:nvPr/>
        </p:nvSpPr>
        <p:spPr>
          <a:xfrm>
            <a:off x="1005840" y="4764024"/>
            <a:ext cx="548640" cy="548640"/>
          </a:xfrm>
          <a:prstGeom prst="rect">
            <a:avLst/>
          </a:prstGeom>
          <a:noFill/>
          <a:ln/>
        </p:spPr>
        <p:txBody>
          <a:bodyPr wrap="square" lIns="0" tIns="0" rIns="0" bIns="0" rtlCol="0" anchor="ctr"/>
          <a:lstStyle/>
          <a:p>
            <a:pPr algn="ctr" indent="0" marL="0">
              <a:buNone/>
            </a:pPr>
            <a:r>
              <a:rPr lang="en-US" sz="1600" b="1" dirty="0">
                <a:solidFill>
                  <a:srgbClr val="09090C"/>
                </a:solidFill>
                <a:latin typeface="Arial" pitchFamily="34" charset="0"/>
                <a:ea typeface="Arial" pitchFamily="34" charset="-122"/>
                <a:cs typeface="Arial" pitchFamily="34" charset="-120"/>
              </a:rPr>
              <a:t>3</a:t>
            </a:r>
            <a:endParaRPr lang="en-US" sz="1600" dirty="0"/>
          </a:p>
        </p:txBody>
      </p:sp>
      <p:sp>
        <p:nvSpPr>
          <p:cNvPr id="19" name="Text 16"/>
          <p:cNvSpPr/>
          <p:nvPr/>
        </p:nvSpPr>
        <p:spPr>
          <a:xfrm>
            <a:off x="1874520" y="4690872"/>
            <a:ext cx="5303520" cy="384048"/>
          </a:xfrm>
          <a:prstGeom prst="rect">
            <a:avLst/>
          </a:prstGeom>
          <a:noFill/>
          <a:ln/>
        </p:spPr>
        <p:txBody>
          <a:bodyPr wrap="square" lIns="0" tIns="0" rIns="0" bIns="0" rtlCol="0" anchor="ctr"/>
          <a:lstStyle/>
          <a:p>
            <a:pPr indent="0" marL="0">
              <a:buNone/>
            </a:pPr>
            <a:r>
              <a:rPr lang="en-US" sz="1700" b="1" dirty="0">
                <a:solidFill>
                  <a:srgbClr val="E8C15A"/>
                </a:solidFill>
                <a:latin typeface="Arial" pitchFamily="34" charset="0"/>
                <a:ea typeface="Arial" pitchFamily="34" charset="-122"/>
                <a:cs typeface="Arial" pitchFamily="34" charset="-120"/>
              </a:rPr>
              <a:t>Deuda técnica identificada</a:t>
            </a:r>
            <a:endParaRPr lang="en-US" sz="1700" dirty="0"/>
          </a:p>
        </p:txBody>
      </p:sp>
      <p:sp>
        <p:nvSpPr>
          <p:cNvPr id="20" name="Text 17"/>
          <p:cNvSpPr/>
          <p:nvPr/>
        </p:nvSpPr>
        <p:spPr>
          <a:xfrm>
            <a:off x="1874520" y="5093208"/>
            <a:ext cx="9144000" cy="45720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Normalización de nombres de ejercicio, clasificador de grupo muscular y una variable de estilo de voz que Compose aún interpola mal.</a:t>
            </a:r>
            <a:endParaRPr lang="en-US" sz="1300" dirty="0"/>
          </a:p>
        </p:txBody>
      </p:sp>
      <p:sp>
        <p:nvSpPr>
          <p:cNvPr id="21" name="Text 18"/>
          <p:cNvSpPr/>
          <p:nvPr/>
        </p:nvSpPr>
        <p:spPr>
          <a:xfrm>
            <a:off x="685800" y="5989320"/>
            <a:ext cx="10515600" cy="411480"/>
          </a:xfrm>
          <a:prstGeom prst="rect">
            <a:avLst/>
          </a:prstGeom>
          <a:noFill/>
          <a:ln/>
        </p:spPr>
        <p:txBody>
          <a:bodyPr wrap="square" lIns="0" tIns="0" rIns="0" bIns="0" rtlCol="0" anchor="ctr"/>
          <a:lstStyle/>
          <a:p>
            <a:pPr indent="0" marL="0">
              <a:buNone/>
            </a:pPr>
            <a:r>
              <a:rPr lang="en-US" sz="1300" dirty="0">
                <a:solidFill>
                  <a:srgbClr val="9A9AA5"/>
                </a:solidFill>
                <a:latin typeface="Calibri" pitchFamily="34" charset="0"/>
                <a:ea typeface="Calibri" pitchFamily="34" charset="-122"/>
                <a:cs typeface="Calibri" pitchFamily="34" charset="-120"/>
              </a:rPr>
              <a:t>El capítulo de producto detalla, además, la falta de validación clínica y de usuarios reales.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C"/>
        </a:solidFill>
      </p:bgPr>
    </p:bg>
    <p:spTree>
      <p:nvGrpSpPr>
        <p:cNvPr id="1" name=""/>
        <p:cNvGrpSpPr/>
        <p:nvPr/>
      </p:nvGrpSpPr>
      <p:grpSpPr>
        <a:xfrm>
          <a:off x="0" y="0"/>
          <a:ext cx="0" cy="0"/>
          <a:chOff x="0" y="0"/>
          <a:chExt cx="0" cy="0"/>
        </a:xfrm>
      </p:grpSpPr>
      <p:sp>
        <p:nvSpPr>
          <p:cNvPr id="3" name="Shape 0"/>
          <p:cNvSpPr/>
          <p:nvPr/>
        </p:nvSpPr>
        <p:spPr>
          <a:xfrm>
            <a:off x="-2011680" y="3108960"/>
            <a:ext cx="5852160" cy="5852160"/>
          </a:xfrm>
          <a:prstGeom prst="ellipse">
            <a:avLst/>
          </a:prstGeom>
          <a:solidFill>
            <a:srgbClr val="16161B"/>
          </a:solidFill>
          <a:ln w="12700">
            <a:solidFill>
              <a:srgbClr val="16161B"/>
            </a:solidFill>
            <a:prstDash val="solid"/>
          </a:ln>
        </p:spPr>
      </p:sp>
      <p:sp>
        <p:nvSpPr>
          <p:cNvPr id="4" name="Shape 1"/>
          <p:cNvSpPr/>
          <p:nvPr/>
        </p:nvSpPr>
        <p:spPr>
          <a:xfrm>
            <a:off x="-548640" y="4572000"/>
            <a:ext cx="2377440" cy="2377440"/>
          </a:xfrm>
          <a:prstGeom prst="ellipse">
            <a:avLst/>
          </a:prstGeom>
          <a:solidFill>
            <a:srgbClr val="A8F060"/>
          </a:solidFill>
          <a:ln w="12700">
            <a:solidFill>
              <a:srgbClr val="A8F060"/>
            </a:solidFill>
            <a:prstDash val="solid"/>
          </a:ln>
        </p:spPr>
      </p:sp>
      <p:sp>
        <p:nvSpPr>
          <p:cNvPr id="5" name="Text 2"/>
          <p:cNvSpPr/>
          <p:nvPr/>
        </p:nvSpPr>
        <p:spPr>
          <a:xfrm>
            <a:off x="3108960" y="1920240"/>
            <a:ext cx="8412480" cy="822960"/>
          </a:xfrm>
          <a:prstGeom prst="rect">
            <a:avLst/>
          </a:prstGeom>
          <a:noFill/>
          <a:ln/>
        </p:spPr>
        <p:txBody>
          <a:bodyPr wrap="square" lIns="0" tIns="0" rIns="0" bIns="0" rtlCol="0" anchor="ctr"/>
          <a:lstStyle/>
          <a:p>
            <a:pPr indent="0" marL="0">
              <a:buNone/>
            </a:pPr>
            <a:r>
              <a:rPr lang="en-US" sz="3400" b="1" dirty="0">
                <a:solidFill>
                  <a:srgbClr val="F5F5F7"/>
                </a:solidFill>
                <a:latin typeface="Arial" pitchFamily="34" charset="0"/>
                <a:ea typeface="Arial" pitchFamily="34" charset="-122"/>
                <a:cs typeface="Arial" pitchFamily="34" charset="-120"/>
              </a:rPr>
              <a:t>El cuello de botella ya no es escribir.</a:t>
            </a:r>
            <a:endParaRPr lang="en-US" sz="3400" dirty="0"/>
          </a:p>
        </p:txBody>
      </p:sp>
      <p:sp>
        <p:nvSpPr>
          <p:cNvPr id="6" name="Text 3"/>
          <p:cNvSpPr/>
          <p:nvPr/>
        </p:nvSpPr>
        <p:spPr>
          <a:xfrm>
            <a:off x="3108960" y="2743200"/>
            <a:ext cx="8412480" cy="822960"/>
          </a:xfrm>
          <a:prstGeom prst="rect">
            <a:avLst/>
          </a:prstGeom>
          <a:noFill/>
          <a:ln/>
        </p:spPr>
        <p:txBody>
          <a:bodyPr wrap="square" lIns="0" tIns="0" rIns="0" bIns="0" rtlCol="0" anchor="ctr"/>
          <a:lstStyle/>
          <a:p>
            <a:pPr indent="0" marL="0">
              <a:buNone/>
            </a:pPr>
            <a:r>
              <a:rPr lang="en-US" sz="3400" b="1" dirty="0">
                <a:solidFill>
                  <a:srgbClr val="A8F060"/>
                </a:solidFill>
                <a:latin typeface="Arial" pitchFamily="34" charset="0"/>
                <a:ea typeface="Arial" pitchFamily="34" charset="-122"/>
                <a:cs typeface="Arial" pitchFamily="34" charset="-120"/>
              </a:rPr>
              <a:t>Es decidir y verificar.</a:t>
            </a:r>
            <a:endParaRPr lang="en-US" sz="3400" dirty="0"/>
          </a:p>
        </p:txBody>
      </p:sp>
      <p:sp>
        <p:nvSpPr>
          <p:cNvPr id="7" name="Text 4"/>
          <p:cNvSpPr/>
          <p:nvPr/>
        </p:nvSpPr>
        <p:spPr>
          <a:xfrm>
            <a:off x="3108960" y="3794760"/>
            <a:ext cx="8229600" cy="1005840"/>
          </a:xfrm>
          <a:prstGeom prst="rect">
            <a:avLst/>
          </a:prstGeom>
          <a:noFill/>
          <a:ln/>
        </p:spPr>
        <p:txBody>
          <a:bodyPr wrap="square" lIns="0" tIns="0" rIns="0" bIns="0" rtlCol="0" anchor="ctr"/>
          <a:lstStyle/>
          <a:p>
            <a:pPr indent="0" marL="0">
              <a:buNone/>
            </a:pPr>
            <a:r>
              <a:rPr lang="en-US" sz="1600" dirty="0">
                <a:solidFill>
                  <a:srgbClr val="9A9AA5"/>
                </a:solidFill>
                <a:latin typeface="Calibri" pitchFamily="34" charset="0"/>
                <a:ea typeface="Calibri" pitchFamily="34" charset="-122"/>
                <a:cs typeface="Calibri" pitchFamily="34" charset="-120"/>
              </a:rPr>
              <a:t>El método no consiste en que la IA decida, sino en construir el andamiaje que permite a una persona decidir mucho más rápido sin decidir peor.</a:t>
            </a:r>
            <a:endParaRPr lang="en-US" sz="1600" dirty="0"/>
          </a:p>
        </p:txBody>
      </p:sp>
      <p:sp>
        <p:nvSpPr>
          <p:cNvPr id="8" name="Text 5"/>
          <p:cNvSpPr/>
          <p:nvPr/>
        </p:nvSpPr>
        <p:spPr>
          <a:xfrm>
            <a:off x="4572000" y="5532120"/>
            <a:ext cx="6766560" cy="365760"/>
          </a:xfrm>
          <a:prstGeom prst="rect">
            <a:avLst/>
          </a:prstGeom>
          <a:noFill/>
          <a:ln/>
        </p:spPr>
        <p:txBody>
          <a:bodyPr wrap="square" lIns="0" tIns="0" rIns="0" bIns="0" rtlCol="0" anchor="ctr"/>
          <a:lstStyle/>
          <a:p>
            <a:pPr indent="0" marL="0">
              <a:buNone/>
            </a:pPr>
            <a:r>
              <a:rPr lang="en-US" sz="1400" dirty="0">
                <a:solidFill>
                  <a:srgbClr val="F5F5F7"/>
                </a:solidFill>
                <a:latin typeface="Calibri" pitchFamily="34" charset="0"/>
                <a:ea typeface="Calibri" pitchFamily="34" charset="-122"/>
                <a:cs typeface="Calibri" pitchFamily="34" charset="-120"/>
              </a:rPr>
              <a:t>kInorA   ·   Aitor Ruiz de Samaniego   ·   Gracias por su atención</a:t>
            </a:r>
            <a:endParaRPr lang="en-US" sz="1400" dirty="0"/>
          </a:p>
        </p:txBody>
      </p:sp>
      <p:sp>
        <p:nvSpPr>
          <p:cNvPr id="9" name="Text 6"/>
          <p:cNvSpPr/>
          <p:nvPr/>
        </p:nvSpPr>
        <p:spPr>
          <a:xfrm>
            <a:off x="4572000" y="5943600"/>
            <a:ext cx="6766560" cy="457200"/>
          </a:xfrm>
          <a:prstGeom prst="rect">
            <a:avLst/>
          </a:prstGeom>
          <a:noFill/>
          <a:ln/>
        </p:spPr>
        <p:txBody>
          <a:bodyPr wrap="square" lIns="0" tIns="0" rIns="0" bIns="0" rtlCol="0" anchor="ctr"/>
          <a:lstStyle/>
          <a:p>
            <a:pPr indent="0" marL="0">
              <a:buNone/>
            </a:pPr>
            <a:r>
              <a:rPr lang="en-US" sz="1050" dirty="0">
                <a:solidFill>
                  <a:srgbClr val="9A9AA5"/>
                </a:solidFill>
                <a:latin typeface="Calibri" pitchFamily="34" charset="0"/>
                <a:ea typeface="Calibri" pitchFamily="34" charset="-122"/>
                <a:cs typeface="Calibri" pitchFamily="34" charset="-120"/>
              </a:rPr>
              <a:t>Orquestación de agentes: gentle-ai, de Alan Buscaglia (MIT).   ·   Recursos del catálogo: Gym visual.   ·   Créditos completos en docs/credits.md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kInorA — Cómo se construyó</dc:title>
  <dc:subject>PptxGenJS Presentation</dc:subject>
  <dc:creator>Aitor Ruiz de Samaniego</dc:creator>
  <cp:lastModifiedBy>Aitor Ruiz de Samaniego</cp:lastModifiedBy>
  <cp:revision>1</cp:revision>
  <dcterms:created xsi:type="dcterms:W3CDTF">2026-08-16T09:15:34Z</dcterms:created>
  <dcterms:modified xsi:type="dcterms:W3CDTF">2026-08-16T09:15:34Z</dcterms:modified>
</cp:coreProperties>
</file>