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Soy Aitor Ruiz de Samaniego y esto es kInorA: qué problema resuelve, qué hace y para quién. La parte de cómo está construido y cómo se construyó vive en una presentación aparte, para poder darle a cada una el tiempo que merece.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no es que falte información sobre entrenamiento: sobra. El problema es el abandono. La mitad de las altas de gimnasio se dan de baja en seis meses. Solo el veintitrés por ciento de los socios estadounidenses usó entrenador personal en 2024, y no es raro: en Barcelona una sesión cuesta entre cuarenta y setenta euros. Y mil setecientos diez millones de personas conviven con alguna afección musculoesquelética. Quien más necesita un plan adaptado es quien menos puede pagarlo.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segmento está poblado, así que conviene ser honesto. Por debajo hay aplicaciones baratas que ajustan volumen y material, como Fitbod o Freeletics. SensAI ya usa un modelo de lenguaje, pero para regular la carga según sueño y fatiga, no para adaptar el ejercicio a una lesión. Y por encima están los servicios con entrenador humano, a doscientos dólares al mes. Ninguno de los cinco documenta la adaptación a limitaciones físicas declaradas como capacidad de primer orden. Ese es el hueco.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kInorA genera y adapta planes al cuerpo real de cada persona. Cuatro capacidades lo definen: adaptación a lesiones, dos modos de definir el plan, memoria persistente que se puede ver y borrar, y entrenamiento offline. Y existe en tres niveles: una persona sola, un entrenador con sus clientes, y un gimnasio con su marca. Lo que viene ahora es enseñar cada una de esas piezas tal y como se ven en la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Definir un plan tiene dos caminos. El asistente de tarjetas son seis pasos —objetivo, lugar, días, duración, material, limitaciones— dos minutos si uno sabe lo que quiere. El lugar va antes que el material, porque entrenar en casa o en un gimnasio cambia lo que tiene sentido ofrecer. El asistente conversacional es mejor cuando la situación tiene matices que ningún formulario recoge, que es el caso de quien arrastra una lesión: aquí lo extrae mientras hablas con el entrenador de kInorA, y en el móvil es una conversación por voz.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resultado. La persona declara una hernia lumbar. Lo que hace la sustitución no es el modelo: es un filtro determinista sobre la matriz de carga por zona corporal del catálogo. Donde un plan genérico pondría peso muerto con barra, con carga axial alta sobre la columna, kInorA propone hip thrust con mancuerna: mismo objetivo de cadera, menos carga axial. Y avisa de que lo ha hecho, con el motivo, y ofrece alternativas. Quiero decirlo con claridad: es una sustitución razonada sobre criterio biomecánico documentado, no una indicación clínica, y todavía no la ha revisado un profesional sanitario.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panel del día a día. En un vistazo: la sesión de hoy con sus ejercicios y el peso sugerido, la racha de días consecutivos, el objetivo semanal cumplido, y el volumen total entrenado. A la derecha, el check-in semanal y una gráfica de progreso que usa datos reales de las sesiones registradas, no una proyección.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vista semanal muestra el plan completo: qué toca cada día, cuánto se ha cumplido y cuánto queda. El volumen objetivo, los días de descanso y la duración total están calculados a partir de las sesiones reales, no de una plantilla fija. Y cada sesión, al entrar, muestra el detalle exacto de series, repeticiones y peso sugerido por ejercicio.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Entrenar y medir. Anotar las series tiene tres estados —por debajo, cumplido, por encima— y funciona offline: se guarda en el móvil y se sincroniza al recuperar la conexión. Con esos datos el sistema calcula adherencia, volumen y récords, y propone ajustes que la persona confirma.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Durante el entreno, hablar es más rápido que tocar. «Sube el peso del press a cuarenta kilos» actualiza la sesión de hoy al momento, y el asistente confirma el cambio y puede preguntar si hay que ajustar también las repeticiones. La misma voz que ayuda a definir el plan al principio, ayuda a ajustarlo mientras se entrena.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mismas cuatro capacidades escalan a dos niveles más. El nivel Entrenador deja gestionar una cartera de clientes: se les invita, se crean y poseen planes en su nombre, y hay un panel de progreso por cliente con tendencia de esfuerzo percibido, cumplimiento y últimas sesiones. El cliente sigue siendo dueño de sus datos; el entrenador actúa sobre ellos, no los posee, y eso está resuelto a nivel de autorización, no solo de interfaz. El nivel Gimnasio añade marca blanca en subdominio propio, con logo y paleta reflejados desde el login. Y, con la misma honestidad de siempre, cuento también lo que está diseñado pero no implementado: la facturación por asiento y la administración multisede.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punto de gobierno, porque cambiar de modelo de IA con un clic solo da confianza si además se puede vigilar. Los prompts no viven en el código: residen en Langfuse, versionados, y si el gestor falla el sistema cae a la plantilla compilada y sigue generando. Cada llamada al modelo queda trazada con su proveedor, sus tokens y su latencia, lo que da la base para conocer el coste real de cada plan. Lo que todavía no existe es la métrica que diga si esa llamada produjo un buen plan: se puede ver cuánto cuesta y cuánto tarda, no si vale la pena. Es la pregunta abierta más importante del proyecto, y la cuento aquí en lugar de esconderla.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me quedo con una sola decisión de producto, es esta: el sistema no inventa datos. Días numerados, no lunes, porque el modelo no conoce el calendario. Lo que no se puede calcular se deja vacío. Y una sesión olvidada nunca se marca como completada. Prefiero un hueco a un número inventado.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falta, con la misma honestidad con la que se ha contado el resto. Esto no lo ha usado nadie todavía, y ningún profesional sanitario ha revisado el catálogo de sustituciones: está verificado, no validado. Tampoco existe hoy una métrica de calidad del plan generado, ni el coste por usuario, ni el correo transaccional que hace falta para lanzar de verdad.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Vuelvo al principio. La persona con la hernia lumbar que abría esta presentación hoy tiene un plan que la tiene en cuenta. Esto es lo que hace kInorA y para quién lo hace. Cómo está construido, y cómo se construyó en cincuenta y dos días, es la segunda parte de esta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0C"/>
        </a:solidFill>
      </p:bgPr>
    </p:bg>
    <p:spTree>
      <p:nvGrpSpPr>
        <p:cNvPr id="1" name=""/>
        <p:cNvGrpSpPr/>
        <p:nvPr/>
      </p:nvGrpSpPr>
      <p:grpSpPr>
        <a:xfrm>
          <a:off x="0" y="0"/>
          <a:ext cx="0" cy="0"/>
          <a:chOff x="0" y="0"/>
          <a:chExt cx="0" cy="0"/>
        </a:xfrm>
      </p:grpSpPr>
      <p:sp>
        <p:nvSpPr>
          <p:cNvPr id="3" name="Shape 0"/>
          <p:cNvSpPr/>
          <p:nvPr/>
        </p:nvSpPr>
        <p:spPr>
          <a:xfrm>
            <a:off x="8595360" y="-1463040"/>
            <a:ext cx="5669280" cy="5669280"/>
          </a:xfrm>
          <a:prstGeom prst="ellipse">
            <a:avLst/>
          </a:prstGeom>
          <a:solidFill>
            <a:srgbClr val="16161B"/>
          </a:solidFill>
          <a:ln w="12700">
            <a:solidFill>
              <a:srgbClr val="16161B"/>
            </a:solidFill>
            <a:prstDash val="solid"/>
          </a:ln>
        </p:spPr>
      </p:sp>
      <p:sp>
        <p:nvSpPr>
          <p:cNvPr id="4" name="Shape 1"/>
          <p:cNvSpPr/>
          <p:nvPr/>
        </p:nvSpPr>
        <p:spPr>
          <a:xfrm>
            <a:off x="9966960" y="-91440"/>
            <a:ext cx="2926080" cy="2926080"/>
          </a:xfrm>
          <a:prstGeom prst="ellipse">
            <a:avLst/>
          </a:prstGeom>
          <a:solidFill>
            <a:srgbClr val="A8F060"/>
          </a:solidFill>
          <a:ln w="12700">
            <a:solidFill>
              <a:srgbClr val="A8F060"/>
            </a:solidFill>
            <a:prstDash val="solid"/>
          </a:ln>
        </p:spPr>
      </p:sp>
      <p:sp>
        <p:nvSpPr>
          <p:cNvPr id="5" name="Text 2"/>
          <p:cNvSpPr/>
          <p:nvPr/>
        </p:nvSpPr>
        <p:spPr>
          <a:xfrm>
            <a:off x="685800" y="2011680"/>
            <a:ext cx="7772400" cy="1188720"/>
          </a:xfrm>
          <a:prstGeom prst="rect">
            <a:avLst/>
          </a:prstGeom>
          <a:noFill/>
          <a:ln/>
        </p:spPr>
        <p:txBody>
          <a:bodyPr wrap="square" lIns="0" tIns="0" rIns="0" bIns="0" rtlCol="0" anchor="ctr"/>
          <a:lstStyle/>
          <a:p>
            <a:pPr indent="0" marL="0">
              <a:buNone/>
            </a:pPr>
            <a:r>
              <a:rPr lang="en-US" sz="6600" b="1" dirty="0">
                <a:solidFill>
                  <a:srgbClr val="F5F5F7"/>
                </a:solidFill>
                <a:latin typeface="Arial" pitchFamily="34" charset="0"/>
                <a:ea typeface="Arial" pitchFamily="34" charset="-122"/>
                <a:cs typeface="Arial" pitchFamily="34" charset="-120"/>
              </a:rPr>
              <a:t>kInorA</a:t>
            </a:r>
            <a:endParaRPr lang="en-US" sz="6600" dirty="0"/>
          </a:p>
        </p:txBody>
      </p:sp>
      <p:sp>
        <p:nvSpPr>
          <p:cNvPr id="6" name="Text 3"/>
          <p:cNvSpPr/>
          <p:nvPr/>
        </p:nvSpPr>
        <p:spPr>
          <a:xfrm>
            <a:off x="685800" y="3154680"/>
            <a:ext cx="7772400" cy="548640"/>
          </a:xfrm>
          <a:prstGeom prst="rect">
            <a:avLst/>
          </a:prstGeom>
          <a:noFill/>
          <a:ln/>
        </p:spPr>
        <p:txBody>
          <a:bodyPr wrap="square" lIns="0" tIns="0" rIns="0" bIns="0" rtlCol="0" anchor="ctr"/>
          <a:lstStyle/>
          <a:p>
            <a:pPr indent="0" marL="0">
              <a:buNone/>
            </a:pPr>
            <a:r>
              <a:rPr lang="en-US" sz="2000" dirty="0">
                <a:solidFill>
                  <a:srgbClr val="A8F060"/>
                </a:solidFill>
                <a:latin typeface="Calibri" pitchFamily="34" charset="0"/>
                <a:ea typeface="Calibri" pitchFamily="34" charset="-122"/>
                <a:cs typeface="Calibri" pitchFamily="34" charset="-120"/>
              </a:rPr>
              <a:t>Entrenamiento personalizado con inteligencia artificial</a:t>
            </a:r>
            <a:endParaRPr lang="en-US" sz="2000" dirty="0"/>
          </a:p>
        </p:txBody>
      </p:sp>
      <p:sp>
        <p:nvSpPr>
          <p:cNvPr id="7" name="Text 4"/>
          <p:cNvSpPr/>
          <p:nvPr/>
        </p:nvSpPr>
        <p:spPr>
          <a:xfrm>
            <a:off x="685800" y="3703320"/>
            <a:ext cx="7315200" cy="45720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Planes que se adaptan al cuerpo real: objetivos, material y lesiones.</a:t>
            </a:r>
            <a:endParaRPr lang="en-US" sz="1500" dirty="0"/>
          </a:p>
        </p:txBody>
      </p:sp>
      <p:sp>
        <p:nvSpPr>
          <p:cNvPr id="8" name="Shape 5"/>
          <p:cNvSpPr/>
          <p:nvPr/>
        </p:nvSpPr>
        <p:spPr>
          <a:xfrm>
            <a:off x="685800" y="4434840"/>
            <a:ext cx="7589520" cy="548640"/>
          </a:xfrm>
          <a:prstGeom prst="roundRect">
            <a:avLst>
              <a:gd name="adj" fmla="val 23333"/>
            </a:avLst>
          </a:prstGeom>
          <a:solidFill>
            <a:srgbClr val="1F1F25"/>
          </a:solidFill>
          <a:ln w="12700">
            <a:solidFill>
              <a:srgbClr val="33333B"/>
            </a:solidFill>
            <a:prstDash val="solid"/>
          </a:ln>
        </p:spPr>
      </p:sp>
      <p:sp>
        <p:nvSpPr>
          <p:cNvPr id="9" name="Text 6"/>
          <p:cNvSpPr/>
          <p:nvPr/>
        </p:nvSpPr>
        <p:spPr>
          <a:xfrm>
            <a:off x="960120" y="4434840"/>
            <a:ext cx="7040880" cy="548640"/>
          </a:xfrm>
          <a:prstGeom prst="rect">
            <a:avLst/>
          </a:prstGeom>
          <a:noFill/>
          <a:ln/>
        </p:spPr>
        <p:txBody>
          <a:bodyPr wrap="square" lIns="0" tIns="0" rIns="0" bIns="0" rtlCol="0" anchor="ctr"/>
          <a:lstStyle/>
          <a:p>
            <a:pPr indent="0" marL="0">
              <a:buNone/>
            </a:pPr>
            <a:r>
              <a:rPr lang="en-US" sz="1250" dirty="0">
                <a:solidFill>
                  <a:srgbClr val="F5F5F7"/>
                </a:solidFill>
                <a:latin typeface="Calibri" pitchFamily="34" charset="0"/>
                <a:ea typeface="Calibri" pitchFamily="34" charset="-122"/>
                <a:cs typeface="Calibri" pitchFamily="34" charset="-120"/>
              </a:rPr>
              <a:t>Parte 1 de 2 — Producto. La parte técnica (arquitectura, método, resultados) es una presentación separada.</a:t>
            </a:r>
            <a:endParaRPr lang="en-US" sz="1250" dirty="0"/>
          </a:p>
        </p:txBody>
      </p:sp>
      <p:sp>
        <p:nvSpPr>
          <p:cNvPr id="10" name="Text 7"/>
          <p:cNvSpPr/>
          <p:nvPr/>
        </p:nvSpPr>
        <p:spPr>
          <a:xfrm>
            <a:off x="685800" y="5852160"/>
            <a:ext cx="8229600" cy="365760"/>
          </a:xfrm>
          <a:prstGeom prst="rect">
            <a:avLst/>
          </a:prstGeom>
          <a:noFill/>
          <a:ln/>
        </p:spPr>
        <p:txBody>
          <a:bodyPr wrap="square" lIns="0" tIns="0" rIns="0" bIns="0" rtlCol="0" anchor="ctr"/>
          <a:lstStyle/>
          <a:p>
            <a:pPr indent="0" marL="0">
              <a:buNone/>
            </a:pPr>
            <a:r>
              <a:rPr lang="en-US" sz="1300" dirty="0">
                <a:solidFill>
                  <a:srgbClr val="9A9AA5"/>
                </a:solidFill>
                <a:latin typeface="Calibri" pitchFamily="34" charset="0"/>
                <a:ea typeface="Calibri" pitchFamily="34" charset="-122"/>
                <a:cs typeface="Calibri" pitchFamily="34" charset="-120"/>
              </a:rPr>
              <a:t>Aitor Ruiz de Samaniego   ·   Trabajo de Fin de Máster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PROBLEMA</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El abandono es la norma</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Y quien más necesita adaptación es quien menos puede pagarla</a:t>
            </a:r>
            <a:endParaRPr lang="en-US" sz="1500" dirty="0"/>
          </a:p>
        </p:txBody>
      </p:sp>
      <p:sp>
        <p:nvSpPr>
          <p:cNvPr id="6" name="Shape 3"/>
          <p:cNvSpPr/>
          <p:nvPr/>
        </p:nvSpPr>
        <p:spPr>
          <a:xfrm>
            <a:off x="685800" y="2011680"/>
            <a:ext cx="3340608" cy="2286000"/>
          </a:xfrm>
          <a:prstGeom prst="roundRect">
            <a:avLst>
              <a:gd name="adj" fmla="val 5600"/>
            </a:avLst>
          </a:prstGeom>
          <a:solidFill>
            <a:srgbClr val="16161B"/>
          </a:solidFill>
          <a:ln w="12700">
            <a:solidFill>
              <a:srgbClr val="33333B"/>
            </a:solidFill>
            <a:prstDash val="solid"/>
          </a:ln>
        </p:spPr>
      </p:sp>
      <p:sp>
        <p:nvSpPr>
          <p:cNvPr id="7" name="Text 4"/>
          <p:cNvSpPr/>
          <p:nvPr/>
        </p:nvSpPr>
        <p:spPr>
          <a:xfrm>
            <a:off x="960120" y="2286000"/>
            <a:ext cx="2791968" cy="868680"/>
          </a:xfrm>
          <a:prstGeom prst="rect">
            <a:avLst/>
          </a:prstGeom>
          <a:noFill/>
          <a:ln/>
        </p:spPr>
        <p:txBody>
          <a:bodyPr wrap="square" lIns="0" tIns="0" rIns="0" bIns="0" rtlCol="0" anchor="ctr"/>
          <a:lstStyle/>
          <a:p>
            <a:pPr indent="0" marL="0">
              <a:buNone/>
            </a:pPr>
            <a:r>
              <a:rPr lang="en-US" sz="4400" b="1" dirty="0">
                <a:solidFill>
                  <a:srgbClr val="A8F060"/>
                </a:solidFill>
                <a:latin typeface="Arial" pitchFamily="34" charset="0"/>
                <a:ea typeface="Arial" pitchFamily="34" charset="-122"/>
                <a:cs typeface="Arial" pitchFamily="34" charset="-120"/>
              </a:rPr>
              <a:t>50 %</a:t>
            </a:r>
            <a:endParaRPr lang="en-US" sz="4400" dirty="0"/>
          </a:p>
        </p:txBody>
      </p:sp>
      <p:sp>
        <p:nvSpPr>
          <p:cNvPr id="8" name="Text 5"/>
          <p:cNvSpPr/>
          <p:nvPr/>
        </p:nvSpPr>
        <p:spPr>
          <a:xfrm>
            <a:off x="960120" y="3200400"/>
            <a:ext cx="2791968" cy="914400"/>
          </a:xfrm>
          <a:prstGeom prst="rect">
            <a:avLst/>
          </a:prstGeom>
          <a:noFill/>
          <a:ln/>
        </p:spPr>
        <p:txBody>
          <a:bodyPr wrap="square" lIns="0" tIns="0" rIns="0" bIns="0" rtlCol="0" anchor="ctr"/>
          <a:lstStyle/>
          <a:p>
            <a:pPr indent="0" marL="0">
              <a:buNone/>
            </a:pPr>
            <a:r>
              <a:rPr lang="en-US" sz="1400" dirty="0">
                <a:solidFill>
                  <a:srgbClr val="9A9AA5"/>
                </a:solidFill>
                <a:latin typeface="Calibri" pitchFamily="34" charset="0"/>
                <a:ea typeface="Calibri" pitchFamily="34" charset="-122"/>
                <a:cs typeface="Calibri" pitchFamily="34" charset="-120"/>
              </a:rPr>
              <a:t>de las altas de gimnasio</a:t>
            </a:r>
            <a:endParaRPr lang="en-US" sz="1400" dirty="0"/>
          </a:p>
          <a:p>
            <a:pPr indent="0" marL="0">
              <a:buNone/>
            </a:pPr>
            <a:r>
              <a:rPr lang="en-US" sz="1400" dirty="0">
                <a:solidFill>
                  <a:srgbClr val="9A9AA5"/>
                </a:solidFill>
                <a:latin typeface="Calibri" pitchFamily="34" charset="0"/>
                <a:ea typeface="Calibri" pitchFamily="34" charset="-122"/>
                <a:cs typeface="Calibri" pitchFamily="34" charset="-120"/>
              </a:rPr>
              <a:t>se dan de baja en 6 meses</a:t>
            </a:r>
            <a:endParaRPr lang="en-US" sz="1400" dirty="0"/>
          </a:p>
        </p:txBody>
      </p:sp>
      <p:sp>
        <p:nvSpPr>
          <p:cNvPr id="9" name="Shape 6"/>
          <p:cNvSpPr/>
          <p:nvPr/>
        </p:nvSpPr>
        <p:spPr>
          <a:xfrm>
            <a:off x="4410456" y="2011680"/>
            <a:ext cx="3340608" cy="2286000"/>
          </a:xfrm>
          <a:prstGeom prst="roundRect">
            <a:avLst>
              <a:gd name="adj" fmla="val 5600"/>
            </a:avLst>
          </a:prstGeom>
          <a:solidFill>
            <a:srgbClr val="16161B"/>
          </a:solidFill>
          <a:ln w="12700">
            <a:solidFill>
              <a:srgbClr val="33333B"/>
            </a:solidFill>
            <a:prstDash val="solid"/>
          </a:ln>
        </p:spPr>
      </p:sp>
      <p:sp>
        <p:nvSpPr>
          <p:cNvPr id="10" name="Text 7"/>
          <p:cNvSpPr/>
          <p:nvPr/>
        </p:nvSpPr>
        <p:spPr>
          <a:xfrm>
            <a:off x="4684776" y="2286000"/>
            <a:ext cx="2791968" cy="868680"/>
          </a:xfrm>
          <a:prstGeom prst="rect">
            <a:avLst/>
          </a:prstGeom>
          <a:noFill/>
          <a:ln/>
        </p:spPr>
        <p:txBody>
          <a:bodyPr wrap="square" lIns="0" tIns="0" rIns="0" bIns="0" rtlCol="0" anchor="ctr"/>
          <a:lstStyle/>
          <a:p>
            <a:pPr indent="0" marL="0">
              <a:buNone/>
            </a:pPr>
            <a:r>
              <a:rPr lang="en-US" sz="4400" b="1" dirty="0">
                <a:solidFill>
                  <a:srgbClr val="A8F060"/>
                </a:solidFill>
                <a:latin typeface="Arial" pitchFamily="34" charset="0"/>
                <a:ea typeface="Arial" pitchFamily="34" charset="-122"/>
                <a:cs typeface="Arial" pitchFamily="34" charset="-120"/>
              </a:rPr>
              <a:t>23 %</a:t>
            </a:r>
            <a:endParaRPr lang="en-US" sz="4400" dirty="0"/>
          </a:p>
        </p:txBody>
      </p:sp>
      <p:sp>
        <p:nvSpPr>
          <p:cNvPr id="11" name="Text 8"/>
          <p:cNvSpPr/>
          <p:nvPr/>
        </p:nvSpPr>
        <p:spPr>
          <a:xfrm>
            <a:off x="4684776" y="3200400"/>
            <a:ext cx="2791968" cy="914400"/>
          </a:xfrm>
          <a:prstGeom prst="rect">
            <a:avLst/>
          </a:prstGeom>
          <a:noFill/>
          <a:ln/>
        </p:spPr>
        <p:txBody>
          <a:bodyPr wrap="square" lIns="0" tIns="0" rIns="0" bIns="0" rtlCol="0" anchor="ctr"/>
          <a:lstStyle/>
          <a:p>
            <a:pPr indent="0" marL="0">
              <a:buNone/>
            </a:pPr>
            <a:r>
              <a:rPr lang="en-US" sz="1400" dirty="0">
                <a:solidFill>
                  <a:srgbClr val="9A9AA5"/>
                </a:solidFill>
                <a:latin typeface="Calibri" pitchFamily="34" charset="0"/>
                <a:ea typeface="Calibri" pitchFamily="34" charset="-122"/>
                <a:cs typeface="Calibri" pitchFamily="34" charset="-120"/>
              </a:rPr>
              <a:t>de los socios usa entrenador</a:t>
            </a:r>
            <a:endParaRPr lang="en-US" sz="1400" dirty="0"/>
          </a:p>
          <a:p>
            <a:pPr indent="0" marL="0">
              <a:buNone/>
            </a:pPr>
            <a:r>
              <a:rPr lang="en-US" sz="1400" dirty="0">
                <a:solidFill>
                  <a:srgbClr val="9A9AA5"/>
                </a:solidFill>
                <a:latin typeface="Calibri" pitchFamily="34" charset="0"/>
                <a:ea typeface="Calibri" pitchFamily="34" charset="-122"/>
                <a:cs typeface="Calibri" pitchFamily="34" charset="-120"/>
              </a:rPr>
              <a:t>personal · 40–70 € la sesión</a:t>
            </a:r>
            <a:endParaRPr lang="en-US" sz="1400" dirty="0"/>
          </a:p>
        </p:txBody>
      </p:sp>
      <p:sp>
        <p:nvSpPr>
          <p:cNvPr id="12" name="Shape 9"/>
          <p:cNvSpPr/>
          <p:nvPr/>
        </p:nvSpPr>
        <p:spPr>
          <a:xfrm>
            <a:off x="8135112" y="2011680"/>
            <a:ext cx="3340608" cy="2286000"/>
          </a:xfrm>
          <a:prstGeom prst="roundRect">
            <a:avLst>
              <a:gd name="adj" fmla="val 5600"/>
            </a:avLst>
          </a:prstGeom>
          <a:solidFill>
            <a:srgbClr val="16161B"/>
          </a:solidFill>
          <a:ln w="12700">
            <a:solidFill>
              <a:srgbClr val="33333B"/>
            </a:solidFill>
            <a:prstDash val="solid"/>
          </a:ln>
        </p:spPr>
      </p:sp>
      <p:sp>
        <p:nvSpPr>
          <p:cNvPr id="13" name="Text 10"/>
          <p:cNvSpPr/>
          <p:nvPr/>
        </p:nvSpPr>
        <p:spPr>
          <a:xfrm>
            <a:off x="8409432" y="2286000"/>
            <a:ext cx="2791968" cy="868680"/>
          </a:xfrm>
          <a:prstGeom prst="rect">
            <a:avLst/>
          </a:prstGeom>
          <a:noFill/>
          <a:ln/>
        </p:spPr>
        <p:txBody>
          <a:bodyPr wrap="square" lIns="0" tIns="0" rIns="0" bIns="0" rtlCol="0" anchor="ctr"/>
          <a:lstStyle/>
          <a:p>
            <a:pPr indent="0" marL="0">
              <a:buNone/>
            </a:pPr>
            <a:r>
              <a:rPr lang="en-US" sz="4400" b="1" dirty="0">
                <a:solidFill>
                  <a:srgbClr val="A8F060"/>
                </a:solidFill>
                <a:latin typeface="Arial" pitchFamily="34" charset="0"/>
                <a:ea typeface="Arial" pitchFamily="34" charset="-122"/>
                <a:cs typeface="Arial" pitchFamily="34" charset="-120"/>
              </a:rPr>
              <a:t>1.710 M</a:t>
            </a:r>
            <a:endParaRPr lang="en-US" sz="4400" dirty="0"/>
          </a:p>
        </p:txBody>
      </p:sp>
      <p:sp>
        <p:nvSpPr>
          <p:cNvPr id="14" name="Text 11"/>
          <p:cNvSpPr/>
          <p:nvPr/>
        </p:nvSpPr>
        <p:spPr>
          <a:xfrm>
            <a:off x="8409432" y="3200400"/>
            <a:ext cx="2791968" cy="914400"/>
          </a:xfrm>
          <a:prstGeom prst="rect">
            <a:avLst/>
          </a:prstGeom>
          <a:noFill/>
          <a:ln/>
        </p:spPr>
        <p:txBody>
          <a:bodyPr wrap="square" lIns="0" tIns="0" rIns="0" bIns="0" rtlCol="0" anchor="ctr"/>
          <a:lstStyle/>
          <a:p>
            <a:pPr indent="0" marL="0">
              <a:buNone/>
            </a:pPr>
            <a:r>
              <a:rPr lang="en-US" sz="1400" dirty="0">
                <a:solidFill>
                  <a:srgbClr val="9A9AA5"/>
                </a:solidFill>
                <a:latin typeface="Calibri" pitchFamily="34" charset="0"/>
                <a:ea typeface="Calibri" pitchFamily="34" charset="-122"/>
                <a:cs typeface="Calibri" pitchFamily="34" charset="-120"/>
              </a:rPr>
              <a:t>de personas con afección</a:t>
            </a:r>
            <a:endParaRPr lang="en-US" sz="1400" dirty="0"/>
          </a:p>
          <a:p>
            <a:pPr indent="0" marL="0">
              <a:buNone/>
            </a:pPr>
            <a:r>
              <a:rPr lang="en-US" sz="1400" dirty="0">
                <a:solidFill>
                  <a:srgbClr val="9A9AA5"/>
                </a:solidFill>
                <a:latin typeface="Calibri" pitchFamily="34" charset="0"/>
                <a:ea typeface="Calibri" pitchFamily="34" charset="-122"/>
                <a:cs typeface="Calibri" pitchFamily="34" charset="-120"/>
              </a:rPr>
              <a:t>musculoesquelética (OMS)</a:t>
            </a:r>
            <a:endParaRPr lang="en-US" sz="1400" dirty="0"/>
          </a:p>
        </p:txBody>
      </p:sp>
      <p:sp>
        <p:nvSpPr>
          <p:cNvPr id="15" name="Shape 12"/>
          <p:cNvSpPr/>
          <p:nvPr/>
        </p:nvSpPr>
        <p:spPr>
          <a:xfrm>
            <a:off x="685800" y="4617720"/>
            <a:ext cx="10789920" cy="960120"/>
          </a:xfrm>
          <a:prstGeom prst="roundRect">
            <a:avLst>
              <a:gd name="adj" fmla="val 13333"/>
            </a:avLst>
          </a:prstGeom>
          <a:solidFill>
            <a:srgbClr val="1F1F25"/>
          </a:solidFill>
          <a:ln w="12700">
            <a:solidFill>
              <a:srgbClr val="33333B"/>
            </a:solidFill>
            <a:prstDash val="solid"/>
          </a:ln>
        </p:spPr>
      </p:sp>
      <p:sp>
        <p:nvSpPr>
          <p:cNvPr id="16" name="Text 13"/>
          <p:cNvSpPr/>
          <p:nvPr/>
        </p:nvSpPr>
        <p:spPr>
          <a:xfrm>
            <a:off x="1005840" y="4617720"/>
            <a:ext cx="10149840" cy="960120"/>
          </a:xfrm>
          <a:prstGeom prst="rect">
            <a:avLst/>
          </a:prstGeom>
          <a:noFill/>
          <a:ln/>
        </p:spPr>
        <p:txBody>
          <a:bodyPr wrap="square" lIns="0" tIns="0" rIns="0" bIns="0" rtlCol="0" anchor="ctr"/>
          <a:lstStyle/>
          <a:p>
            <a:pPr indent="0" marL="0">
              <a:buNone/>
            </a:pPr>
            <a:r>
              <a:rPr lang="en-US" sz="1800" dirty="0">
                <a:solidFill>
                  <a:srgbClr val="F5F5F7"/>
                </a:solidFill>
                <a:latin typeface="Calibri" pitchFamily="34" charset="0"/>
                <a:ea typeface="Calibri" pitchFamily="34" charset="-122"/>
                <a:cs typeface="Calibri" pitchFamily="34" charset="-120"/>
              </a:rPr>
              <a:t>Entre el plan genérico gratuito y el entrenador que casi nadie paga, no hay nada.</a:t>
            </a:r>
            <a:endParaRPr lang="en-US" sz="1800" dirty="0"/>
          </a:p>
        </p:txBody>
      </p:sp>
      <p:sp>
        <p:nvSpPr>
          <p:cNvPr id="17" name="Text 14"/>
          <p:cNvSpPr/>
          <p:nvPr/>
        </p:nvSpPr>
        <p:spPr>
          <a:xfrm>
            <a:off x="685800" y="5760720"/>
            <a:ext cx="10607040" cy="365760"/>
          </a:xfrm>
          <a:prstGeom prst="rect">
            <a:avLst/>
          </a:prstGeom>
          <a:noFill/>
          <a:ln/>
        </p:spPr>
        <p:txBody>
          <a:bodyPr wrap="square" lIns="0" tIns="0" rIns="0" bIns="0" rtlCol="0" anchor="ctr"/>
          <a:lstStyle/>
          <a:p>
            <a:pPr indent="0" marL="0">
              <a:buNone/>
            </a:pPr>
            <a:r>
              <a:rPr lang="en-US" sz="1050" dirty="0">
                <a:solidFill>
                  <a:srgbClr val="9A9AA5"/>
                </a:solidFill>
                <a:latin typeface="Calibri" pitchFamily="34" charset="0"/>
                <a:ea typeface="Calibri" pitchFamily="34" charset="-122"/>
                <a:cs typeface="Calibri" pitchFamily="34" charset="-120"/>
              </a:rPr>
              <a:t>Altas y bajas: HFA 2025 y YouGov 2024, vía Gymdesk. Uso de entrenador personal: socios de EE. UU., 2024. Prevalencia musculoesquelética: OMS, datos de 2019.</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PROBLEMA</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Dónde está el hueco</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Cinco competidores, dos extremos bien cubiertos y un espacio vacío en medio</a:t>
            </a:r>
            <a:endParaRPr lang="en-US" sz="1500" dirty="0"/>
          </a:p>
        </p:txBody>
      </p:sp>
      <p:sp>
        <p:nvSpPr>
          <p:cNvPr id="6" name="Shape 3"/>
          <p:cNvSpPr/>
          <p:nvPr/>
        </p:nvSpPr>
        <p:spPr>
          <a:xfrm>
            <a:off x="685800" y="1874520"/>
            <a:ext cx="7223760" cy="566928"/>
          </a:xfrm>
          <a:prstGeom prst="roundRect">
            <a:avLst>
              <a:gd name="adj" fmla="val 22581"/>
            </a:avLst>
          </a:prstGeom>
          <a:solidFill>
            <a:srgbClr val="16161B"/>
          </a:solidFill>
          <a:ln w="12700">
            <a:solidFill>
              <a:srgbClr val="33333B"/>
            </a:solidFill>
            <a:prstDash val="solid"/>
          </a:ln>
        </p:spPr>
      </p:sp>
      <p:sp>
        <p:nvSpPr>
          <p:cNvPr id="7" name="Text 4"/>
          <p:cNvSpPr/>
          <p:nvPr/>
        </p:nvSpPr>
        <p:spPr>
          <a:xfrm>
            <a:off x="914400" y="1874520"/>
            <a:ext cx="1645920" cy="566928"/>
          </a:xfrm>
          <a:prstGeom prst="rect">
            <a:avLst/>
          </a:prstGeom>
          <a:noFill/>
          <a:ln/>
        </p:spPr>
        <p:txBody>
          <a:bodyPr wrap="square" lIns="0" tIns="0" rIns="0" bIns="0" rtlCol="0" anchor="ctr"/>
          <a:lstStyle/>
          <a:p>
            <a:pPr indent="0" marL="0">
              <a:buNone/>
            </a:pPr>
            <a:r>
              <a:rPr lang="en-US" sz="1400" b="1" dirty="0">
                <a:solidFill>
                  <a:srgbClr val="F5F5F7"/>
                </a:solidFill>
                <a:latin typeface="Arial" pitchFamily="34" charset="0"/>
                <a:ea typeface="Arial" pitchFamily="34" charset="-122"/>
                <a:cs typeface="Arial" pitchFamily="34" charset="-120"/>
              </a:rPr>
              <a:t>Fitbod</a:t>
            </a:r>
            <a:endParaRPr lang="en-US" sz="1400" dirty="0"/>
          </a:p>
        </p:txBody>
      </p:sp>
      <p:sp>
        <p:nvSpPr>
          <p:cNvPr id="8" name="Text 5"/>
          <p:cNvSpPr/>
          <p:nvPr/>
        </p:nvSpPr>
        <p:spPr>
          <a:xfrm>
            <a:off x="2514600" y="1874520"/>
            <a:ext cx="1554480" cy="566928"/>
          </a:xfrm>
          <a:prstGeom prst="rect">
            <a:avLst/>
          </a:prstGeom>
          <a:noFill/>
          <a:ln/>
        </p:spPr>
        <p:txBody>
          <a:bodyPr wrap="square" lIns="0" tIns="0" rIns="0" bIns="0" rtlCol="0" anchor="ctr"/>
          <a:lstStyle/>
          <a:p>
            <a:pPr indent="0" marL="0">
              <a:buNone/>
            </a:pPr>
            <a:r>
              <a:rPr lang="en-US" sz="1300" dirty="0">
                <a:solidFill>
                  <a:srgbClr val="A8F060"/>
                </a:solidFill>
                <a:latin typeface="Calibri" pitchFamily="34" charset="0"/>
                <a:ea typeface="Calibri" pitchFamily="34" charset="-122"/>
                <a:cs typeface="Calibri" pitchFamily="34" charset="-120"/>
              </a:rPr>
              <a:t>13–16 $/mes</a:t>
            </a:r>
            <a:endParaRPr lang="en-US" sz="1300" dirty="0"/>
          </a:p>
        </p:txBody>
      </p:sp>
      <p:sp>
        <p:nvSpPr>
          <p:cNvPr id="9" name="Text 6"/>
          <p:cNvSpPr/>
          <p:nvPr/>
        </p:nvSpPr>
        <p:spPr>
          <a:xfrm>
            <a:off x="4114800" y="1874520"/>
            <a:ext cx="3703320" cy="566928"/>
          </a:xfrm>
          <a:prstGeom prst="rect">
            <a:avLst/>
          </a:prstGeom>
          <a:noFill/>
          <a:ln/>
        </p:spPr>
        <p:txBody>
          <a:bodyPr wrap="square" lIns="0" tIns="0" rIns="0" bIns="0" rtlCol="0" anchor="ctr"/>
          <a:lstStyle/>
          <a:p>
            <a:pPr indent="0" marL="0">
              <a:buNone/>
            </a:pPr>
            <a:r>
              <a:rPr lang="en-US" sz="1200" dirty="0">
                <a:solidFill>
                  <a:srgbClr val="9A9AA5"/>
                </a:solidFill>
                <a:latin typeface="Calibri" pitchFamily="34" charset="0"/>
                <a:ea typeface="Calibri" pitchFamily="34" charset="-122"/>
                <a:cs typeface="Calibri" pitchFamily="34" charset="-120"/>
              </a:rPr>
              <a:t>Rotación algorítmica, sustitución por material</a:t>
            </a:r>
            <a:endParaRPr lang="en-US" sz="1200" dirty="0"/>
          </a:p>
        </p:txBody>
      </p:sp>
      <p:sp>
        <p:nvSpPr>
          <p:cNvPr id="10" name="Shape 7"/>
          <p:cNvSpPr/>
          <p:nvPr/>
        </p:nvSpPr>
        <p:spPr>
          <a:xfrm>
            <a:off x="685800" y="2532888"/>
            <a:ext cx="7223760" cy="566928"/>
          </a:xfrm>
          <a:prstGeom prst="roundRect">
            <a:avLst>
              <a:gd name="adj" fmla="val 22581"/>
            </a:avLst>
          </a:prstGeom>
          <a:solidFill>
            <a:srgbClr val="16161B"/>
          </a:solidFill>
          <a:ln w="12700">
            <a:solidFill>
              <a:srgbClr val="33333B"/>
            </a:solidFill>
            <a:prstDash val="solid"/>
          </a:ln>
        </p:spPr>
      </p:sp>
      <p:sp>
        <p:nvSpPr>
          <p:cNvPr id="11" name="Text 8"/>
          <p:cNvSpPr/>
          <p:nvPr/>
        </p:nvSpPr>
        <p:spPr>
          <a:xfrm>
            <a:off x="914400" y="2532888"/>
            <a:ext cx="1645920" cy="566928"/>
          </a:xfrm>
          <a:prstGeom prst="rect">
            <a:avLst/>
          </a:prstGeom>
          <a:noFill/>
          <a:ln/>
        </p:spPr>
        <p:txBody>
          <a:bodyPr wrap="square" lIns="0" tIns="0" rIns="0" bIns="0" rtlCol="0" anchor="ctr"/>
          <a:lstStyle/>
          <a:p>
            <a:pPr indent="0" marL="0">
              <a:buNone/>
            </a:pPr>
            <a:r>
              <a:rPr lang="en-US" sz="1400" b="1" dirty="0">
                <a:solidFill>
                  <a:srgbClr val="F5F5F7"/>
                </a:solidFill>
                <a:latin typeface="Arial" pitchFamily="34" charset="0"/>
                <a:ea typeface="Arial" pitchFamily="34" charset="-122"/>
                <a:cs typeface="Arial" pitchFamily="34" charset="-120"/>
              </a:rPr>
              <a:t>Freeletics</a:t>
            </a:r>
            <a:endParaRPr lang="en-US" sz="1400" dirty="0"/>
          </a:p>
        </p:txBody>
      </p:sp>
      <p:sp>
        <p:nvSpPr>
          <p:cNvPr id="12" name="Text 9"/>
          <p:cNvSpPr/>
          <p:nvPr/>
        </p:nvSpPr>
        <p:spPr>
          <a:xfrm>
            <a:off x="2514600" y="2532888"/>
            <a:ext cx="1554480" cy="566928"/>
          </a:xfrm>
          <a:prstGeom prst="rect">
            <a:avLst/>
          </a:prstGeom>
          <a:noFill/>
          <a:ln/>
        </p:spPr>
        <p:txBody>
          <a:bodyPr wrap="square" lIns="0" tIns="0" rIns="0" bIns="0" rtlCol="0" anchor="ctr"/>
          <a:lstStyle/>
          <a:p>
            <a:pPr indent="0" marL="0">
              <a:buNone/>
            </a:pPr>
            <a:r>
              <a:rPr lang="en-US" sz="1300" dirty="0">
                <a:solidFill>
                  <a:srgbClr val="A8F060"/>
                </a:solidFill>
                <a:latin typeface="Calibri" pitchFamily="34" charset="0"/>
                <a:ea typeface="Calibri" pitchFamily="34" charset="-122"/>
                <a:cs typeface="Calibri" pitchFamily="34" charset="-120"/>
              </a:rPr>
              <a:t>35–80 $/periodo</a:t>
            </a:r>
            <a:endParaRPr lang="en-US" sz="1300" dirty="0"/>
          </a:p>
        </p:txBody>
      </p:sp>
      <p:sp>
        <p:nvSpPr>
          <p:cNvPr id="13" name="Text 10"/>
          <p:cNvSpPr/>
          <p:nvPr/>
        </p:nvSpPr>
        <p:spPr>
          <a:xfrm>
            <a:off x="4114800" y="2532888"/>
            <a:ext cx="3703320" cy="566928"/>
          </a:xfrm>
          <a:prstGeom prst="rect">
            <a:avLst/>
          </a:prstGeom>
          <a:noFill/>
          <a:ln/>
        </p:spPr>
        <p:txBody>
          <a:bodyPr wrap="square" lIns="0" tIns="0" rIns="0" bIns="0" rtlCol="0" anchor="ctr"/>
          <a:lstStyle/>
          <a:p>
            <a:pPr indent="0" marL="0">
              <a:buNone/>
            </a:pPr>
            <a:r>
              <a:rPr lang="en-US" sz="1200" dirty="0">
                <a:solidFill>
                  <a:srgbClr val="9A9AA5"/>
                </a:solidFill>
                <a:latin typeface="Calibri" pitchFamily="34" charset="0"/>
                <a:ea typeface="Calibri" pitchFamily="34" charset="-122"/>
                <a:cs typeface="Calibri" pitchFamily="34" charset="-120"/>
              </a:rPr>
              <a:t>Adapta al esfuerzo declarado, no a recuperación</a:t>
            </a:r>
            <a:endParaRPr lang="en-US" sz="1200" dirty="0"/>
          </a:p>
        </p:txBody>
      </p:sp>
      <p:sp>
        <p:nvSpPr>
          <p:cNvPr id="14" name="Shape 11"/>
          <p:cNvSpPr/>
          <p:nvPr/>
        </p:nvSpPr>
        <p:spPr>
          <a:xfrm>
            <a:off x="685800" y="3191256"/>
            <a:ext cx="7223760" cy="566928"/>
          </a:xfrm>
          <a:prstGeom prst="roundRect">
            <a:avLst>
              <a:gd name="adj" fmla="val 22581"/>
            </a:avLst>
          </a:prstGeom>
          <a:solidFill>
            <a:srgbClr val="16161B"/>
          </a:solidFill>
          <a:ln w="12700">
            <a:solidFill>
              <a:srgbClr val="33333B"/>
            </a:solidFill>
            <a:prstDash val="solid"/>
          </a:ln>
        </p:spPr>
      </p:sp>
      <p:sp>
        <p:nvSpPr>
          <p:cNvPr id="15" name="Text 12"/>
          <p:cNvSpPr/>
          <p:nvPr/>
        </p:nvSpPr>
        <p:spPr>
          <a:xfrm>
            <a:off x="914400" y="3191256"/>
            <a:ext cx="1645920" cy="566928"/>
          </a:xfrm>
          <a:prstGeom prst="rect">
            <a:avLst/>
          </a:prstGeom>
          <a:noFill/>
          <a:ln/>
        </p:spPr>
        <p:txBody>
          <a:bodyPr wrap="square" lIns="0" tIns="0" rIns="0" bIns="0" rtlCol="0" anchor="ctr"/>
          <a:lstStyle/>
          <a:p>
            <a:pPr indent="0" marL="0">
              <a:buNone/>
            </a:pPr>
            <a:r>
              <a:rPr lang="en-US" sz="1400" b="1" dirty="0">
                <a:solidFill>
                  <a:srgbClr val="F5F5F7"/>
                </a:solidFill>
                <a:latin typeface="Arial" pitchFamily="34" charset="0"/>
                <a:ea typeface="Arial" pitchFamily="34" charset="-122"/>
                <a:cs typeface="Arial" pitchFamily="34" charset="-120"/>
              </a:rPr>
              <a:t>SensAI</a:t>
            </a:r>
            <a:endParaRPr lang="en-US" sz="1400" dirty="0"/>
          </a:p>
        </p:txBody>
      </p:sp>
      <p:sp>
        <p:nvSpPr>
          <p:cNvPr id="16" name="Text 13"/>
          <p:cNvSpPr/>
          <p:nvPr/>
        </p:nvSpPr>
        <p:spPr>
          <a:xfrm>
            <a:off x="2514600" y="3191256"/>
            <a:ext cx="1554480" cy="566928"/>
          </a:xfrm>
          <a:prstGeom prst="rect">
            <a:avLst/>
          </a:prstGeom>
          <a:noFill/>
          <a:ln/>
        </p:spPr>
        <p:txBody>
          <a:bodyPr wrap="square" lIns="0" tIns="0" rIns="0" bIns="0" rtlCol="0" anchor="ctr"/>
          <a:lstStyle/>
          <a:p>
            <a:pPr indent="0" marL="0">
              <a:buNone/>
            </a:pPr>
            <a:r>
              <a:rPr lang="en-US" sz="1300" dirty="0">
                <a:solidFill>
                  <a:srgbClr val="A8F060"/>
                </a:solidFill>
                <a:latin typeface="Calibri" pitchFamily="34" charset="0"/>
                <a:ea typeface="Calibri" pitchFamily="34" charset="-122"/>
                <a:cs typeface="Calibri" pitchFamily="34" charset="-120"/>
              </a:rPr>
              <a:t>7 $/mes</a:t>
            </a:r>
            <a:endParaRPr lang="en-US" sz="1300" dirty="0"/>
          </a:p>
        </p:txBody>
      </p:sp>
      <p:sp>
        <p:nvSpPr>
          <p:cNvPr id="17" name="Text 14"/>
          <p:cNvSpPr/>
          <p:nvPr/>
        </p:nvSpPr>
        <p:spPr>
          <a:xfrm>
            <a:off x="4114800" y="3191256"/>
            <a:ext cx="3703320" cy="566928"/>
          </a:xfrm>
          <a:prstGeom prst="rect">
            <a:avLst/>
          </a:prstGeom>
          <a:noFill/>
          <a:ln/>
        </p:spPr>
        <p:txBody>
          <a:bodyPr wrap="square" lIns="0" tIns="0" rIns="0" bIns="0" rtlCol="0" anchor="ctr"/>
          <a:lstStyle/>
          <a:p>
            <a:pPr indent="0" marL="0">
              <a:buNone/>
            </a:pPr>
            <a:r>
              <a:rPr lang="en-US" sz="1200" dirty="0">
                <a:solidFill>
                  <a:srgbClr val="9A9AA5"/>
                </a:solidFill>
                <a:latin typeface="Calibri" pitchFamily="34" charset="0"/>
                <a:ea typeface="Calibri" pitchFamily="34" charset="-122"/>
                <a:cs typeface="Calibri" pitchFamily="34" charset="-120"/>
              </a:rPr>
              <a:t>Modelo de lenguaje; métricas autodeclaradas</a:t>
            </a:r>
            <a:endParaRPr lang="en-US" sz="1200" dirty="0"/>
          </a:p>
        </p:txBody>
      </p:sp>
      <p:sp>
        <p:nvSpPr>
          <p:cNvPr id="18" name="Shape 15"/>
          <p:cNvSpPr/>
          <p:nvPr/>
        </p:nvSpPr>
        <p:spPr>
          <a:xfrm>
            <a:off x="685800" y="3849624"/>
            <a:ext cx="7223760" cy="566928"/>
          </a:xfrm>
          <a:prstGeom prst="roundRect">
            <a:avLst>
              <a:gd name="adj" fmla="val 22581"/>
            </a:avLst>
          </a:prstGeom>
          <a:solidFill>
            <a:srgbClr val="16161B"/>
          </a:solidFill>
          <a:ln w="12700">
            <a:solidFill>
              <a:srgbClr val="33333B"/>
            </a:solidFill>
            <a:prstDash val="solid"/>
          </a:ln>
        </p:spPr>
      </p:sp>
      <p:sp>
        <p:nvSpPr>
          <p:cNvPr id="19" name="Text 16"/>
          <p:cNvSpPr/>
          <p:nvPr/>
        </p:nvSpPr>
        <p:spPr>
          <a:xfrm>
            <a:off x="914400" y="3849624"/>
            <a:ext cx="1645920" cy="566928"/>
          </a:xfrm>
          <a:prstGeom prst="rect">
            <a:avLst/>
          </a:prstGeom>
          <a:noFill/>
          <a:ln/>
        </p:spPr>
        <p:txBody>
          <a:bodyPr wrap="square" lIns="0" tIns="0" rIns="0" bIns="0" rtlCol="0" anchor="ctr"/>
          <a:lstStyle/>
          <a:p>
            <a:pPr indent="0" marL="0">
              <a:buNone/>
            </a:pPr>
            <a:r>
              <a:rPr lang="en-US" sz="1400" b="1" dirty="0">
                <a:solidFill>
                  <a:srgbClr val="F5F5F7"/>
                </a:solidFill>
                <a:latin typeface="Arial" pitchFamily="34" charset="0"/>
                <a:ea typeface="Arial" pitchFamily="34" charset="-122"/>
                <a:cs typeface="Arial" pitchFamily="34" charset="-120"/>
              </a:rPr>
              <a:t>Trainiac</a:t>
            </a:r>
            <a:endParaRPr lang="en-US" sz="1400" dirty="0"/>
          </a:p>
        </p:txBody>
      </p:sp>
      <p:sp>
        <p:nvSpPr>
          <p:cNvPr id="20" name="Text 17"/>
          <p:cNvSpPr/>
          <p:nvPr/>
        </p:nvSpPr>
        <p:spPr>
          <a:xfrm>
            <a:off x="2514600" y="3849624"/>
            <a:ext cx="1554480" cy="566928"/>
          </a:xfrm>
          <a:prstGeom prst="rect">
            <a:avLst/>
          </a:prstGeom>
          <a:noFill/>
          <a:ln/>
        </p:spPr>
        <p:txBody>
          <a:bodyPr wrap="square" lIns="0" tIns="0" rIns="0" bIns="0" rtlCol="0" anchor="ctr"/>
          <a:lstStyle/>
          <a:p>
            <a:pPr indent="0" marL="0">
              <a:buNone/>
            </a:pPr>
            <a:r>
              <a:rPr lang="en-US" sz="1300" dirty="0">
                <a:solidFill>
                  <a:srgbClr val="A8F060"/>
                </a:solidFill>
                <a:latin typeface="Calibri" pitchFamily="34" charset="0"/>
                <a:ea typeface="Calibri" pitchFamily="34" charset="-122"/>
                <a:cs typeface="Calibri" pitchFamily="34" charset="-120"/>
              </a:rPr>
              <a:t>Vía Wellhub</a:t>
            </a:r>
            <a:endParaRPr lang="en-US" sz="1300" dirty="0"/>
          </a:p>
        </p:txBody>
      </p:sp>
      <p:sp>
        <p:nvSpPr>
          <p:cNvPr id="21" name="Text 18"/>
          <p:cNvSpPr/>
          <p:nvPr/>
        </p:nvSpPr>
        <p:spPr>
          <a:xfrm>
            <a:off x="4114800" y="3849624"/>
            <a:ext cx="3703320" cy="566928"/>
          </a:xfrm>
          <a:prstGeom prst="rect">
            <a:avLst/>
          </a:prstGeom>
          <a:noFill/>
          <a:ln/>
        </p:spPr>
        <p:txBody>
          <a:bodyPr wrap="square" lIns="0" tIns="0" rIns="0" bIns="0" rtlCol="0" anchor="ctr"/>
          <a:lstStyle/>
          <a:p>
            <a:pPr indent="0" marL="0">
              <a:buNone/>
            </a:pPr>
            <a:r>
              <a:rPr lang="en-US" sz="1200" dirty="0">
                <a:solidFill>
                  <a:srgbClr val="9A9AA5"/>
                </a:solidFill>
                <a:latin typeface="Calibri" pitchFamily="34" charset="0"/>
                <a:ea typeface="Calibri" pitchFamily="34" charset="-122"/>
                <a:cs typeface="Calibri" pitchFamily="34" charset="-120"/>
              </a:rPr>
              <a:t>Entrenador humano asíncrono</a:t>
            </a:r>
            <a:endParaRPr lang="en-US" sz="1200" dirty="0"/>
          </a:p>
        </p:txBody>
      </p:sp>
      <p:sp>
        <p:nvSpPr>
          <p:cNvPr id="22" name="Shape 19"/>
          <p:cNvSpPr/>
          <p:nvPr/>
        </p:nvSpPr>
        <p:spPr>
          <a:xfrm>
            <a:off x="685800" y="4507992"/>
            <a:ext cx="7223760" cy="566928"/>
          </a:xfrm>
          <a:prstGeom prst="roundRect">
            <a:avLst>
              <a:gd name="adj" fmla="val 22581"/>
            </a:avLst>
          </a:prstGeom>
          <a:solidFill>
            <a:srgbClr val="16161B"/>
          </a:solidFill>
          <a:ln w="12700">
            <a:solidFill>
              <a:srgbClr val="33333B"/>
            </a:solidFill>
            <a:prstDash val="solid"/>
          </a:ln>
        </p:spPr>
      </p:sp>
      <p:sp>
        <p:nvSpPr>
          <p:cNvPr id="23" name="Text 20"/>
          <p:cNvSpPr/>
          <p:nvPr/>
        </p:nvSpPr>
        <p:spPr>
          <a:xfrm>
            <a:off x="914400" y="4507992"/>
            <a:ext cx="1645920" cy="566928"/>
          </a:xfrm>
          <a:prstGeom prst="rect">
            <a:avLst/>
          </a:prstGeom>
          <a:noFill/>
          <a:ln/>
        </p:spPr>
        <p:txBody>
          <a:bodyPr wrap="square" lIns="0" tIns="0" rIns="0" bIns="0" rtlCol="0" anchor="ctr"/>
          <a:lstStyle/>
          <a:p>
            <a:pPr indent="0" marL="0">
              <a:buNone/>
            </a:pPr>
            <a:r>
              <a:rPr lang="en-US" sz="1400" b="1" dirty="0">
                <a:solidFill>
                  <a:srgbClr val="F5F5F7"/>
                </a:solidFill>
                <a:latin typeface="Arial" pitchFamily="34" charset="0"/>
                <a:ea typeface="Arial" pitchFamily="34" charset="-122"/>
                <a:cs typeface="Arial" pitchFamily="34" charset="-120"/>
              </a:rPr>
              <a:t>Future</a:t>
            </a:r>
            <a:endParaRPr lang="en-US" sz="1400" dirty="0"/>
          </a:p>
        </p:txBody>
      </p:sp>
      <p:sp>
        <p:nvSpPr>
          <p:cNvPr id="24" name="Text 21"/>
          <p:cNvSpPr/>
          <p:nvPr/>
        </p:nvSpPr>
        <p:spPr>
          <a:xfrm>
            <a:off x="2514600" y="4507992"/>
            <a:ext cx="1554480" cy="566928"/>
          </a:xfrm>
          <a:prstGeom prst="rect">
            <a:avLst/>
          </a:prstGeom>
          <a:noFill/>
          <a:ln/>
        </p:spPr>
        <p:txBody>
          <a:bodyPr wrap="square" lIns="0" tIns="0" rIns="0" bIns="0" rtlCol="0" anchor="ctr"/>
          <a:lstStyle/>
          <a:p>
            <a:pPr indent="0" marL="0">
              <a:buNone/>
            </a:pPr>
            <a:r>
              <a:rPr lang="en-US" sz="1300" dirty="0">
                <a:solidFill>
                  <a:srgbClr val="A8F060"/>
                </a:solidFill>
                <a:latin typeface="Calibri" pitchFamily="34" charset="0"/>
                <a:ea typeface="Calibri" pitchFamily="34" charset="-122"/>
                <a:cs typeface="Calibri" pitchFamily="34" charset="-120"/>
              </a:rPr>
              <a:t>199 $/mes</a:t>
            </a:r>
            <a:endParaRPr lang="en-US" sz="1300" dirty="0"/>
          </a:p>
        </p:txBody>
      </p:sp>
      <p:sp>
        <p:nvSpPr>
          <p:cNvPr id="25" name="Text 22"/>
          <p:cNvSpPr/>
          <p:nvPr/>
        </p:nvSpPr>
        <p:spPr>
          <a:xfrm>
            <a:off x="4114800" y="4507992"/>
            <a:ext cx="3703320" cy="566928"/>
          </a:xfrm>
          <a:prstGeom prst="rect">
            <a:avLst/>
          </a:prstGeom>
          <a:noFill/>
          <a:ln/>
        </p:spPr>
        <p:txBody>
          <a:bodyPr wrap="square" lIns="0" tIns="0" rIns="0" bIns="0" rtlCol="0" anchor="ctr"/>
          <a:lstStyle/>
          <a:p>
            <a:pPr indent="0" marL="0">
              <a:buNone/>
            </a:pPr>
            <a:r>
              <a:rPr lang="en-US" sz="1200" dirty="0">
                <a:solidFill>
                  <a:srgbClr val="9A9AA5"/>
                </a:solidFill>
                <a:latin typeface="Calibri" pitchFamily="34" charset="0"/>
                <a:ea typeface="Calibri" pitchFamily="34" charset="-122"/>
                <a:cs typeface="Calibri" pitchFamily="34" charset="-120"/>
              </a:rPr>
              <a:t>Entrenador humano que edita el plan</a:t>
            </a:r>
            <a:endParaRPr lang="en-US" sz="1200" dirty="0"/>
          </a:p>
        </p:txBody>
      </p:sp>
      <p:sp>
        <p:nvSpPr>
          <p:cNvPr id="26" name="Shape 23"/>
          <p:cNvSpPr/>
          <p:nvPr/>
        </p:nvSpPr>
        <p:spPr>
          <a:xfrm>
            <a:off x="8275320" y="1874520"/>
            <a:ext cx="3200400" cy="3200400"/>
          </a:xfrm>
          <a:prstGeom prst="roundRect">
            <a:avLst>
              <a:gd name="adj" fmla="val 4000"/>
            </a:avLst>
          </a:prstGeom>
          <a:solidFill>
            <a:srgbClr val="1F1F25"/>
          </a:solidFill>
          <a:ln w="12700">
            <a:solidFill>
              <a:srgbClr val="33333B"/>
            </a:solidFill>
            <a:prstDash val="solid"/>
          </a:ln>
        </p:spPr>
      </p:sp>
      <p:sp>
        <p:nvSpPr>
          <p:cNvPr id="27" name="Text 24"/>
          <p:cNvSpPr/>
          <p:nvPr/>
        </p:nvSpPr>
        <p:spPr>
          <a:xfrm>
            <a:off x="8549640" y="2103120"/>
            <a:ext cx="2651760" cy="1371600"/>
          </a:xfrm>
          <a:prstGeom prst="rect">
            <a:avLst/>
          </a:prstGeom>
          <a:noFill/>
          <a:ln/>
        </p:spPr>
        <p:txBody>
          <a:bodyPr wrap="square" lIns="0" tIns="0" rIns="0" bIns="0" rtlCol="0" anchor="ctr"/>
          <a:lstStyle/>
          <a:p>
            <a:pPr indent="0" marL="0">
              <a:buNone/>
            </a:pPr>
            <a:r>
              <a:rPr lang="en-US" sz="1500" dirty="0">
                <a:solidFill>
                  <a:srgbClr val="F5F5F7"/>
                </a:solidFill>
                <a:latin typeface="Calibri" pitchFamily="34" charset="0"/>
                <a:ea typeface="Calibri" pitchFamily="34" charset="-122"/>
                <a:cs typeface="Calibri" pitchFamily="34" charset="-120"/>
              </a:rPr>
              <a:t>Ninguno documenta la limitación física declarada como capacidad de primer orden.</a:t>
            </a:r>
            <a:endParaRPr lang="en-US" sz="1500" dirty="0"/>
          </a:p>
        </p:txBody>
      </p:sp>
      <p:sp>
        <p:nvSpPr>
          <p:cNvPr id="28" name="Text 25"/>
          <p:cNvSpPr/>
          <p:nvPr/>
        </p:nvSpPr>
        <p:spPr>
          <a:xfrm>
            <a:off x="8549640" y="3794760"/>
            <a:ext cx="2651760" cy="1097280"/>
          </a:xfrm>
          <a:prstGeom prst="rect">
            <a:avLst/>
          </a:prstGeom>
          <a:noFill/>
          <a:ln/>
        </p:spPr>
        <p:txBody>
          <a:bodyPr wrap="square" lIns="0" tIns="0" rIns="0" bIns="0" rtlCol="0" anchor="ctr"/>
          <a:lstStyle/>
          <a:p>
            <a:pPr indent="0" marL="0">
              <a:buNone/>
            </a:pPr>
            <a:r>
              <a:rPr lang="en-US" sz="1900" b="1" dirty="0">
                <a:solidFill>
                  <a:srgbClr val="A8F060"/>
                </a:solidFill>
                <a:latin typeface="Arial" pitchFamily="34" charset="0"/>
                <a:ea typeface="Arial" pitchFamily="34" charset="-122"/>
                <a:cs typeface="Arial" pitchFamily="34" charset="-120"/>
              </a:rPr>
              <a:t>kInorA la trata como entrada de primera clase.</a:t>
            </a:r>
            <a:endParaRPr lang="en-US" sz="1900" dirty="0"/>
          </a:p>
        </p:txBody>
      </p:sp>
      <p:sp>
        <p:nvSpPr>
          <p:cNvPr id="29" name="Text 26"/>
          <p:cNvSpPr/>
          <p:nvPr/>
        </p:nvSpPr>
        <p:spPr>
          <a:xfrm>
            <a:off x="685800" y="5440680"/>
            <a:ext cx="10607040" cy="548640"/>
          </a:xfrm>
          <a:prstGeom prst="rect">
            <a:avLst/>
          </a:prstGeom>
          <a:noFill/>
          <a:ln/>
        </p:spPr>
        <p:txBody>
          <a:bodyPr wrap="square" lIns="0" tIns="0" rIns="0" bIns="0" rtlCol="0" anchor="ctr"/>
          <a:lstStyle/>
          <a:p>
            <a:pPr indent="0" marL="0">
              <a:buNone/>
            </a:pPr>
            <a:r>
              <a:rPr lang="en-US" sz="1050" dirty="0">
                <a:solidFill>
                  <a:srgbClr val="9A9AA5"/>
                </a:solidFill>
                <a:latin typeface="Calibri" pitchFamily="34" charset="0"/>
                <a:ea typeface="Calibri" pitchFamily="34" charset="-122"/>
                <a:cs typeface="Calibri" pitchFamily="34" charset="-120"/>
              </a:rPr>
              <a:t>Precios y capacidades recogidos de la comparativa publicada por SensAI en 2026, una de las aplicaciones comparadas: se han tomado sus datos, no sus juicios. Revisión de documentación pública, sin auditar el comportamiento real de los productos.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PRODUCTO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Planes para el cuerpo real</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Cuatro capacidades que definen el producto</a:t>
            </a:r>
            <a:endParaRPr lang="en-US" sz="1500" dirty="0"/>
          </a:p>
        </p:txBody>
      </p:sp>
      <p:sp>
        <p:nvSpPr>
          <p:cNvPr id="6" name="Shape 3"/>
          <p:cNvSpPr/>
          <p:nvPr/>
        </p:nvSpPr>
        <p:spPr>
          <a:xfrm>
            <a:off x="685800" y="1965960"/>
            <a:ext cx="5166360" cy="1737360"/>
          </a:xfrm>
          <a:prstGeom prst="roundRect">
            <a:avLst>
              <a:gd name="adj" fmla="val 7368"/>
            </a:avLst>
          </a:prstGeom>
          <a:solidFill>
            <a:srgbClr val="16161B"/>
          </a:solidFill>
          <a:ln w="12700">
            <a:solidFill>
              <a:srgbClr val="33333B"/>
            </a:solidFill>
            <a:prstDash val="solid"/>
          </a:ln>
        </p:spPr>
      </p:sp>
      <p:sp>
        <p:nvSpPr>
          <p:cNvPr id="7" name="Shape 4"/>
          <p:cNvSpPr/>
          <p:nvPr/>
        </p:nvSpPr>
        <p:spPr>
          <a:xfrm>
            <a:off x="1005840" y="2286000"/>
            <a:ext cx="548640" cy="548640"/>
          </a:xfrm>
          <a:prstGeom prst="ellipse">
            <a:avLst/>
          </a:prstGeom>
          <a:solidFill>
            <a:srgbClr val="A8F060"/>
          </a:solidFill>
          <a:ln w="12700">
            <a:solidFill>
              <a:srgbClr val="A8F060"/>
            </a:solidFill>
            <a:prstDash val="solid"/>
          </a:ln>
        </p:spPr>
      </p:sp>
      <p:sp>
        <p:nvSpPr>
          <p:cNvPr id="8" name="Text 5"/>
          <p:cNvSpPr/>
          <p:nvPr/>
        </p:nvSpPr>
        <p:spPr>
          <a:xfrm>
            <a:off x="1005840" y="2286000"/>
            <a:ext cx="548640" cy="548640"/>
          </a:xfrm>
          <a:prstGeom prst="rect">
            <a:avLst/>
          </a:prstGeom>
          <a:noFill/>
          <a:ln/>
        </p:spPr>
        <p:txBody>
          <a:bodyPr wrap="square" lIns="0" tIns="0" rIns="0" bIns="0" rtlCol="0" anchor="ctr"/>
          <a:lstStyle/>
          <a:p>
            <a:pPr algn="ctr" indent="0" marL="0">
              <a:buNone/>
            </a:pPr>
            <a:r>
              <a:rPr lang="en-US" sz="1600" b="1" dirty="0">
                <a:solidFill>
                  <a:srgbClr val="09090C"/>
                </a:solidFill>
                <a:latin typeface="Arial" pitchFamily="34" charset="0"/>
                <a:ea typeface="Arial" pitchFamily="34" charset="-122"/>
                <a:cs typeface="Arial" pitchFamily="34" charset="-120"/>
              </a:rPr>
              <a:t>1</a:t>
            </a:r>
            <a:endParaRPr lang="en-US" sz="1600" dirty="0"/>
          </a:p>
        </p:txBody>
      </p:sp>
      <p:sp>
        <p:nvSpPr>
          <p:cNvPr id="9" name="Text 6"/>
          <p:cNvSpPr/>
          <p:nvPr/>
        </p:nvSpPr>
        <p:spPr>
          <a:xfrm>
            <a:off x="1709928" y="2258568"/>
            <a:ext cx="3840480" cy="411480"/>
          </a:xfrm>
          <a:prstGeom prst="rect">
            <a:avLst/>
          </a:prstGeom>
          <a:noFill/>
          <a:ln/>
        </p:spPr>
        <p:txBody>
          <a:bodyPr wrap="square" lIns="0" tIns="0" rIns="0" bIns="0" rtlCol="0" anchor="ctr"/>
          <a:lstStyle/>
          <a:p>
            <a:pPr indent="0" marL="0">
              <a:buNone/>
            </a:pPr>
            <a:r>
              <a:rPr lang="en-US" sz="1700" b="1" dirty="0">
                <a:solidFill>
                  <a:srgbClr val="F5F5F7"/>
                </a:solidFill>
                <a:latin typeface="Arial" pitchFamily="34" charset="0"/>
                <a:ea typeface="Arial" pitchFamily="34" charset="-122"/>
                <a:cs typeface="Arial" pitchFamily="34" charset="-120"/>
              </a:rPr>
              <a:t>Adaptación a lesiones</a:t>
            </a:r>
            <a:endParaRPr lang="en-US" sz="1700" dirty="0"/>
          </a:p>
        </p:txBody>
      </p:sp>
      <p:sp>
        <p:nvSpPr>
          <p:cNvPr id="10" name="Text 7"/>
          <p:cNvSpPr/>
          <p:nvPr/>
        </p:nvSpPr>
        <p:spPr>
          <a:xfrm>
            <a:off x="1709928" y="2715768"/>
            <a:ext cx="3840480" cy="868680"/>
          </a:xfrm>
          <a:prstGeom prst="rect">
            <a:avLst/>
          </a:prstGeom>
          <a:noFill/>
          <a:ln/>
        </p:spPr>
        <p:txBody>
          <a:bodyPr wrap="square" lIns="0" tIns="0" rIns="0" bIns="0" rtlCol="0" anchor="t"/>
          <a:lstStyle/>
          <a:p>
            <a:pPr indent="0" marL="0">
              <a:buNone/>
            </a:pPr>
            <a:r>
              <a:rPr lang="en-US" sz="1300" dirty="0">
                <a:solidFill>
                  <a:srgbClr val="9A9AA5"/>
                </a:solidFill>
                <a:latin typeface="Calibri" pitchFamily="34" charset="0"/>
                <a:ea typeface="Calibri" pitchFamily="34" charset="-122"/>
                <a:cs typeface="Calibri" pitchFamily="34" charset="-120"/>
              </a:rPr>
              <a:t>Filtra, sustituye y avisa respetando la zona comprometida. Sugerencia, nunca diagnóstico.</a:t>
            </a:r>
            <a:endParaRPr lang="en-US" sz="1300" dirty="0"/>
          </a:p>
        </p:txBody>
      </p:sp>
      <p:sp>
        <p:nvSpPr>
          <p:cNvPr id="11" name="Shape 8"/>
          <p:cNvSpPr/>
          <p:nvPr/>
        </p:nvSpPr>
        <p:spPr>
          <a:xfrm>
            <a:off x="6309360" y="1965960"/>
            <a:ext cx="5166360" cy="1737360"/>
          </a:xfrm>
          <a:prstGeom prst="roundRect">
            <a:avLst>
              <a:gd name="adj" fmla="val 7368"/>
            </a:avLst>
          </a:prstGeom>
          <a:solidFill>
            <a:srgbClr val="16161B"/>
          </a:solidFill>
          <a:ln w="12700">
            <a:solidFill>
              <a:srgbClr val="33333B"/>
            </a:solidFill>
            <a:prstDash val="solid"/>
          </a:ln>
        </p:spPr>
      </p:sp>
      <p:sp>
        <p:nvSpPr>
          <p:cNvPr id="12" name="Shape 9"/>
          <p:cNvSpPr/>
          <p:nvPr/>
        </p:nvSpPr>
        <p:spPr>
          <a:xfrm>
            <a:off x="6629400" y="2286000"/>
            <a:ext cx="548640" cy="548640"/>
          </a:xfrm>
          <a:prstGeom prst="ellipse">
            <a:avLst/>
          </a:prstGeom>
          <a:solidFill>
            <a:srgbClr val="A8F060"/>
          </a:solidFill>
          <a:ln w="12700">
            <a:solidFill>
              <a:srgbClr val="A8F060"/>
            </a:solidFill>
            <a:prstDash val="solid"/>
          </a:ln>
        </p:spPr>
      </p:sp>
      <p:sp>
        <p:nvSpPr>
          <p:cNvPr id="13" name="Text 10"/>
          <p:cNvSpPr/>
          <p:nvPr/>
        </p:nvSpPr>
        <p:spPr>
          <a:xfrm>
            <a:off x="6629400" y="2286000"/>
            <a:ext cx="548640" cy="548640"/>
          </a:xfrm>
          <a:prstGeom prst="rect">
            <a:avLst/>
          </a:prstGeom>
          <a:noFill/>
          <a:ln/>
        </p:spPr>
        <p:txBody>
          <a:bodyPr wrap="square" lIns="0" tIns="0" rIns="0" bIns="0" rtlCol="0" anchor="ctr"/>
          <a:lstStyle/>
          <a:p>
            <a:pPr algn="ctr" indent="0" marL="0">
              <a:buNone/>
            </a:pPr>
            <a:r>
              <a:rPr lang="en-US" sz="1600" b="1" dirty="0">
                <a:solidFill>
                  <a:srgbClr val="09090C"/>
                </a:solidFill>
                <a:latin typeface="Arial" pitchFamily="34" charset="0"/>
                <a:ea typeface="Arial" pitchFamily="34" charset="-122"/>
                <a:cs typeface="Arial" pitchFamily="34" charset="-120"/>
              </a:rPr>
              <a:t>2</a:t>
            </a:r>
            <a:endParaRPr lang="en-US" sz="1600" dirty="0"/>
          </a:p>
        </p:txBody>
      </p:sp>
      <p:sp>
        <p:nvSpPr>
          <p:cNvPr id="14" name="Text 11"/>
          <p:cNvSpPr/>
          <p:nvPr/>
        </p:nvSpPr>
        <p:spPr>
          <a:xfrm>
            <a:off x="7333488" y="2258568"/>
            <a:ext cx="3840480" cy="411480"/>
          </a:xfrm>
          <a:prstGeom prst="rect">
            <a:avLst/>
          </a:prstGeom>
          <a:noFill/>
          <a:ln/>
        </p:spPr>
        <p:txBody>
          <a:bodyPr wrap="square" lIns="0" tIns="0" rIns="0" bIns="0" rtlCol="0" anchor="ctr"/>
          <a:lstStyle/>
          <a:p>
            <a:pPr indent="0" marL="0">
              <a:buNone/>
            </a:pPr>
            <a:r>
              <a:rPr lang="en-US" sz="1700" b="1" dirty="0">
                <a:solidFill>
                  <a:srgbClr val="F5F5F7"/>
                </a:solidFill>
                <a:latin typeface="Arial" pitchFamily="34" charset="0"/>
                <a:ea typeface="Arial" pitchFamily="34" charset="-122"/>
                <a:cs typeface="Arial" pitchFamily="34" charset="-120"/>
              </a:rPr>
              <a:t>Tarjetas o voz</a:t>
            </a:r>
            <a:endParaRPr lang="en-US" sz="1700" dirty="0"/>
          </a:p>
        </p:txBody>
      </p:sp>
      <p:sp>
        <p:nvSpPr>
          <p:cNvPr id="15" name="Text 12"/>
          <p:cNvSpPr/>
          <p:nvPr/>
        </p:nvSpPr>
        <p:spPr>
          <a:xfrm>
            <a:off x="7333488" y="2715768"/>
            <a:ext cx="3840480" cy="868680"/>
          </a:xfrm>
          <a:prstGeom prst="rect">
            <a:avLst/>
          </a:prstGeom>
          <a:noFill/>
          <a:ln/>
        </p:spPr>
        <p:txBody>
          <a:bodyPr wrap="square" lIns="0" tIns="0" rIns="0" bIns="0" rtlCol="0" anchor="t"/>
          <a:lstStyle/>
          <a:p>
            <a:pPr indent="0" marL="0">
              <a:buNone/>
            </a:pPr>
            <a:r>
              <a:rPr lang="en-US" sz="1300" dirty="0">
                <a:solidFill>
                  <a:srgbClr val="9A9AA5"/>
                </a:solidFill>
                <a:latin typeface="Calibri" pitchFamily="34" charset="0"/>
                <a:ea typeface="Calibri" pitchFamily="34" charset="-122"/>
                <a:cs typeface="Calibri" pitchFamily="34" charset="-120"/>
              </a:rPr>
              <a:t>Dos modos que escriben la misma estructura. Se alterna sin perder lo avanzado.</a:t>
            </a:r>
            <a:endParaRPr lang="en-US" sz="1300" dirty="0"/>
          </a:p>
        </p:txBody>
      </p:sp>
      <p:sp>
        <p:nvSpPr>
          <p:cNvPr id="16" name="Shape 13"/>
          <p:cNvSpPr/>
          <p:nvPr/>
        </p:nvSpPr>
        <p:spPr>
          <a:xfrm>
            <a:off x="685800" y="4023360"/>
            <a:ext cx="5166360" cy="1737360"/>
          </a:xfrm>
          <a:prstGeom prst="roundRect">
            <a:avLst>
              <a:gd name="adj" fmla="val 7368"/>
            </a:avLst>
          </a:prstGeom>
          <a:solidFill>
            <a:srgbClr val="16161B"/>
          </a:solidFill>
          <a:ln w="12700">
            <a:solidFill>
              <a:srgbClr val="33333B"/>
            </a:solidFill>
            <a:prstDash val="solid"/>
          </a:ln>
        </p:spPr>
      </p:sp>
      <p:sp>
        <p:nvSpPr>
          <p:cNvPr id="17" name="Shape 14"/>
          <p:cNvSpPr/>
          <p:nvPr/>
        </p:nvSpPr>
        <p:spPr>
          <a:xfrm>
            <a:off x="1005840" y="4343400"/>
            <a:ext cx="548640" cy="548640"/>
          </a:xfrm>
          <a:prstGeom prst="ellipse">
            <a:avLst/>
          </a:prstGeom>
          <a:solidFill>
            <a:srgbClr val="A8F060"/>
          </a:solidFill>
          <a:ln w="12700">
            <a:solidFill>
              <a:srgbClr val="A8F060"/>
            </a:solidFill>
            <a:prstDash val="solid"/>
          </a:ln>
        </p:spPr>
      </p:sp>
      <p:sp>
        <p:nvSpPr>
          <p:cNvPr id="18" name="Text 15"/>
          <p:cNvSpPr/>
          <p:nvPr/>
        </p:nvSpPr>
        <p:spPr>
          <a:xfrm>
            <a:off x="1005840" y="4343400"/>
            <a:ext cx="548640" cy="548640"/>
          </a:xfrm>
          <a:prstGeom prst="rect">
            <a:avLst/>
          </a:prstGeom>
          <a:noFill/>
          <a:ln/>
        </p:spPr>
        <p:txBody>
          <a:bodyPr wrap="square" lIns="0" tIns="0" rIns="0" bIns="0" rtlCol="0" anchor="ctr"/>
          <a:lstStyle/>
          <a:p>
            <a:pPr algn="ctr" indent="0" marL="0">
              <a:buNone/>
            </a:pPr>
            <a:r>
              <a:rPr lang="en-US" sz="1600" b="1" dirty="0">
                <a:solidFill>
                  <a:srgbClr val="09090C"/>
                </a:solidFill>
                <a:latin typeface="Arial" pitchFamily="34" charset="0"/>
                <a:ea typeface="Arial" pitchFamily="34" charset="-122"/>
                <a:cs typeface="Arial" pitchFamily="34" charset="-120"/>
              </a:rPr>
              <a:t>3</a:t>
            </a:r>
            <a:endParaRPr lang="en-US" sz="1600" dirty="0"/>
          </a:p>
        </p:txBody>
      </p:sp>
      <p:sp>
        <p:nvSpPr>
          <p:cNvPr id="19" name="Text 16"/>
          <p:cNvSpPr/>
          <p:nvPr/>
        </p:nvSpPr>
        <p:spPr>
          <a:xfrm>
            <a:off x="1709928" y="4315968"/>
            <a:ext cx="3840480" cy="411480"/>
          </a:xfrm>
          <a:prstGeom prst="rect">
            <a:avLst/>
          </a:prstGeom>
          <a:noFill/>
          <a:ln/>
        </p:spPr>
        <p:txBody>
          <a:bodyPr wrap="square" lIns="0" tIns="0" rIns="0" bIns="0" rtlCol="0" anchor="ctr"/>
          <a:lstStyle/>
          <a:p>
            <a:pPr indent="0" marL="0">
              <a:buNone/>
            </a:pPr>
            <a:r>
              <a:rPr lang="en-US" sz="1700" b="1" dirty="0">
                <a:solidFill>
                  <a:srgbClr val="F5F5F7"/>
                </a:solidFill>
                <a:latin typeface="Arial" pitchFamily="34" charset="0"/>
                <a:ea typeface="Arial" pitchFamily="34" charset="-122"/>
                <a:cs typeface="Arial" pitchFamily="34" charset="-120"/>
              </a:rPr>
              <a:t>Memoria persistente</a:t>
            </a:r>
            <a:endParaRPr lang="en-US" sz="1700" dirty="0"/>
          </a:p>
        </p:txBody>
      </p:sp>
      <p:sp>
        <p:nvSpPr>
          <p:cNvPr id="20" name="Text 17"/>
          <p:cNvSpPr/>
          <p:nvPr/>
        </p:nvSpPr>
        <p:spPr>
          <a:xfrm>
            <a:off x="1709928" y="4773168"/>
            <a:ext cx="3840480" cy="868680"/>
          </a:xfrm>
          <a:prstGeom prst="rect">
            <a:avLst/>
          </a:prstGeom>
          <a:noFill/>
          <a:ln/>
        </p:spPr>
        <p:txBody>
          <a:bodyPr wrap="square" lIns="0" tIns="0" rIns="0" bIns="0" rtlCol="0" anchor="t"/>
          <a:lstStyle/>
          <a:p>
            <a:pPr indent="0" marL="0">
              <a:buNone/>
            </a:pPr>
            <a:r>
              <a:rPr lang="en-US" sz="1300" dirty="0">
                <a:solidFill>
                  <a:srgbClr val="9A9AA5"/>
                </a:solidFill>
                <a:latin typeface="Calibri" pitchFamily="34" charset="0"/>
                <a:ea typeface="Calibri" pitchFamily="34" charset="-122"/>
                <a:cs typeface="Calibri" pitchFamily="34" charset="-120"/>
              </a:rPr>
              <a:t>Recuerda material, contexto y preferencias. Visible, editable y borrable por el usuario.</a:t>
            </a:r>
            <a:endParaRPr lang="en-US" sz="1300" dirty="0"/>
          </a:p>
        </p:txBody>
      </p:sp>
      <p:sp>
        <p:nvSpPr>
          <p:cNvPr id="21" name="Shape 18"/>
          <p:cNvSpPr/>
          <p:nvPr/>
        </p:nvSpPr>
        <p:spPr>
          <a:xfrm>
            <a:off x="6309360" y="4023360"/>
            <a:ext cx="5166360" cy="1737360"/>
          </a:xfrm>
          <a:prstGeom prst="roundRect">
            <a:avLst>
              <a:gd name="adj" fmla="val 7368"/>
            </a:avLst>
          </a:prstGeom>
          <a:solidFill>
            <a:srgbClr val="16161B"/>
          </a:solidFill>
          <a:ln w="12700">
            <a:solidFill>
              <a:srgbClr val="33333B"/>
            </a:solidFill>
            <a:prstDash val="solid"/>
          </a:ln>
        </p:spPr>
      </p:sp>
      <p:sp>
        <p:nvSpPr>
          <p:cNvPr id="22" name="Shape 19"/>
          <p:cNvSpPr/>
          <p:nvPr/>
        </p:nvSpPr>
        <p:spPr>
          <a:xfrm>
            <a:off x="6629400" y="4343400"/>
            <a:ext cx="548640" cy="548640"/>
          </a:xfrm>
          <a:prstGeom prst="ellipse">
            <a:avLst/>
          </a:prstGeom>
          <a:solidFill>
            <a:srgbClr val="A8F060"/>
          </a:solidFill>
          <a:ln w="12700">
            <a:solidFill>
              <a:srgbClr val="A8F060"/>
            </a:solidFill>
            <a:prstDash val="solid"/>
          </a:ln>
        </p:spPr>
      </p:sp>
      <p:sp>
        <p:nvSpPr>
          <p:cNvPr id="23" name="Text 20"/>
          <p:cNvSpPr/>
          <p:nvPr/>
        </p:nvSpPr>
        <p:spPr>
          <a:xfrm>
            <a:off x="6629400" y="4343400"/>
            <a:ext cx="548640" cy="548640"/>
          </a:xfrm>
          <a:prstGeom prst="rect">
            <a:avLst/>
          </a:prstGeom>
          <a:noFill/>
          <a:ln/>
        </p:spPr>
        <p:txBody>
          <a:bodyPr wrap="square" lIns="0" tIns="0" rIns="0" bIns="0" rtlCol="0" anchor="ctr"/>
          <a:lstStyle/>
          <a:p>
            <a:pPr algn="ctr" indent="0" marL="0">
              <a:buNone/>
            </a:pPr>
            <a:r>
              <a:rPr lang="en-US" sz="1600" b="1" dirty="0">
                <a:solidFill>
                  <a:srgbClr val="09090C"/>
                </a:solidFill>
                <a:latin typeface="Arial" pitchFamily="34" charset="0"/>
                <a:ea typeface="Arial" pitchFamily="34" charset="-122"/>
                <a:cs typeface="Arial" pitchFamily="34" charset="-120"/>
              </a:rPr>
              <a:t>4</a:t>
            </a:r>
            <a:endParaRPr lang="en-US" sz="1600" dirty="0"/>
          </a:p>
        </p:txBody>
      </p:sp>
      <p:sp>
        <p:nvSpPr>
          <p:cNvPr id="24" name="Text 21"/>
          <p:cNvSpPr/>
          <p:nvPr/>
        </p:nvSpPr>
        <p:spPr>
          <a:xfrm>
            <a:off x="7333488" y="4315968"/>
            <a:ext cx="3840480" cy="411480"/>
          </a:xfrm>
          <a:prstGeom prst="rect">
            <a:avLst/>
          </a:prstGeom>
          <a:noFill/>
          <a:ln/>
        </p:spPr>
        <p:txBody>
          <a:bodyPr wrap="square" lIns="0" tIns="0" rIns="0" bIns="0" rtlCol="0" anchor="ctr"/>
          <a:lstStyle/>
          <a:p>
            <a:pPr indent="0" marL="0">
              <a:buNone/>
            </a:pPr>
            <a:r>
              <a:rPr lang="en-US" sz="1700" b="1" dirty="0">
                <a:solidFill>
                  <a:srgbClr val="F5F5F7"/>
                </a:solidFill>
                <a:latin typeface="Arial" pitchFamily="34" charset="0"/>
                <a:ea typeface="Arial" pitchFamily="34" charset="-122"/>
                <a:cs typeface="Arial" pitchFamily="34" charset="-120"/>
              </a:rPr>
              <a:t>Entrenamiento offline</a:t>
            </a:r>
            <a:endParaRPr lang="en-US" sz="1700" dirty="0"/>
          </a:p>
        </p:txBody>
      </p:sp>
      <p:sp>
        <p:nvSpPr>
          <p:cNvPr id="25" name="Text 22"/>
          <p:cNvSpPr/>
          <p:nvPr/>
        </p:nvSpPr>
        <p:spPr>
          <a:xfrm>
            <a:off x="7333488" y="4773168"/>
            <a:ext cx="3840480" cy="868680"/>
          </a:xfrm>
          <a:prstGeom prst="rect">
            <a:avLst/>
          </a:prstGeom>
          <a:noFill/>
          <a:ln/>
        </p:spPr>
        <p:txBody>
          <a:bodyPr wrap="square" lIns="0" tIns="0" rIns="0" bIns="0" rtlCol="0" anchor="t"/>
          <a:lstStyle/>
          <a:p>
            <a:pPr indent="0" marL="0">
              <a:buNone/>
            </a:pPr>
            <a:r>
              <a:rPr lang="en-US" sz="1300" dirty="0">
                <a:solidFill>
                  <a:srgbClr val="9A9AA5"/>
                </a:solidFill>
                <a:latin typeface="Calibri" pitchFamily="34" charset="0"/>
                <a:ea typeface="Calibri" pitchFamily="34" charset="-122"/>
                <a:cs typeface="Calibri" pitchFamily="34" charset="-120"/>
              </a:rPr>
              <a:t>Las series se anotan y se guardan en el móvil aunque no haya conexión, y se suben solas al recuperarla. En el gimnasio casi nunca hay cobertura.</a:t>
            </a:r>
            <a:endParaRPr lang="en-US" sz="1300" dirty="0"/>
          </a:p>
        </p:txBody>
      </p:sp>
      <p:sp>
        <p:nvSpPr>
          <p:cNvPr id="26" name="Text 23"/>
          <p:cNvSpPr/>
          <p:nvPr/>
        </p:nvSpPr>
        <p:spPr>
          <a:xfrm>
            <a:off x="685800" y="5897880"/>
            <a:ext cx="10607040" cy="365760"/>
          </a:xfrm>
          <a:prstGeom prst="rect">
            <a:avLst/>
          </a:prstGeom>
          <a:noFill/>
          <a:ln/>
        </p:spPr>
        <p:txBody>
          <a:bodyPr wrap="square" lIns="0" tIns="0" rIns="0" bIns="0" rtlCol="0" anchor="ctr"/>
          <a:lstStyle/>
          <a:p>
            <a:pPr indent="0" marL="0">
              <a:buNone/>
            </a:pPr>
            <a:r>
              <a:rPr lang="en-US" sz="1300" dirty="0">
                <a:solidFill>
                  <a:srgbClr val="9A9AA5"/>
                </a:solidFill>
                <a:latin typeface="Calibri" pitchFamily="34" charset="0"/>
                <a:ea typeface="Calibri" pitchFamily="34" charset="-122"/>
                <a:cs typeface="Calibri" pitchFamily="34" charset="-120"/>
              </a:rPr>
              <a:t>Las cuatro capacidades son comunes a los tres niveles del producto: Persona, Entrenador y Gimnasio.</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PRODUCTO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Definir el plan</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Dos caminos hacia la misma estructura de datos</a:t>
            </a:r>
            <a:endParaRPr lang="en-US" sz="1500" dirty="0"/>
          </a:p>
        </p:txBody>
      </p:sp>
      <p:sp>
        <p:nvSpPr>
          <p:cNvPr id="6" name="Shape 3"/>
          <p:cNvSpPr/>
          <p:nvPr/>
        </p:nvSpPr>
        <p:spPr>
          <a:xfrm>
            <a:off x="685800" y="1783080"/>
            <a:ext cx="5349240" cy="4160520"/>
          </a:xfrm>
          <a:prstGeom prst="roundRect">
            <a:avLst>
              <a:gd name="adj" fmla="val 3077"/>
            </a:avLst>
          </a:prstGeom>
          <a:solidFill>
            <a:srgbClr val="16161B"/>
          </a:solidFill>
          <a:ln w="12700">
            <a:solidFill>
              <a:srgbClr val="33333B"/>
            </a:solidFill>
            <a:prstDash val="solid"/>
          </a:ln>
        </p:spPr>
      </p:sp>
      <p:sp>
        <p:nvSpPr>
          <p:cNvPr id="7" name="Text 4"/>
          <p:cNvSpPr/>
          <p:nvPr/>
        </p:nvSpPr>
        <p:spPr>
          <a:xfrm>
            <a:off x="1051560" y="1965960"/>
            <a:ext cx="4617720" cy="365760"/>
          </a:xfrm>
          <a:prstGeom prst="rect">
            <a:avLst/>
          </a:prstGeom>
          <a:noFill/>
          <a:ln/>
        </p:spPr>
        <p:txBody>
          <a:bodyPr wrap="square" lIns="0" tIns="0" rIns="0" bIns="0" rtlCol="0" anchor="ctr"/>
          <a:lstStyle/>
          <a:p>
            <a:pPr indent="0" marL="0">
              <a:buNone/>
            </a:pPr>
            <a:r>
              <a:rPr lang="en-US" sz="1800" b="1" dirty="0">
                <a:solidFill>
                  <a:srgbClr val="A8F060"/>
                </a:solidFill>
                <a:latin typeface="Arial" pitchFamily="34" charset="0"/>
                <a:ea typeface="Arial" pitchFamily="34" charset="-122"/>
                <a:cs typeface="Arial" pitchFamily="34" charset="-120"/>
              </a:rPr>
              <a:t>Asistente por tarjetas</a:t>
            </a:r>
            <a:endParaRPr lang="en-US" sz="1800" dirty="0"/>
          </a:p>
        </p:txBody>
      </p:sp>
      <p:sp>
        <p:nvSpPr>
          <p:cNvPr id="8" name="Shape 5"/>
          <p:cNvSpPr/>
          <p:nvPr/>
        </p:nvSpPr>
        <p:spPr>
          <a:xfrm>
            <a:off x="2574274" y="2304288"/>
            <a:ext cx="1572293" cy="3474720"/>
          </a:xfrm>
          <a:prstGeom prst="roundRect">
            <a:avLst>
              <a:gd name="adj" fmla="val 8142"/>
            </a:avLst>
          </a:prstGeom>
          <a:solidFill>
            <a:srgbClr val="1F1F25"/>
          </a:solidFill>
          <a:ln w="12700">
            <a:solidFill>
              <a:srgbClr val="33333B"/>
            </a:solidFill>
            <a:prstDash val="solid"/>
          </a:ln>
        </p:spPr>
      </p:sp>
      <p:pic>
        <p:nvPicPr>
          <p:cNvPr id="9" name="Image 0" descr="/home/claude/deck-product/screens/mobile-create-plan.png">    </p:cNvPr>
          <p:cNvPicPr>
            <a:picLocks noChangeAspect="1"/>
          </p:cNvPicPr>
          <p:nvPr/>
        </p:nvPicPr>
        <p:blipFill>
          <a:blip r:embed="rId1"/>
          <a:stretch>
            <a:fillRect/>
          </a:stretch>
        </p:blipFill>
        <p:spPr>
          <a:xfrm>
            <a:off x="2665714" y="2395728"/>
            <a:ext cx="1389413" cy="3291840"/>
          </a:xfrm>
          <a:prstGeom prst="rect">
            <a:avLst/>
          </a:prstGeom>
        </p:spPr>
      </p:pic>
      <p:sp>
        <p:nvSpPr>
          <p:cNvPr id="10" name="Text 6"/>
          <p:cNvSpPr/>
          <p:nvPr/>
        </p:nvSpPr>
        <p:spPr>
          <a:xfrm>
            <a:off x="1051560" y="5833872"/>
            <a:ext cx="4617720" cy="274320"/>
          </a:xfrm>
          <a:prstGeom prst="rect">
            <a:avLst/>
          </a:prstGeom>
          <a:noFill/>
          <a:ln/>
        </p:spPr>
        <p:txBody>
          <a:bodyPr wrap="square" lIns="0" tIns="0" rIns="0" bIns="0" rtlCol="0" anchor="ctr"/>
          <a:lstStyle/>
          <a:p>
            <a:pPr algn="ctr" indent="0" marL="0">
              <a:buNone/>
            </a:pPr>
            <a:r>
              <a:rPr lang="en-US" sz="1000" i="1" dirty="0">
                <a:solidFill>
                  <a:srgbClr val="9A9AA5"/>
                </a:solidFill>
                <a:latin typeface="Calibri" pitchFamily="34" charset="0"/>
                <a:ea typeface="Calibri" pitchFamily="34" charset="-122"/>
                <a:cs typeface="Calibri" pitchFamily="34" charset="-120"/>
              </a:rPr>
              <a:t>Móvil — paso a paso en tarjetas</a:t>
            </a:r>
            <a:endParaRPr lang="en-US" sz="1000" dirty="0"/>
          </a:p>
        </p:txBody>
      </p:sp>
      <p:sp>
        <p:nvSpPr>
          <p:cNvPr id="11" name="Shape 7"/>
          <p:cNvSpPr/>
          <p:nvPr/>
        </p:nvSpPr>
        <p:spPr>
          <a:xfrm>
            <a:off x="6492240" y="1783080"/>
            <a:ext cx="5349240" cy="4160520"/>
          </a:xfrm>
          <a:prstGeom prst="roundRect">
            <a:avLst>
              <a:gd name="adj" fmla="val 3077"/>
            </a:avLst>
          </a:prstGeom>
          <a:solidFill>
            <a:srgbClr val="16161B"/>
          </a:solidFill>
          <a:ln w="12700">
            <a:solidFill>
              <a:srgbClr val="33333B"/>
            </a:solidFill>
            <a:prstDash val="solid"/>
          </a:ln>
        </p:spPr>
      </p:sp>
      <p:sp>
        <p:nvSpPr>
          <p:cNvPr id="12" name="Text 8"/>
          <p:cNvSpPr/>
          <p:nvPr/>
        </p:nvSpPr>
        <p:spPr>
          <a:xfrm>
            <a:off x="6858000" y="1965960"/>
            <a:ext cx="4617720" cy="365760"/>
          </a:xfrm>
          <a:prstGeom prst="rect">
            <a:avLst/>
          </a:prstGeom>
          <a:noFill/>
          <a:ln/>
        </p:spPr>
        <p:txBody>
          <a:bodyPr wrap="square" lIns="0" tIns="0" rIns="0" bIns="0" rtlCol="0" anchor="ctr"/>
          <a:lstStyle/>
          <a:p>
            <a:pPr indent="0" marL="0">
              <a:buNone/>
            </a:pPr>
            <a:r>
              <a:rPr lang="en-US" sz="1800" b="1" dirty="0">
                <a:solidFill>
                  <a:srgbClr val="A8F060"/>
                </a:solidFill>
                <a:latin typeface="Arial" pitchFamily="34" charset="0"/>
                <a:ea typeface="Arial" pitchFamily="34" charset="-122"/>
                <a:cs typeface="Arial" pitchFamily="34" charset="-120"/>
              </a:rPr>
              <a:t>Asistente conversacional</a:t>
            </a:r>
            <a:endParaRPr lang="en-US" sz="1800" dirty="0"/>
          </a:p>
        </p:txBody>
      </p:sp>
      <p:sp>
        <p:nvSpPr>
          <p:cNvPr id="13" name="Shape 9"/>
          <p:cNvSpPr/>
          <p:nvPr/>
        </p:nvSpPr>
        <p:spPr>
          <a:xfrm>
            <a:off x="6764274" y="2304288"/>
            <a:ext cx="4805172" cy="3264408"/>
          </a:xfrm>
          <a:prstGeom prst="roundRect">
            <a:avLst>
              <a:gd name="adj" fmla="val 3922"/>
            </a:avLst>
          </a:prstGeom>
          <a:solidFill>
            <a:srgbClr val="1F1F25"/>
          </a:solidFill>
          <a:ln w="12700">
            <a:solidFill>
              <a:srgbClr val="33333B"/>
            </a:solidFill>
            <a:prstDash val="solid"/>
          </a:ln>
        </p:spPr>
      </p:sp>
      <p:pic>
        <p:nvPicPr>
          <p:cNvPr id="14" name="Image 1" descr="/home/claude/deck-product/screens/web-create-plan.png">    </p:cNvPr>
          <p:cNvPicPr>
            <a:picLocks noChangeAspect="1"/>
          </p:cNvPicPr>
          <p:nvPr/>
        </p:nvPicPr>
        <p:blipFill>
          <a:blip r:embed="rId2"/>
          <a:stretch>
            <a:fillRect/>
          </a:stretch>
        </p:blipFill>
        <p:spPr>
          <a:xfrm>
            <a:off x="6855714" y="2395728"/>
            <a:ext cx="4622292" cy="3081528"/>
          </a:xfrm>
          <a:prstGeom prst="rect">
            <a:avLst/>
          </a:prstGeom>
        </p:spPr>
      </p:pic>
      <p:sp>
        <p:nvSpPr>
          <p:cNvPr id="15" name="Text 10"/>
          <p:cNvSpPr/>
          <p:nvPr/>
        </p:nvSpPr>
        <p:spPr>
          <a:xfrm>
            <a:off x="6858000" y="5623560"/>
            <a:ext cx="4617720" cy="274320"/>
          </a:xfrm>
          <a:prstGeom prst="rect">
            <a:avLst/>
          </a:prstGeom>
          <a:noFill/>
          <a:ln/>
        </p:spPr>
        <p:txBody>
          <a:bodyPr wrap="square" lIns="0" tIns="0" rIns="0" bIns="0" rtlCol="0" anchor="ctr"/>
          <a:lstStyle/>
          <a:p>
            <a:pPr algn="ctr" indent="0" marL="0">
              <a:buNone/>
            </a:pPr>
            <a:r>
              <a:rPr lang="en-US" sz="1000" i="1" dirty="0">
                <a:solidFill>
                  <a:srgbClr val="9A9AA5"/>
                </a:solidFill>
                <a:latin typeface="Calibri" pitchFamily="34" charset="0"/>
                <a:ea typeface="Calibri" pitchFamily="34" charset="-122"/>
                <a:cs typeface="Calibri" pitchFamily="34" charset="-120"/>
              </a:rPr>
              <a:t>Web — la misma especificación, en conversación</a:t>
            </a:r>
            <a:endParaRPr lang="en-US" sz="1000" dirty="0"/>
          </a:p>
        </p:txBody>
      </p:sp>
      <p:sp>
        <p:nvSpPr>
          <p:cNvPr id="16" name="Shape 11"/>
          <p:cNvSpPr/>
          <p:nvPr/>
        </p:nvSpPr>
        <p:spPr>
          <a:xfrm>
            <a:off x="685800" y="6080760"/>
            <a:ext cx="10789920" cy="548640"/>
          </a:xfrm>
          <a:prstGeom prst="roundRect">
            <a:avLst>
              <a:gd name="adj" fmla="val 23333"/>
            </a:avLst>
          </a:prstGeom>
          <a:solidFill>
            <a:srgbClr val="1F1F25"/>
          </a:solidFill>
          <a:ln w="12700">
            <a:solidFill>
              <a:srgbClr val="33333B"/>
            </a:solidFill>
            <a:prstDash val="solid"/>
          </a:ln>
        </p:spPr>
      </p:sp>
      <p:sp>
        <p:nvSpPr>
          <p:cNvPr id="17" name="Text 12"/>
          <p:cNvSpPr/>
          <p:nvPr/>
        </p:nvSpPr>
        <p:spPr>
          <a:xfrm>
            <a:off x="1005840" y="6080760"/>
            <a:ext cx="10149840" cy="548640"/>
          </a:xfrm>
          <a:prstGeom prst="rect">
            <a:avLst/>
          </a:prstGeom>
          <a:noFill/>
          <a:ln/>
        </p:spPr>
        <p:txBody>
          <a:bodyPr wrap="square" lIns="0" tIns="0" rIns="0" bIns="0" rtlCol="0" anchor="ctr"/>
          <a:lstStyle/>
          <a:p>
            <a:pPr indent="0" marL="0">
              <a:buNone/>
            </a:pPr>
            <a:r>
              <a:rPr lang="en-US" sz="1350" dirty="0">
                <a:solidFill>
                  <a:srgbClr val="F5F5F7"/>
                </a:solidFill>
                <a:latin typeface="Calibri" pitchFamily="34" charset="0"/>
                <a:ea typeface="Calibri" pitchFamily="34" charset="-122"/>
                <a:cs typeface="Calibri" pitchFamily="34" charset="-120"/>
              </a:rPr>
              <a:t>Los dos caminos producen la misma especificación de plan. Cambiar de modo a mitad no cuesta nada.</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PRODUCTO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El plan adaptado</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No quita el ejercicio: lo cambia por otro que persigue el mismo objetivo con menos carga sobre la zona comprometida</a:t>
            </a:r>
            <a:endParaRPr lang="en-US" sz="1500" dirty="0"/>
          </a:p>
        </p:txBody>
      </p:sp>
      <p:sp>
        <p:nvSpPr>
          <p:cNvPr id="6" name="Shape 3"/>
          <p:cNvSpPr/>
          <p:nvPr/>
        </p:nvSpPr>
        <p:spPr>
          <a:xfrm>
            <a:off x="685800" y="1828800"/>
            <a:ext cx="6309360" cy="1463040"/>
          </a:xfrm>
          <a:prstGeom prst="roundRect">
            <a:avLst>
              <a:gd name="adj" fmla="val 8750"/>
            </a:avLst>
          </a:prstGeom>
          <a:solidFill>
            <a:srgbClr val="1F1F25"/>
          </a:solidFill>
          <a:ln w="12700">
            <a:solidFill>
              <a:srgbClr val="33333B"/>
            </a:solidFill>
            <a:prstDash val="solid"/>
          </a:ln>
        </p:spPr>
      </p:sp>
      <p:sp>
        <p:nvSpPr>
          <p:cNvPr id="7" name="Text 4"/>
          <p:cNvSpPr/>
          <p:nvPr/>
        </p:nvSpPr>
        <p:spPr>
          <a:xfrm>
            <a:off x="1051560" y="1965960"/>
            <a:ext cx="4480560" cy="292608"/>
          </a:xfrm>
          <a:prstGeom prst="rect">
            <a:avLst/>
          </a:prstGeom>
          <a:noFill/>
          <a:ln/>
        </p:spPr>
        <p:txBody>
          <a:bodyPr wrap="square" lIns="0" tIns="0" rIns="0" bIns="0" rtlCol="0" anchor="ctr"/>
          <a:lstStyle/>
          <a:p>
            <a:pPr indent="0" marL="0">
              <a:buNone/>
            </a:pPr>
            <a:r>
              <a:rPr lang="en-US" sz="1150" dirty="0">
                <a:solidFill>
                  <a:srgbClr val="9A9AA5"/>
                </a:solidFill>
                <a:latin typeface="Calibri" pitchFamily="34" charset="0"/>
                <a:ea typeface="Calibri" pitchFamily="34" charset="-122"/>
                <a:cs typeface="Calibri" pitchFamily="34" charset="-120"/>
              </a:rPr>
              <a:t>Lo que pondría un plan genérico</a:t>
            </a:r>
            <a:endParaRPr lang="en-US" sz="1150" dirty="0"/>
          </a:p>
        </p:txBody>
      </p:sp>
      <p:sp>
        <p:nvSpPr>
          <p:cNvPr id="8" name="Text 5"/>
          <p:cNvSpPr/>
          <p:nvPr/>
        </p:nvSpPr>
        <p:spPr>
          <a:xfrm>
            <a:off x="1051560" y="2258568"/>
            <a:ext cx="4480560" cy="457200"/>
          </a:xfrm>
          <a:prstGeom prst="rect">
            <a:avLst/>
          </a:prstGeom>
          <a:noFill/>
          <a:ln/>
        </p:spPr>
        <p:txBody>
          <a:bodyPr wrap="square" lIns="0" tIns="0" rIns="0" bIns="0" rtlCol="0" anchor="ctr"/>
          <a:lstStyle/>
          <a:p>
            <a:pPr indent="0" marL="0">
              <a:buNone/>
            </a:pPr>
            <a:r>
              <a:rPr lang="en-US" sz="2000" b="1" dirty="0">
                <a:solidFill>
                  <a:srgbClr val="9A9AA5"/>
                </a:solidFill>
                <a:latin typeface="Arial" pitchFamily="34" charset="0"/>
                <a:ea typeface="Arial" pitchFamily="34" charset="-122"/>
                <a:cs typeface="Arial" pitchFamily="34" charset="-120"/>
              </a:rPr>
              <a:t>Peso muerto con barra</a:t>
            </a:r>
            <a:endParaRPr lang="en-US" sz="2000" dirty="0"/>
          </a:p>
        </p:txBody>
      </p:sp>
      <p:sp>
        <p:nvSpPr>
          <p:cNvPr id="9" name="Text 6"/>
          <p:cNvSpPr/>
          <p:nvPr/>
        </p:nvSpPr>
        <p:spPr>
          <a:xfrm>
            <a:off x="1051560" y="2724912"/>
            <a:ext cx="4480560" cy="365760"/>
          </a:xfrm>
          <a:prstGeom prst="rect">
            <a:avLst/>
          </a:prstGeom>
          <a:noFill/>
          <a:ln/>
        </p:spPr>
        <p:txBody>
          <a:bodyPr wrap="square" lIns="0" tIns="0" rIns="0" bIns="0" rtlCol="0" anchor="ctr"/>
          <a:lstStyle/>
          <a:p>
            <a:pPr indent="0" marL="0">
              <a:buNone/>
            </a:pPr>
            <a:r>
              <a:rPr lang="en-US" sz="1200" dirty="0">
                <a:solidFill>
                  <a:srgbClr val="E8C15A"/>
                </a:solidFill>
                <a:latin typeface="Calibri" pitchFamily="34" charset="0"/>
                <a:ea typeface="Calibri" pitchFamily="34" charset="-122"/>
                <a:cs typeface="Calibri" pitchFamily="34" charset="-120"/>
              </a:rPr>
              <a:t>Carga axial alta sobre la columna</a:t>
            </a:r>
            <a:endParaRPr lang="en-US" sz="1200" dirty="0"/>
          </a:p>
        </p:txBody>
      </p:sp>
      <p:sp>
        <p:nvSpPr>
          <p:cNvPr id="10" name="Text 7"/>
          <p:cNvSpPr/>
          <p:nvPr/>
        </p:nvSpPr>
        <p:spPr>
          <a:xfrm>
            <a:off x="1051560" y="3017520"/>
            <a:ext cx="914400" cy="27432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a:t>
            </a:r>
            <a:endParaRPr lang="en-US" sz="1600" dirty="0"/>
          </a:p>
        </p:txBody>
      </p:sp>
      <p:sp>
        <p:nvSpPr>
          <p:cNvPr id="11" name="Text 8"/>
          <p:cNvSpPr/>
          <p:nvPr/>
        </p:nvSpPr>
        <p:spPr>
          <a:xfrm>
            <a:off x="1874520" y="3035808"/>
            <a:ext cx="4754880" cy="274320"/>
          </a:xfrm>
          <a:prstGeom prst="rect">
            <a:avLst/>
          </a:prstGeom>
          <a:noFill/>
          <a:ln/>
        </p:spPr>
        <p:txBody>
          <a:bodyPr wrap="square" lIns="0" tIns="0" rIns="0" bIns="0" rtlCol="0" anchor="ctr"/>
          <a:lstStyle/>
          <a:p>
            <a:pPr indent="0" marL="0">
              <a:buNone/>
            </a:pPr>
            <a:r>
              <a:rPr lang="en-US" sz="1300" b="1" dirty="0">
                <a:solidFill>
                  <a:srgbClr val="A8F060"/>
                </a:solidFill>
                <a:latin typeface="Arial" pitchFamily="34" charset="0"/>
                <a:ea typeface="Arial" pitchFamily="34" charset="-122"/>
                <a:cs typeface="Arial" pitchFamily="34" charset="-120"/>
              </a:rPr>
              <a:t>Lo que pone kInorA — Hip thrust con mancuerna</a:t>
            </a:r>
            <a:endParaRPr lang="en-US" sz="1300" dirty="0"/>
          </a:p>
        </p:txBody>
      </p:sp>
      <p:sp>
        <p:nvSpPr>
          <p:cNvPr id="12" name="Shape 9"/>
          <p:cNvSpPr/>
          <p:nvPr/>
        </p:nvSpPr>
        <p:spPr>
          <a:xfrm>
            <a:off x="685800" y="3520440"/>
            <a:ext cx="6309360" cy="2423160"/>
          </a:xfrm>
          <a:prstGeom prst="roundRect">
            <a:avLst>
              <a:gd name="adj" fmla="val 5283"/>
            </a:avLst>
          </a:prstGeom>
          <a:solidFill>
            <a:srgbClr val="1F1F25"/>
          </a:solidFill>
          <a:ln w="12700">
            <a:solidFill>
              <a:srgbClr val="33333B"/>
            </a:solidFill>
            <a:prstDash val="solid"/>
          </a:ln>
        </p:spPr>
      </p:sp>
      <p:sp>
        <p:nvSpPr>
          <p:cNvPr id="13" name="Text 10"/>
          <p:cNvSpPr/>
          <p:nvPr/>
        </p:nvSpPr>
        <p:spPr>
          <a:xfrm>
            <a:off x="1051560" y="3703320"/>
            <a:ext cx="1371600" cy="274320"/>
          </a:xfrm>
          <a:prstGeom prst="rect">
            <a:avLst/>
          </a:prstGeom>
          <a:noFill/>
          <a:ln/>
        </p:spPr>
        <p:txBody>
          <a:bodyPr wrap="square" lIns="0" tIns="0" rIns="0" bIns="0" rtlCol="0" anchor="ctr"/>
          <a:lstStyle/>
          <a:p>
            <a:pPr indent="0" marL="0">
              <a:buNone/>
            </a:pPr>
            <a:r>
              <a:rPr lang="en-US" sz="1100" b="1" dirty="0">
                <a:solidFill>
                  <a:srgbClr val="9A9AA5"/>
                </a:solidFill>
                <a:latin typeface="Calibri" pitchFamily="34" charset="0"/>
                <a:ea typeface="Calibri" pitchFamily="34" charset="-122"/>
                <a:cs typeface="Calibri" pitchFamily="34" charset="-120"/>
              </a:rPr>
              <a:t>En la app</a:t>
            </a:r>
            <a:endParaRPr lang="en-US" sz="1100" dirty="0"/>
          </a:p>
        </p:txBody>
      </p:sp>
      <p:sp>
        <p:nvSpPr>
          <p:cNvPr id="14" name="Text 11"/>
          <p:cNvSpPr/>
          <p:nvPr/>
        </p:nvSpPr>
        <p:spPr>
          <a:xfrm>
            <a:off x="1051560" y="3977640"/>
            <a:ext cx="5577840" cy="640080"/>
          </a:xfrm>
          <a:prstGeom prst="rect">
            <a:avLst/>
          </a:prstGeom>
          <a:noFill/>
          <a:ln/>
        </p:spPr>
        <p:txBody>
          <a:bodyPr wrap="square" lIns="0" tIns="0" rIns="0" bIns="0" rtlCol="0" anchor="ctr"/>
          <a:lstStyle/>
          <a:p>
            <a:pPr indent="0" marL="0">
              <a:buNone/>
            </a:pPr>
            <a:r>
              <a:rPr lang="en-US" sz="1500" dirty="0">
                <a:solidFill>
                  <a:srgbClr val="F5F5F7"/>
                </a:solidFill>
                <a:latin typeface="Calibri" pitchFamily="34" charset="0"/>
                <a:ea typeface="Calibri" pitchFamily="34" charset="-122"/>
                <a:cs typeface="Calibri" pitchFamily="34" charset="-120"/>
              </a:rPr>
              <a:t>«Se han ajustado 3 ejercicios por la limitación que has declarado.»</a:t>
            </a:r>
            <a:endParaRPr lang="en-US" sz="1500" dirty="0"/>
          </a:p>
        </p:txBody>
      </p:sp>
      <p:sp>
        <p:nvSpPr>
          <p:cNvPr id="15" name="Text 12"/>
          <p:cNvSpPr/>
          <p:nvPr/>
        </p:nvSpPr>
        <p:spPr>
          <a:xfrm>
            <a:off x="1051560" y="4709160"/>
            <a:ext cx="5577840" cy="1097280"/>
          </a:xfrm>
          <a:prstGeom prst="rect">
            <a:avLst/>
          </a:prstGeom>
          <a:noFill/>
          <a:ln/>
        </p:spPr>
        <p:txBody>
          <a:bodyPr wrap="square" lIns="0" tIns="0" rIns="0" bIns="0" rtlCol="0" anchor="ctr"/>
          <a:lstStyle/>
          <a:p>
            <a:pPr indent="0" marL="0">
              <a:buNone/>
            </a:pPr>
            <a:r>
              <a:rPr lang="en-US" sz="1250" i="1" dirty="0">
                <a:solidFill>
                  <a:srgbClr val="9A9AA5"/>
                </a:solidFill>
                <a:latin typeface="Calibri" pitchFamily="34" charset="0"/>
                <a:ea typeface="Calibri" pitchFamily="34" charset="-122"/>
                <a:cs typeface="Calibri" pitchFamily="34" charset="-120"/>
              </a:rPr>
              <a:t>Sugerencias, nunca diagnóstico ni bloqueo clínico. La matriz de carga por zona corporal aún no ha sido revisada por un profesional sanitario: es el primer paso pendiente.</a:t>
            </a:r>
            <a:endParaRPr lang="en-US" sz="1250" dirty="0"/>
          </a:p>
        </p:txBody>
      </p:sp>
      <p:sp>
        <p:nvSpPr>
          <p:cNvPr id="16" name="Shape 13"/>
          <p:cNvSpPr/>
          <p:nvPr/>
        </p:nvSpPr>
        <p:spPr>
          <a:xfrm>
            <a:off x="8577698" y="1691640"/>
            <a:ext cx="1635524" cy="4343400"/>
          </a:xfrm>
          <a:prstGeom prst="roundRect">
            <a:avLst>
              <a:gd name="adj" fmla="val 7827"/>
            </a:avLst>
          </a:prstGeom>
          <a:solidFill>
            <a:srgbClr val="1F1F25"/>
          </a:solidFill>
          <a:ln w="12700">
            <a:solidFill>
              <a:srgbClr val="33333B"/>
            </a:solidFill>
            <a:prstDash val="solid"/>
          </a:ln>
        </p:spPr>
      </p:sp>
      <p:pic>
        <p:nvPicPr>
          <p:cNvPr id="17" name="Image 0" descr="/home/claude/deck-product/screens/mobile-exercise.png">    </p:cNvPr>
          <p:cNvPicPr>
            <a:picLocks noChangeAspect="1"/>
          </p:cNvPicPr>
          <p:nvPr/>
        </p:nvPicPr>
        <p:blipFill>
          <a:blip r:embed="rId1"/>
          <a:stretch>
            <a:fillRect/>
          </a:stretch>
        </p:blipFill>
        <p:spPr>
          <a:xfrm>
            <a:off x="8669138" y="1783080"/>
            <a:ext cx="1452644" cy="4160520"/>
          </a:xfrm>
          <a:prstGeom prst="rect">
            <a:avLst/>
          </a:prstGeom>
        </p:spPr>
      </p:pic>
      <p:sp>
        <p:nvSpPr>
          <p:cNvPr id="18" name="Text 14"/>
          <p:cNvSpPr/>
          <p:nvPr/>
        </p:nvSpPr>
        <p:spPr>
          <a:xfrm>
            <a:off x="7406640" y="6089904"/>
            <a:ext cx="3977640" cy="274320"/>
          </a:xfrm>
          <a:prstGeom prst="rect">
            <a:avLst/>
          </a:prstGeom>
          <a:noFill/>
          <a:ln/>
        </p:spPr>
        <p:txBody>
          <a:bodyPr wrap="square" lIns="0" tIns="0" rIns="0" bIns="0" rtlCol="0" anchor="ctr"/>
          <a:lstStyle/>
          <a:p>
            <a:pPr algn="ctr" indent="0" marL="0">
              <a:buNone/>
            </a:pPr>
            <a:r>
              <a:rPr lang="en-US" sz="1000" i="1" dirty="0">
                <a:solidFill>
                  <a:srgbClr val="9A9AA5"/>
                </a:solidFill>
                <a:latin typeface="Calibri" pitchFamily="34" charset="0"/>
                <a:ea typeface="Calibri" pitchFamily="34" charset="-122"/>
                <a:cs typeface="Calibri" pitchFamily="34" charset="-120"/>
              </a:rPr>
              <a:t>Móvil — detalle del ejercicio y «Ver alternativas»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PRODUCTO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Panel de hoy</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Todo lo que hace falta saber, sin entrar en ningún menú</a:t>
            </a:r>
            <a:endParaRPr lang="en-US" sz="1500" dirty="0"/>
          </a:p>
        </p:txBody>
      </p:sp>
      <p:sp>
        <p:nvSpPr>
          <p:cNvPr id="6" name="Shape 3"/>
          <p:cNvSpPr/>
          <p:nvPr/>
        </p:nvSpPr>
        <p:spPr>
          <a:xfrm>
            <a:off x="594360" y="1691640"/>
            <a:ext cx="7040880" cy="4754880"/>
          </a:xfrm>
          <a:prstGeom prst="roundRect">
            <a:avLst>
              <a:gd name="adj" fmla="val 2692"/>
            </a:avLst>
          </a:prstGeom>
          <a:solidFill>
            <a:srgbClr val="1F1F25"/>
          </a:solidFill>
          <a:ln w="12700">
            <a:solidFill>
              <a:srgbClr val="33333B"/>
            </a:solidFill>
            <a:prstDash val="solid"/>
          </a:ln>
        </p:spPr>
      </p:sp>
      <p:pic>
        <p:nvPicPr>
          <p:cNvPr id="7" name="Image 0" descr="/home/claude/deck-product/screens/web-dashboard.png">    </p:cNvPr>
          <p:cNvPicPr>
            <a:picLocks noChangeAspect="1"/>
          </p:cNvPicPr>
          <p:nvPr/>
        </p:nvPicPr>
        <p:blipFill>
          <a:blip r:embed="rId1"/>
          <a:stretch>
            <a:fillRect/>
          </a:stretch>
        </p:blipFill>
        <p:spPr>
          <a:xfrm>
            <a:off x="685800" y="1783080"/>
            <a:ext cx="6858000" cy="4572000"/>
          </a:xfrm>
          <a:prstGeom prst="rect">
            <a:avLst/>
          </a:prstGeom>
        </p:spPr>
      </p:pic>
      <p:sp>
        <p:nvSpPr>
          <p:cNvPr id="8" name="Shape 4"/>
          <p:cNvSpPr/>
          <p:nvPr/>
        </p:nvSpPr>
        <p:spPr>
          <a:xfrm>
            <a:off x="7909560" y="1783080"/>
            <a:ext cx="3566160" cy="2103120"/>
          </a:xfrm>
          <a:prstGeom prst="roundRect">
            <a:avLst>
              <a:gd name="adj" fmla="val 6087"/>
            </a:avLst>
          </a:prstGeom>
          <a:solidFill>
            <a:srgbClr val="16161B"/>
          </a:solidFill>
          <a:ln w="12700">
            <a:solidFill>
              <a:srgbClr val="33333B"/>
            </a:solidFill>
            <a:prstDash val="solid"/>
          </a:ln>
        </p:spPr>
      </p:sp>
      <p:sp>
        <p:nvSpPr>
          <p:cNvPr id="9" name="Text 5"/>
          <p:cNvSpPr/>
          <p:nvPr/>
        </p:nvSpPr>
        <p:spPr>
          <a:xfrm>
            <a:off x="8229600" y="1965960"/>
            <a:ext cx="2926080" cy="365760"/>
          </a:xfrm>
          <a:prstGeom prst="rect">
            <a:avLst/>
          </a:prstGeom>
          <a:noFill/>
          <a:ln/>
        </p:spPr>
        <p:txBody>
          <a:bodyPr wrap="square" lIns="0" tIns="0" rIns="0" bIns="0" rtlCol="0" anchor="ctr"/>
          <a:lstStyle/>
          <a:p>
            <a:pPr indent="0" marL="0">
              <a:buNone/>
            </a:pPr>
            <a:r>
              <a:rPr lang="en-US" sz="1500" b="1" dirty="0">
                <a:solidFill>
                  <a:srgbClr val="A8F060"/>
                </a:solidFill>
                <a:latin typeface="Arial" pitchFamily="34" charset="0"/>
                <a:ea typeface="Arial" pitchFamily="34" charset="-122"/>
                <a:cs typeface="Arial" pitchFamily="34" charset="-120"/>
              </a:rPr>
              <a:t>Racha y objetivo</a:t>
            </a:r>
            <a:endParaRPr lang="en-US" sz="1500" dirty="0"/>
          </a:p>
        </p:txBody>
      </p:sp>
      <p:sp>
        <p:nvSpPr>
          <p:cNvPr id="10" name="Text 6"/>
          <p:cNvSpPr/>
          <p:nvPr/>
        </p:nvSpPr>
        <p:spPr>
          <a:xfrm>
            <a:off x="8229600" y="2377440"/>
            <a:ext cx="2926080" cy="1371600"/>
          </a:xfrm>
          <a:prstGeom prst="rect">
            <a:avLst/>
          </a:prstGeom>
          <a:noFill/>
          <a:ln/>
        </p:spPr>
        <p:txBody>
          <a:bodyPr wrap="square" lIns="0" tIns="0" rIns="0" bIns="0" rtlCol="0" anchor="t"/>
          <a:lstStyle/>
          <a:p>
            <a:pPr indent="0" marL="0">
              <a:buNone/>
            </a:pPr>
            <a:r>
              <a:rPr lang="en-US" sz="1250" dirty="0">
                <a:solidFill>
                  <a:srgbClr val="9A9AA5"/>
                </a:solidFill>
                <a:latin typeface="Calibri" pitchFamily="34" charset="0"/>
                <a:ea typeface="Calibri" pitchFamily="34" charset="-122"/>
                <a:cs typeface="Calibri" pitchFamily="34" charset="-120"/>
              </a:rPr>
              <a:t>Días consecutivos entrenados y sesiones cumplidas esta semana frente al objetivo, siempre visibles arriba del todo.</a:t>
            </a:r>
            <a:endParaRPr lang="en-US" sz="1250" dirty="0"/>
          </a:p>
        </p:txBody>
      </p:sp>
      <p:sp>
        <p:nvSpPr>
          <p:cNvPr id="11" name="Shape 7"/>
          <p:cNvSpPr/>
          <p:nvPr/>
        </p:nvSpPr>
        <p:spPr>
          <a:xfrm>
            <a:off x="7909560" y="4069080"/>
            <a:ext cx="3566160" cy="2286000"/>
          </a:xfrm>
          <a:prstGeom prst="roundRect">
            <a:avLst>
              <a:gd name="adj" fmla="val 5600"/>
            </a:avLst>
          </a:prstGeom>
          <a:solidFill>
            <a:srgbClr val="1F1F25"/>
          </a:solidFill>
          <a:ln w="12700">
            <a:solidFill>
              <a:srgbClr val="33333B"/>
            </a:solidFill>
            <a:prstDash val="solid"/>
          </a:ln>
        </p:spPr>
      </p:sp>
      <p:sp>
        <p:nvSpPr>
          <p:cNvPr id="12" name="Text 8"/>
          <p:cNvSpPr/>
          <p:nvPr/>
        </p:nvSpPr>
        <p:spPr>
          <a:xfrm>
            <a:off x="8229600" y="4251960"/>
            <a:ext cx="2926080" cy="365760"/>
          </a:xfrm>
          <a:prstGeom prst="rect">
            <a:avLst/>
          </a:prstGeom>
          <a:noFill/>
          <a:ln/>
        </p:spPr>
        <p:txBody>
          <a:bodyPr wrap="square" lIns="0" tIns="0" rIns="0" bIns="0" rtlCol="0" anchor="ctr"/>
          <a:lstStyle/>
          <a:p>
            <a:pPr indent="0" marL="0">
              <a:buNone/>
            </a:pPr>
            <a:r>
              <a:rPr lang="en-US" sz="1500" b="1" dirty="0">
                <a:solidFill>
                  <a:srgbClr val="A8F060"/>
                </a:solidFill>
                <a:latin typeface="Arial" pitchFamily="34" charset="0"/>
                <a:ea typeface="Arial" pitchFamily="34" charset="-122"/>
                <a:cs typeface="Arial" pitchFamily="34" charset="-120"/>
              </a:rPr>
              <a:t>Sugerencia de la IA</a:t>
            </a:r>
            <a:endParaRPr lang="en-US" sz="1500" dirty="0"/>
          </a:p>
        </p:txBody>
      </p:sp>
      <p:sp>
        <p:nvSpPr>
          <p:cNvPr id="13" name="Text 9"/>
          <p:cNvSpPr/>
          <p:nvPr/>
        </p:nvSpPr>
        <p:spPr>
          <a:xfrm>
            <a:off x="8229600" y="4663440"/>
            <a:ext cx="2926080" cy="1554480"/>
          </a:xfrm>
          <a:prstGeom prst="rect">
            <a:avLst/>
          </a:prstGeom>
          <a:noFill/>
          <a:ln/>
        </p:spPr>
        <p:txBody>
          <a:bodyPr wrap="square" lIns="0" tIns="0" rIns="0" bIns="0" rtlCol="0" anchor="t"/>
          <a:lstStyle/>
          <a:p>
            <a:pPr indent="0" marL="0">
              <a:buNone/>
            </a:pPr>
            <a:r>
              <a:rPr lang="en-US" sz="1250" dirty="0">
                <a:solidFill>
                  <a:srgbClr val="9A9AA5"/>
                </a:solidFill>
                <a:latin typeface="Calibri" pitchFamily="34" charset="0"/>
                <a:ea typeface="Calibri" pitchFamily="34" charset="-122"/>
                <a:cs typeface="Calibri" pitchFamily="34" charset="-120"/>
              </a:rPr>
              <a:t>Cuando el historial lo justifica, el panel propone el siguiente paso de carga. La persona lo confirma; el sistema no lo aplica solo.</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PRODUCTO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El plan, semana a semana</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Sesiones, adherencia y volumen, siempre a la vista</a:t>
            </a:r>
            <a:endParaRPr lang="en-US" sz="1500" dirty="0"/>
          </a:p>
        </p:txBody>
      </p:sp>
      <p:sp>
        <p:nvSpPr>
          <p:cNvPr id="6" name="Shape 3"/>
          <p:cNvSpPr/>
          <p:nvPr/>
        </p:nvSpPr>
        <p:spPr>
          <a:xfrm>
            <a:off x="2663190" y="1691640"/>
            <a:ext cx="6835140" cy="4617720"/>
          </a:xfrm>
          <a:prstGeom prst="roundRect">
            <a:avLst>
              <a:gd name="adj" fmla="val 2772"/>
            </a:avLst>
          </a:prstGeom>
          <a:solidFill>
            <a:srgbClr val="1F1F25"/>
          </a:solidFill>
          <a:ln w="12700">
            <a:solidFill>
              <a:srgbClr val="33333B"/>
            </a:solidFill>
            <a:prstDash val="solid"/>
          </a:ln>
        </p:spPr>
      </p:sp>
      <p:pic>
        <p:nvPicPr>
          <p:cNvPr id="7" name="Image 0" descr="/home/claude/deck-product/screens/web-plan.png">    </p:cNvPr>
          <p:cNvPicPr>
            <a:picLocks noChangeAspect="1"/>
          </p:cNvPicPr>
          <p:nvPr/>
        </p:nvPicPr>
        <p:blipFill>
          <a:blip r:embed="rId1"/>
          <a:stretch>
            <a:fillRect/>
          </a:stretch>
        </p:blipFill>
        <p:spPr>
          <a:xfrm>
            <a:off x="2754630" y="1783080"/>
            <a:ext cx="6652260" cy="4434840"/>
          </a:xfrm>
          <a:prstGeom prst="rect">
            <a:avLst/>
          </a:prstGeom>
        </p:spPr>
      </p:pic>
      <p:sp>
        <p:nvSpPr>
          <p:cNvPr id="8" name="Text 4"/>
          <p:cNvSpPr/>
          <p:nvPr/>
        </p:nvSpPr>
        <p:spPr>
          <a:xfrm>
            <a:off x="685800" y="6364224"/>
            <a:ext cx="10789920" cy="274320"/>
          </a:xfrm>
          <a:prstGeom prst="rect">
            <a:avLst/>
          </a:prstGeom>
          <a:noFill/>
          <a:ln/>
        </p:spPr>
        <p:txBody>
          <a:bodyPr wrap="square" lIns="0" tIns="0" rIns="0" bIns="0" rtlCol="0" anchor="ctr"/>
          <a:lstStyle/>
          <a:p>
            <a:pPr algn="ctr" indent="0" marL="0">
              <a:buNone/>
            </a:pPr>
            <a:r>
              <a:rPr lang="en-US" sz="1000" i="1" dirty="0">
                <a:solidFill>
                  <a:srgbClr val="9A9AA5"/>
                </a:solidFill>
                <a:latin typeface="Calibri" pitchFamily="34" charset="0"/>
                <a:ea typeface="Calibri" pitchFamily="34" charset="-122"/>
                <a:cs typeface="Calibri" pitchFamily="34" charset="-120"/>
              </a:rPr>
              <a:t>Web — vista semanal con detalle de la sesión de hoy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PRODUCTO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Entrenar en el gimnasio</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El móvil como cuaderno de entrenamiento, con o sin cobertura</a:t>
            </a:r>
            <a:endParaRPr lang="en-US" sz="1500" dirty="0"/>
          </a:p>
        </p:txBody>
      </p:sp>
      <p:sp>
        <p:nvSpPr>
          <p:cNvPr id="6" name="Shape 3"/>
          <p:cNvSpPr/>
          <p:nvPr/>
        </p:nvSpPr>
        <p:spPr>
          <a:xfrm>
            <a:off x="1261363" y="1691640"/>
            <a:ext cx="2232154" cy="4617720"/>
          </a:xfrm>
          <a:prstGeom prst="roundRect">
            <a:avLst>
              <a:gd name="adj" fmla="val 5735"/>
            </a:avLst>
          </a:prstGeom>
          <a:solidFill>
            <a:srgbClr val="1F1F25"/>
          </a:solidFill>
          <a:ln w="12700">
            <a:solidFill>
              <a:srgbClr val="33333B"/>
            </a:solidFill>
            <a:prstDash val="solid"/>
          </a:ln>
        </p:spPr>
      </p:sp>
      <p:pic>
        <p:nvPicPr>
          <p:cNvPr id="7" name="Image 0" descr="/home/claude/deck-product/screens/mobile-tracker.png">    </p:cNvPr>
          <p:cNvPicPr>
            <a:picLocks noChangeAspect="1"/>
          </p:cNvPicPr>
          <p:nvPr/>
        </p:nvPicPr>
        <p:blipFill>
          <a:blip r:embed="rId1"/>
          <a:stretch>
            <a:fillRect/>
          </a:stretch>
        </p:blipFill>
        <p:spPr>
          <a:xfrm>
            <a:off x="1352803" y="1783080"/>
            <a:ext cx="2049274" cy="4434840"/>
          </a:xfrm>
          <a:prstGeom prst="rect">
            <a:avLst/>
          </a:prstGeom>
        </p:spPr>
      </p:pic>
      <p:sp>
        <p:nvSpPr>
          <p:cNvPr id="8" name="Text 4"/>
          <p:cNvSpPr/>
          <p:nvPr/>
        </p:nvSpPr>
        <p:spPr>
          <a:xfrm>
            <a:off x="685800" y="6364224"/>
            <a:ext cx="3383280" cy="274320"/>
          </a:xfrm>
          <a:prstGeom prst="rect">
            <a:avLst/>
          </a:prstGeom>
          <a:noFill/>
          <a:ln/>
        </p:spPr>
        <p:txBody>
          <a:bodyPr wrap="square" lIns="0" tIns="0" rIns="0" bIns="0" rtlCol="0" anchor="ctr"/>
          <a:lstStyle/>
          <a:p>
            <a:pPr algn="ctr" indent="0" marL="0">
              <a:buNone/>
            </a:pPr>
            <a:r>
              <a:rPr lang="en-US" sz="1000" i="1" dirty="0">
                <a:solidFill>
                  <a:srgbClr val="9A9AA5"/>
                </a:solidFill>
                <a:latin typeface="Calibri" pitchFamily="34" charset="0"/>
                <a:ea typeface="Calibri" pitchFamily="34" charset="-122"/>
                <a:cs typeface="Calibri" pitchFamily="34" charset="-120"/>
              </a:rPr>
              <a:t>Móvil — sesión activa, serie a serie</a:t>
            </a:r>
            <a:endParaRPr lang="en-US" sz="1000" dirty="0"/>
          </a:p>
        </p:txBody>
      </p:sp>
      <p:sp>
        <p:nvSpPr>
          <p:cNvPr id="9" name="Shape 5"/>
          <p:cNvSpPr/>
          <p:nvPr/>
        </p:nvSpPr>
        <p:spPr>
          <a:xfrm>
            <a:off x="4480560" y="1783080"/>
            <a:ext cx="6766560" cy="1371600"/>
          </a:xfrm>
          <a:prstGeom prst="roundRect">
            <a:avLst>
              <a:gd name="adj" fmla="val 9333"/>
            </a:avLst>
          </a:prstGeom>
          <a:solidFill>
            <a:srgbClr val="16161B"/>
          </a:solidFill>
          <a:ln w="12700">
            <a:solidFill>
              <a:srgbClr val="33333B"/>
            </a:solidFill>
            <a:prstDash val="solid"/>
          </a:ln>
        </p:spPr>
      </p:sp>
      <p:sp>
        <p:nvSpPr>
          <p:cNvPr id="10" name="Text 6"/>
          <p:cNvSpPr/>
          <p:nvPr/>
        </p:nvSpPr>
        <p:spPr>
          <a:xfrm>
            <a:off x="4800600" y="1965960"/>
            <a:ext cx="6217920" cy="36576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Registro serie a serie</a:t>
            </a:r>
            <a:endParaRPr lang="en-US" sz="1600" dirty="0"/>
          </a:p>
        </p:txBody>
      </p:sp>
      <p:sp>
        <p:nvSpPr>
          <p:cNvPr id="11" name="Text 7"/>
          <p:cNvSpPr/>
          <p:nvPr/>
        </p:nvSpPr>
        <p:spPr>
          <a:xfrm>
            <a:off x="4800600" y="2350008"/>
            <a:ext cx="6217920" cy="731520"/>
          </a:xfrm>
          <a:prstGeom prst="rect">
            <a:avLst/>
          </a:prstGeom>
          <a:noFill/>
          <a:ln/>
        </p:spPr>
        <p:txBody>
          <a:bodyPr wrap="square" lIns="0" tIns="0" rIns="0" bIns="0" rtlCol="0" anchor="t"/>
          <a:lstStyle/>
          <a:p>
            <a:pPr indent="0" marL="0">
              <a:buNone/>
            </a:pPr>
            <a:r>
              <a:rPr lang="en-US" sz="1250" dirty="0">
                <a:solidFill>
                  <a:srgbClr val="9A9AA5"/>
                </a:solidFill>
                <a:latin typeface="Calibri" pitchFamily="34" charset="0"/>
                <a:ea typeface="Calibri" pitchFamily="34" charset="-122"/>
                <a:cs typeface="Calibri" pitchFamily="34" charset="-120"/>
              </a:rPr>
              <a:t>Carga y repeticiones ajustables al momento; una serie se marca completada con un toque.</a:t>
            </a:r>
            <a:endParaRPr lang="en-US" sz="1250" dirty="0"/>
          </a:p>
        </p:txBody>
      </p:sp>
      <p:sp>
        <p:nvSpPr>
          <p:cNvPr id="12" name="Shape 8"/>
          <p:cNvSpPr/>
          <p:nvPr/>
        </p:nvSpPr>
        <p:spPr>
          <a:xfrm>
            <a:off x="4480560" y="3291840"/>
            <a:ext cx="6766560" cy="1371600"/>
          </a:xfrm>
          <a:prstGeom prst="roundRect">
            <a:avLst>
              <a:gd name="adj" fmla="val 9333"/>
            </a:avLst>
          </a:prstGeom>
          <a:solidFill>
            <a:srgbClr val="16161B"/>
          </a:solidFill>
          <a:ln w="12700">
            <a:solidFill>
              <a:srgbClr val="33333B"/>
            </a:solidFill>
            <a:prstDash val="solid"/>
          </a:ln>
        </p:spPr>
      </p:sp>
      <p:sp>
        <p:nvSpPr>
          <p:cNvPr id="13" name="Text 9"/>
          <p:cNvSpPr/>
          <p:nvPr/>
        </p:nvSpPr>
        <p:spPr>
          <a:xfrm>
            <a:off x="4800600" y="3474720"/>
            <a:ext cx="6217920" cy="36576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Funciona sin cobertura</a:t>
            </a:r>
            <a:endParaRPr lang="en-US" sz="1600" dirty="0"/>
          </a:p>
        </p:txBody>
      </p:sp>
      <p:sp>
        <p:nvSpPr>
          <p:cNvPr id="14" name="Text 10"/>
          <p:cNvSpPr/>
          <p:nvPr/>
        </p:nvSpPr>
        <p:spPr>
          <a:xfrm>
            <a:off x="4800600" y="3858768"/>
            <a:ext cx="6217920" cy="731520"/>
          </a:xfrm>
          <a:prstGeom prst="rect">
            <a:avLst/>
          </a:prstGeom>
          <a:noFill/>
          <a:ln/>
        </p:spPr>
        <p:txBody>
          <a:bodyPr wrap="square" lIns="0" tIns="0" rIns="0" bIns="0" rtlCol="0" anchor="t"/>
          <a:lstStyle/>
          <a:p>
            <a:pPr indent="0" marL="0">
              <a:buNone/>
            </a:pPr>
            <a:r>
              <a:rPr lang="en-US" sz="1250" dirty="0">
                <a:solidFill>
                  <a:srgbClr val="9A9AA5"/>
                </a:solidFill>
                <a:latin typeface="Calibri" pitchFamily="34" charset="0"/>
                <a:ea typeface="Calibri" pitchFamily="34" charset="-122"/>
                <a:cs typeface="Calibri" pitchFamily="34" charset="-120"/>
              </a:rPr>
              <a:t>Se guarda en el móvil y se sincroniza solo al recuperar la conexión. En el gimnasio casi nunca hay señal.</a:t>
            </a:r>
            <a:endParaRPr lang="en-US" sz="1250" dirty="0"/>
          </a:p>
        </p:txBody>
      </p:sp>
      <p:sp>
        <p:nvSpPr>
          <p:cNvPr id="15" name="Shape 11"/>
          <p:cNvSpPr/>
          <p:nvPr/>
        </p:nvSpPr>
        <p:spPr>
          <a:xfrm>
            <a:off x="4480560" y="4800600"/>
            <a:ext cx="6766560" cy="1371600"/>
          </a:xfrm>
          <a:prstGeom prst="roundRect">
            <a:avLst>
              <a:gd name="adj" fmla="val 9333"/>
            </a:avLst>
          </a:prstGeom>
          <a:solidFill>
            <a:srgbClr val="16161B"/>
          </a:solidFill>
          <a:ln w="12700">
            <a:solidFill>
              <a:srgbClr val="33333B"/>
            </a:solidFill>
            <a:prstDash val="solid"/>
          </a:ln>
        </p:spPr>
      </p:sp>
      <p:sp>
        <p:nvSpPr>
          <p:cNvPr id="16" name="Text 12"/>
          <p:cNvSpPr/>
          <p:nvPr/>
        </p:nvSpPr>
        <p:spPr>
          <a:xfrm>
            <a:off x="4800600" y="4983480"/>
            <a:ext cx="6217920" cy="36576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Progreso automático</a:t>
            </a:r>
            <a:endParaRPr lang="en-US" sz="1600" dirty="0"/>
          </a:p>
        </p:txBody>
      </p:sp>
      <p:sp>
        <p:nvSpPr>
          <p:cNvPr id="17" name="Text 13"/>
          <p:cNvSpPr/>
          <p:nvPr/>
        </p:nvSpPr>
        <p:spPr>
          <a:xfrm>
            <a:off x="4800600" y="5367528"/>
            <a:ext cx="6217920" cy="731520"/>
          </a:xfrm>
          <a:prstGeom prst="rect">
            <a:avLst/>
          </a:prstGeom>
          <a:noFill/>
          <a:ln/>
        </p:spPr>
        <p:txBody>
          <a:bodyPr wrap="square" lIns="0" tIns="0" rIns="0" bIns="0" rtlCol="0" anchor="t"/>
          <a:lstStyle/>
          <a:p>
            <a:pPr indent="0" marL="0">
              <a:buNone/>
            </a:pPr>
            <a:r>
              <a:rPr lang="en-US" sz="1250" dirty="0">
                <a:solidFill>
                  <a:srgbClr val="9A9AA5"/>
                </a:solidFill>
                <a:latin typeface="Calibri" pitchFamily="34" charset="0"/>
                <a:ea typeface="Calibri" pitchFamily="34" charset="-122"/>
                <a:cs typeface="Calibri" pitchFamily="34" charset="-120"/>
              </a:rPr>
              <a:t>Adherencia, volumen semanal, racha y récords personales por ejercicio, sin ningún cálculo manual.</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PRODUCTO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Asistente por voz</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Ajustar el entreno hablando, sin soltar la barra</a:t>
            </a:r>
            <a:endParaRPr lang="en-US" sz="1500" dirty="0"/>
          </a:p>
        </p:txBody>
      </p:sp>
      <p:sp>
        <p:nvSpPr>
          <p:cNvPr id="6" name="Shape 3"/>
          <p:cNvSpPr/>
          <p:nvPr/>
        </p:nvSpPr>
        <p:spPr>
          <a:xfrm>
            <a:off x="1261363" y="1691640"/>
            <a:ext cx="2232154" cy="4617720"/>
          </a:xfrm>
          <a:prstGeom prst="roundRect">
            <a:avLst>
              <a:gd name="adj" fmla="val 5735"/>
            </a:avLst>
          </a:prstGeom>
          <a:solidFill>
            <a:srgbClr val="1F1F25"/>
          </a:solidFill>
          <a:ln w="12700">
            <a:solidFill>
              <a:srgbClr val="33333B"/>
            </a:solidFill>
            <a:prstDash val="solid"/>
          </a:ln>
        </p:spPr>
      </p:sp>
      <p:pic>
        <p:nvPicPr>
          <p:cNvPr id="7" name="Image 0" descr="/home/claude/deck-product/screens/mobile-voice.png">    </p:cNvPr>
          <p:cNvPicPr>
            <a:picLocks noChangeAspect="1"/>
          </p:cNvPicPr>
          <p:nvPr/>
        </p:nvPicPr>
        <p:blipFill>
          <a:blip r:embed="rId1"/>
          <a:stretch>
            <a:fillRect/>
          </a:stretch>
        </p:blipFill>
        <p:spPr>
          <a:xfrm>
            <a:off x="1352803" y="1783080"/>
            <a:ext cx="2049274" cy="4434840"/>
          </a:xfrm>
          <a:prstGeom prst="rect">
            <a:avLst/>
          </a:prstGeom>
        </p:spPr>
      </p:pic>
      <p:sp>
        <p:nvSpPr>
          <p:cNvPr id="8" name="Text 4"/>
          <p:cNvSpPr/>
          <p:nvPr/>
        </p:nvSpPr>
        <p:spPr>
          <a:xfrm>
            <a:off x="685800" y="6364224"/>
            <a:ext cx="3383280" cy="274320"/>
          </a:xfrm>
          <a:prstGeom prst="rect">
            <a:avLst/>
          </a:prstGeom>
          <a:noFill/>
          <a:ln/>
        </p:spPr>
        <p:txBody>
          <a:bodyPr wrap="square" lIns="0" tIns="0" rIns="0" bIns="0" rtlCol="0" anchor="ctr"/>
          <a:lstStyle/>
          <a:p>
            <a:pPr algn="ctr" indent="0" marL="0">
              <a:buNone/>
            </a:pPr>
            <a:r>
              <a:rPr lang="en-US" sz="1000" i="1" dirty="0">
                <a:solidFill>
                  <a:srgbClr val="9A9AA5"/>
                </a:solidFill>
                <a:latin typeface="Calibri" pitchFamily="34" charset="0"/>
                <a:ea typeface="Calibri" pitchFamily="34" charset="-122"/>
                <a:cs typeface="Calibri" pitchFamily="34" charset="-120"/>
              </a:rPr>
              <a:t>Móvil — conversación durante la sesión</a:t>
            </a:r>
            <a:endParaRPr lang="en-US" sz="1000" dirty="0"/>
          </a:p>
        </p:txBody>
      </p:sp>
      <p:sp>
        <p:nvSpPr>
          <p:cNvPr id="9" name="Shape 5"/>
          <p:cNvSpPr/>
          <p:nvPr/>
        </p:nvSpPr>
        <p:spPr>
          <a:xfrm>
            <a:off x="4480560" y="1783080"/>
            <a:ext cx="6766560" cy="1965960"/>
          </a:xfrm>
          <a:prstGeom prst="roundRect">
            <a:avLst>
              <a:gd name="adj" fmla="val 6512"/>
            </a:avLst>
          </a:prstGeom>
          <a:solidFill>
            <a:srgbClr val="16161B"/>
          </a:solidFill>
          <a:ln w="12700">
            <a:solidFill>
              <a:srgbClr val="33333B"/>
            </a:solidFill>
            <a:prstDash val="solid"/>
          </a:ln>
        </p:spPr>
      </p:sp>
      <p:sp>
        <p:nvSpPr>
          <p:cNvPr id="10" name="Text 6"/>
          <p:cNvSpPr/>
          <p:nvPr/>
        </p:nvSpPr>
        <p:spPr>
          <a:xfrm>
            <a:off x="4800600" y="1965960"/>
            <a:ext cx="6217920" cy="457200"/>
          </a:xfrm>
          <a:prstGeom prst="rect">
            <a:avLst/>
          </a:prstGeom>
          <a:noFill/>
          <a:ln/>
        </p:spPr>
        <p:txBody>
          <a:bodyPr wrap="square" lIns="0" tIns="0" rIns="0" bIns="0" rtlCol="0" anchor="ctr"/>
          <a:lstStyle/>
          <a:p>
            <a:pPr indent="0" marL="0">
              <a:buNone/>
            </a:pPr>
            <a:r>
              <a:rPr lang="en-US" sz="1600" b="1" i="1" dirty="0">
                <a:solidFill>
                  <a:srgbClr val="F5F5F7"/>
                </a:solidFill>
                <a:latin typeface="Arial" pitchFamily="34" charset="0"/>
                <a:ea typeface="Arial" pitchFamily="34" charset="-122"/>
                <a:cs typeface="Arial" pitchFamily="34" charset="-120"/>
              </a:rPr>
              <a:t>«Sube el peso del press a 40 kilos»</a:t>
            </a:r>
            <a:endParaRPr lang="en-US" sz="1600" dirty="0"/>
          </a:p>
        </p:txBody>
      </p:sp>
      <p:sp>
        <p:nvSpPr>
          <p:cNvPr id="11" name="Text 7"/>
          <p:cNvSpPr/>
          <p:nvPr/>
        </p:nvSpPr>
        <p:spPr>
          <a:xfrm>
            <a:off x="4800600" y="2514600"/>
            <a:ext cx="6217920" cy="1097280"/>
          </a:xfrm>
          <a:prstGeom prst="rect">
            <a:avLst/>
          </a:prstGeom>
          <a:noFill/>
          <a:ln/>
        </p:spPr>
        <p:txBody>
          <a:bodyPr wrap="square" lIns="0" tIns="0" rIns="0" bIns="0" rtlCol="0" anchor="t"/>
          <a:lstStyle/>
          <a:p>
            <a:pPr indent="0" marL="0">
              <a:buNone/>
            </a:pPr>
            <a:r>
              <a:rPr lang="en-US" sz="1300" dirty="0">
                <a:solidFill>
                  <a:srgbClr val="9A9AA5"/>
                </a:solidFill>
                <a:latin typeface="Calibri" pitchFamily="34" charset="0"/>
                <a:ea typeface="Calibri" pitchFamily="34" charset="-122"/>
                <a:cs typeface="Calibri" pitchFamily="34" charset="-120"/>
              </a:rPr>
              <a:t>El sistema entiende la instrucción, actualiza la serie de hoy y confirma el cambio antes de seguir.</a:t>
            </a:r>
            <a:endParaRPr lang="en-US" sz="1300" dirty="0"/>
          </a:p>
        </p:txBody>
      </p:sp>
      <p:sp>
        <p:nvSpPr>
          <p:cNvPr id="12" name="Shape 8"/>
          <p:cNvSpPr/>
          <p:nvPr/>
        </p:nvSpPr>
        <p:spPr>
          <a:xfrm>
            <a:off x="4480560" y="3977640"/>
            <a:ext cx="6766560" cy="2331720"/>
          </a:xfrm>
          <a:prstGeom prst="roundRect">
            <a:avLst>
              <a:gd name="adj" fmla="val 5490"/>
            </a:avLst>
          </a:prstGeom>
          <a:solidFill>
            <a:srgbClr val="1F1F25"/>
          </a:solidFill>
          <a:ln w="12700">
            <a:solidFill>
              <a:srgbClr val="33333B"/>
            </a:solidFill>
            <a:prstDash val="solid"/>
          </a:ln>
        </p:spPr>
      </p:sp>
      <p:sp>
        <p:nvSpPr>
          <p:cNvPr id="13" name="Text 9"/>
          <p:cNvSpPr/>
          <p:nvPr/>
        </p:nvSpPr>
        <p:spPr>
          <a:xfrm>
            <a:off x="4800600" y="4160520"/>
            <a:ext cx="6217920" cy="365760"/>
          </a:xfrm>
          <a:prstGeom prst="rect">
            <a:avLst/>
          </a:prstGeom>
          <a:noFill/>
          <a:ln/>
        </p:spPr>
        <p:txBody>
          <a:bodyPr wrap="square" lIns="0" tIns="0" rIns="0" bIns="0" rtlCol="0" anchor="ctr"/>
          <a:lstStyle/>
          <a:p>
            <a:pPr indent="0" marL="0">
              <a:buNone/>
            </a:pPr>
            <a:r>
              <a:rPr lang="en-US" sz="1500" b="1" dirty="0">
                <a:solidFill>
                  <a:srgbClr val="A8F060"/>
                </a:solidFill>
                <a:latin typeface="Arial" pitchFamily="34" charset="0"/>
                <a:ea typeface="Arial" pitchFamily="34" charset="-122"/>
                <a:cs typeface="Arial" pitchFamily="34" charset="-120"/>
              </a:rPr>
              <a:t>La misma vía, dos momentos</a:t>
            </a:r>
            <a:endParaRPr lang="en-US" sz="1500" dirty="0"/>
          </a:p>
        </p:txBody>
      </p:sp>
      <p:sp>
        <p:nvSpPr>
          <p:cNvPr id="14" name="Text 10"/>
          <p:cNvSpPr/>
          <p:nvPr/>
        </p:nvSpPr>
        <p:spPr>
          <a:xfrm>
            <a:off x="4800600" y="4572000"/>
            <a:ext cx="6217920" cy="1554480"/>
          </a:xfrm>
          <a:prstGeom prst="rect">
            <a:avLst/>
          </a:prstGeom>
          <a:noFill/>
          <a:ln/>
        </p:spPr>
        <p:txBody>
          <a:bodyPr wrap="square" lIns="0" tIns="0" rIns="0" bIns="0" rtlCol="0" anchor="t"/>
          <a:lstStyle/>
          <a:p>
            <a:pPr indent="0" marL="0">
              <a:buNone/>
            </a:pPr>
            <a:r>
              <a:rPr lang="en-US" sz="1300" dirty="0">
                <a:solidFill>
                  <a:srgbClr val="9A9AA5"/>
                </a:solidFill>
                <a:latin typeface="Calibri" pitchFamily="34" charset="0"/>
                <a:ea typeface="Calibri" pitchFamily="34" charset="-122"/>
                <a:cs typeface="Calibri" pitchFamily="34" charset="-120"/>
              </a:rPr>
              <a:t>Al crear el plan, la voz sirve para contar matices que un formulario no recoge. Durante el entreno, sirve para ajustar sin soltar el móvil ni la barra. Es la misma capacidad conversacional en dos puntos distintos del recorrido.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PRODUCTO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Entrenador y Gimnasio</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Las mismas cuatro capacidades, con más alcance</a:t>
            </a:r>
            <a:endParaRPr lang="en-US" sz="1500" dirty="0"/>
          </a:p>
        </p:txBody>
      </p:sp>
      <p:sp>
        <p:nvSpPr>
          <p:cNvPr id="6" name="Shape 3"/>
          <p:cNvSpPr/>
          <p:nvPr/>
        </p:nvSpPr>
        <p:spPr>
          <a:xfrm>
            <a:off x="685800" y="1874520"/>
            <a:ext cx="5349240" cy="4160520"/>
          </a:xfrm>
          <a:prstGeom prst="roundRect">
            <a:avLst>
              <a:gd name="adj" fmla="val 3077"/>
            </a:avLst>
          </a:prstGeom>
          <a:solidFill>
            <a:srgbClr val="16161B"/>
          </a:solidFill>
          <a:ln w="12700">
            <a:solidFill>
              <a:srgbClr val="33333B"/>
            </a:solidFill>
            <a:prstDash val="solid"/>
          </a:ln>
        </p:spPr>
      </p:sp>
      <p:sp>
        <p:nvSpPr>
          <p:cNvPr id="7" name="Text 4"/>
          <p:cNvSpPr/>
          <p:nvPr/>
        </p:nvSpPr>
        <p:spPr>
          <a:xfrm>
            <a:off x="1051560" y="2057400"/>
            <a:ext cx="4617720" cy="365760"/>
          </a:xfrm>
          <a:prstGeom prst="rect">
            <a:avLst/>
          </a:prstGeom>
          <a:noFill/>
          <a:ln/>
        </p:spPr>
        <p:txBody>
          <a:bodyPr wrap="square" lIns="0" tIns="0" rIns="0" bIns="0" rtlCol="0" anchor="ctr"/>
          <a:lstStyle/>
          <a:p>
            <a:pPr indent="0" marL="0">
              <a:buNone/>
            </a:pPr>
            <a:r>
              <a:rPr lang="en-US" sz="1900" b="1" dirty="0">
                <a:solidFill>
                  <a:srgbClr val="A8F060"/>
                </a:solidFill>
                <a:latin typeface="Arial" pitchFamily="34" charset="0"/>
                <a:ea typeface="Arial" pitchFamily="34" charset="-122"/>
                <a:cs typeface="Arial" pitchFamily="34" charset="-120"/>
              </a:rPr>
              <a:t>Entrenador</a:t>
            </a:r>
            <a:endParaRPr lang="en-US" sz="1900" dirty="0"/>
          </a:p>
        </p:txBody>
      </p:sp>
      <p:sp>
        <p:nvSpPr>
          <p:cNvPr id="8" name="Text 5"/>
          <p:cNvSpPr/>
          <p:nvPr/>
        </p:nvSpPr>
        <p:spPr>
          <a:xfrm>
            <a:off x="1051560" y="2514600"/>
            <a:ext cx="4663440" cy="21031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F5F5F7"/>
                </a:solidFill>
                <a:latin typeface="Calibri" pitchFamily="34" charset="0"/>
                <a:ea typeface="Calibri" pitchFamily="34" charset="-122"/>
                <a:cs typeface="Calibri" pitchFamily="34" charset="-120"/>
              </a:rPr>
              <a:t>Invita clientes y crea planes en su nombre dentro de su propio tenant</a:t>
            </a:r>
            <a:endParaRPr lang="en-US" sz="1300" dirty="0"/>
          </a:p>
          <a:p>
            <a:pPr marL="342900" indent="-342900">
              <a:spcAft>
                <a:spcPts val="1000"/>
              </a:spcAft>
              <a:buSzPct val="100000"/>
              <a:buChar char="•"/>
            </a:pPr>
            <a:r>
              <a:rPr lang="en-US" sz="1300" dirty="0">
                <a:solidFill>
                  <a:srgbClr val="F5F5F7"/>
                </a:solidFill>
                <a:latin typeface="Calibri" pitchFamily="34" charset="0"/>
                <a:ea typeface="Calibri" pitchFamily="34" charset="-122"/>
                <a:cs typeface="Calibri" pitchFamily="34" charset="-120"/>
              </a:rPr>
              <a:t>Panel de progreso por cliente: tendencia de RPE, cumplimiento, últimas sesiones</a:t>
            </a:r>
            <a:endParaRPr lang="en-US" sz="1300" dirty="0"/>
          </a:p>
          <a:p>
            <a:pPr marL="342900" indent="-342900">
              <a:spcAft>
                <a:spcPts val="1000"/>
              </a:spcAft>
              <a:buSzPct val="100000"/>
              <a:buChar char="•"/>
            </a:pPr>
            <a:r>
              <a:rPr lang="en-US" sz="1300" dirty="0">
                <a:solidFill>
                  <a:srgbClr val="F5F5F7"/>
                </a:solidFill>
                <a:latin typeface="Calibri" pitchFamily="34" charset="0"/>
                <a:ea typeface="Calibri" pitchFamily="34" charset="-122"/>
                <a:cs typeface="Calibri" pitchFamily="34" charset="-120"/>
              </a:rPr>
              <a:t>Planes con marca propia — nombre, título y color de acento — en web y móvil</a:t>
            </a:r>
            <a:endParaRPr lang="en-US" sz="1300" dirty="0"/>
          </a:p>
          <a:p>
            <a:pPr marL="342900" indent="-342900">
              <a:spcAft>
                <a:spcPts val="1000"/>
              </a:spcAft>
              <a:buSzPct val="100000"/>
              <a:buChar char="•"/>
            </a:pPr>
            <a:r>
              <a:rPr lang="en-US" sz="1300" dirty="0">
                <a:solidFill>
                  <a:srgbClr val="F5F5F7"/>
                </a:solidFill>
                <a:latin typeface="Calibri" pitchFamily="34" charset="0"/>
                <a:ea typeface="Calibri" pitchFamily="34" charset="-122"/>
                <a:cs typeface="Calibri" pitchFamily="34" charset="-120"/>
              </a:rPr>
              <a:t>El cliente conserva la propiedad de sus datos; el entrenador actúa, no posee</a:t>
            </a:r>
            <a:endParaRPr lang="en-US" sz="1300" dirty="0"/>
          </a:p>
        </p:txBody>
      </p:sp>
      <p:sp>
        <p:nvSpPr>
          <p:cNvPr id="9" name="Shape 6"/>
          <p:cNvSpPr/>
          <p:nvPr/>
        </p:nvSpPr>
        <p:spPr>
          <a:xfrm>
            <a:off x="1051560" y="4754880"/>
            <a:ext cx="4663440" cy="1097280"/>
          </a:xfrm>
          <a:prstGeom prst="roundRect">
            <a:avLst>
              <a:gd name="adj" fmla="val 11667"/>
            </a:avLst>
          </a:prstGeom>
          <a:solidFill>
            <a:srgbClr val="1F1F25"/>
          </a:solidFill>
          <a:ln w="12700">
            <a:solidFill>
              <a:srgbClr val="33333B"/>
            </a:solidFill>
            <a:prstDash val="solid"/>
          </a:ln>
        </p:spPr>
      </p:sp>
      <p:sp>
        <p:nvSpPr>
          <p:cNvPr id="10" name="Text 7"/>
          <p:cNvSpPr/>
          <p:nvPr/>
        </p:nvSpPr>
        <p:spPr>
          <a:xfrm>
            <a:off x="1280160" y="4892040"/>
            <a:ext cx="4206240" cy="274320"/>
          </a:xfrm>
          <a:prstGeom prst="rect">
            <a:avLst/>
          </a:prstGeom>
          <a:noFill/>
          <a:ln/>
        </p:spPr>
        <p:txBody>
          <a:bodyPr wrap="square" lIns="0" tIns="0" rIns="0" bIns="0" rtlCol="0" anchor="ctr"/>
          <a:lstStyle/>
          <a:p>
            <a:pPr indent="0" marL="0">
              <a:buNone/>
            </a:pPr>
            <a:r>
              <a:rPr lang="en-US" sz="1050" b="1" dirty="0">
                <a:solidFill>
                  <a:srgbClr val="A8F060"/>
                </a:solidFill>
                <a:latin typeface="Calibri" pitchFamily="34" charset="0"/>
                <a:ea typeface="Calibri" pitchFamily="34" charset="-122"/>
                <a:cs typeface="Calibri" pitchFamily="34" charset="-120"/>
              </a:rPr>
              <a:t>En producción</a:t>
            </a:r>
            <a:endParaRPr lang="en-US" sz="1050" dirty="0"/>
          </a:p>
        </p:txBody>
      </p:sp>
      <p:sp>
        <p:nvSpPr>
          <p:cNvPr id="11" name="Text 8"/>
          <p:cNvSpPr/>
          <p:nvPr/>
        </p:nvSpPr>
        <p:spPr>
          <a:xfrm>
            <a:off x="1280160" y="5138928"/>
            <a:ext cx="4206240" cy="640080"/>
          </a:xfrm>
          <a:prstGeom prst="rect">
            <a:avLst/>
          </a:prstGeom>
          <a:noFill/>
          <a:ln/>
        </p:spPr>
        <p:txBody>
          <a:bodyPr wrap="square" lIns="0" tIns="0" rIns="0" bIns="0" rtlCol="0" anchor="ctr"/>
          <a:lstStyle/>
          <a:p>
            <a:pPr indent="0" marL="0">
              <a:buNone/>
            </a:pPr>
            <a:r>
              <a:rPr lang="en-US" sz="1150" dirty="0">
                <a:solidFill>
                  <a:srgbClr val="9A9AA5"/>
                </a:solidFill>
                <a:latin typeface="Calibri" pitchFamily="34" charset="0"/>
                <a:ea typeface="Calibri" pitchFamily="34" charset="-122"/>
                <a:cs typeface="Calibri" pitchFamily="34" charset="-120"/>
              </a:rPr>
              <a:t>Alta de clientes, planes de marca y panel de progreso ya están implementados y probados.</a:t>
            </a:r>
            <a:endParaRPr lang="en-US" sz="1150" dirty="0"/>
          </a:p>
        </p:txBody>
      </p:sp>
      <p:sp>
        <p:nvSpPr>
          <p:cNvPr id="12" name="Shape 9"/>
          <p:cNvSpPr/>
          <p:nvPr/>
        </p:nvSpPr>
        <p:spPr>
          <a:xfrm>
            <a:off x="6492240" y="1874520"/>
            <a:ext cx="5349240" cy="4160520"/>
          </a:xfrm>
          <a:prstGeom prst="roundRect">
            <a:avLst>
              <a:gd name="adj" fmla="val 3077"/>
            </a:avLst>
          </a:prstGeom>
          <a:solidFill>
            <a:srgbClr val="16161B"/>
          </a:solidFill>
          <a:ln w="12700">
            <a:solidFill>
              <a:srgbClr val="33333B"/>
            </a:solidFill>
            <a:prstDash val="solid"/>
          </a:ln>
        </p:spPr>
      </p:sp>
      <p:sp>
        <p:nvSpPr>
          <p:cNvPr id="13" name="Text 10"/>
          <p:cNvSpPr/>
          <p:nvPr/>
        </p:nvSpPr>
        <p:spPr>
          <a:xfrm>
            <a:off x="6858000" y="2057400"/>
            <a:ext cx="4617720" cy="365760"/>
          </a:xfrm>
          <a:prstGeom prst="rect">
            <a:avLst/>
          </a:prstGeom>
          <a:noFill/>
          <a:ln/>
        </p:spPr>
        <p:txBody>
          <a:bodyPr wrap="square" lIns="0" tIns="0" rIns="0" bIns="0" rtlCol="0" anchor="ctr"/>
          <a:lstStyle/>
          <a:p>
            <a:pPr indent="0" marL="0">
              <a:buNone/>
            </a:pPr>
            <a:r>
              <a:rPr lang="en-US" sz="1900" b="1" dirty="0">
                <a:solidFill>
                  <a:srgbClr val="A8F060"/>
                </a:solidFill>
                <a:latin typeface="Arial" pitchFamily="34" charset="0"/>
                <a:ea typeface="Arial" pitchFamily="34" charset="-122"/>
                <a:cs typeface="Arial" pitchFamily="34" charset="-120"/>
              </a:rPr>
              <a:t>Gimnasio</a:t>
            </a:r>
            <a:endParaRPr lang="en-US" sz="1900" dirty="0"/>
          </a:p>
        </p:txBody>
      </p:sp>
      <p:sp>
        <p:nvSpPr>
          <p:cNvPr id="14" name="Text 11"/>
          <p:cNvSpPr/>
          <p:nvPr/>
        </p:nvSpPr>
        <p:spPr>
          <a:xfrm>
            <a:off x="6858000" y="2514600"/>
            <a:ext cx="4663440" cy="21031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F5F5F7"/>
                </a:solidFill>
                <a:latin typeface="Calibri" pitchFamily="34" charset="0"/>
                <a:ea typeface="Calibri" pitchFamily="34" charset="-122"/>
                <a:cs typeface="Calibri" pitchFamily="34" charset="-120"/>
              </a:rPr>
              <a:t>Marca blanca en subdominio propio: logo y paleta desde el login y en toda la app</a:t>
            </a:r>
            <a:endParaRPr lang="en-US" sz="1300" dirty="0"/>
          </a:p>
          <a:p>
            <a:pPr marL="342900" indent="-342900">
              <a:spcAft>
                <a:spcPts val="1000"/>
              </a:spcAft>
              <a:buSzPct val="100000"/>
              <a:buChar char="•"/>
            </a:pPr>
            <a:r>
              <a:rPr lang="en-US" sz="1300" dirty="0">
                <a:solidFill>
                  <a:srgbClr val="F5F5F7"/>
                </a:solidFill>
                <a:latin typeface="Calibri" pitchFamily="34" charset="0"/>
                <a:ea typeface="Calibri" pitchFamily="34" charset="-122"/>
                <a:cs typeface="Calibri" pitchFamily="34" charset="-120"/>
              </a:rPr>
              <a:t>El nivel se concede y revoca de forma auditada por un superadministrador</a:t>
            </a:r>
            <a:endParaRPr lang="en-US" sz="1300" dirty="0"/>
          </a:p>
          <a:p>
            <a:pPr marL="342900" indent="-342900">
              <a:spcAft>
                <a:spcPts val="1000"/>
              </a:spcAft>
              <a:buSzPct val="100000"/>
              <a:buChar char="•"/>
            </a:pPr>
            <a:r>
              <a:rPr lang="en-US" sz="1300" dirty="0">
                <a:solidFill>
                  <a:srgbClr val="F5F5F7"/>
                </a:solidFill>
                <a:latin typeface="Calibri" pitchFamily="34" charset="0"/>
                <a:ea typeface="Calibri" pitchFamily="34" charset="-122"/>
                <a:cs typeface="Calibri" pitchFamily="34" charset="-120"/>
              </a:rPr>
              <a:t>Facturación por asiento — diseñada, sin implementar: hoy es tarifa plana</a:t>
            </a:r>
            <a:endParaRPr lang="en-US" sz="1300" dirty="0"/>
          </a:p>
          <a:p>
            <a:pPr marL="342900" indent="-342900">
              <a:spcAft>
                <a:spcPts val="1000"/>
              </a:spcAft>
              <a:buSzPct val="100000"/>
              <a:buChar char="•"/>
            </a:pPr>
            <a:r>
              <a:rPr lang="en-US" sz="1300" dirty="0">
                <a:solidFill>
                  <a:srgbClr val="F5F5F7"/>
                </a:solidFill>
                <a:latin typeface="Calibri" pitchFamily="34" charset="0"/>
                <a:ea typeface="Calibri" pitchFamily="34" charset="-122"/>
                <a:cs typeface="Calibri" pitchFamily="34" charset="-120"/>
              </a:rPr>
              <a:t>Administración multisede — especificada, no iniciada</a:t>
            </a:r>
            <a:endParaRPr lang="en-US" sz="1300" dirty="0"/>
          </a:p>
        </p:txBody>
      </p:sp>
      <p:sp>
        <p:nvSpPr>
          <p:cNvPr id="15" name="Shape 12"/>
          <p:cNvSpPr/>
          <p:nvPr/>
        </p:nvSpPr>
        <p:spPr>
          <a:xfrm>
            <a:off x="6858000" y="4754880"/>
            <a:ext cx="4663440" cy="1097280"/>
          </a:xfrm>
          <a:prstGeom prst="roundRect">
            <a:avLst>
              <a:gd name="adj" fmla="val 11667"/>
            </a:avLst>
          </a:prstGeom>
          <a:solidFill>
            <a:srgbClr val="1F1F25"/>
          </a:solidFill>
          <a:ln w="12700">
            <a:solidFill>
              <a:srgbClr val="33333B"/>
            </a:solidFill>
            <a:prstDash val="solid"/>
          </a:ln>
        </p:spPr>
      </p:sp>
      <p:sp>
        <p:nvSpPr>
          <p:cNvPr id="16" name="Text 13"/>
          <p:cNvSpPr/>
          <p:nvPr/>
        </p:nvSpPr>
        <p:spPr>
          <a:xfrm>
            <a:off x="7086600" y="4892040"/>
            <a:ext cx="4206240" cy="274320"/>
          </a:xfrm>
          <a:prstGeom prst="rect">
            <a:avLst/>
          </a:prstGeom>
          <a:noFill/>
          <a:ln/>
        </p:spPr>
        <p:txBody>
          <a:bodyPr wrap="square" lIns="0" tIns="0" rIns="0" bIns="0" rtlCol="0" anchor="ctr"/>
          <a:lstStyle/>
          <a:p>
            <a:pPr indent="0" marL="0">
              <a:buNone/>
            </a:pPr>
            <a:r>
              <a:rPr lang="en-US" sz="1050" b="1" dirty="0">
                <a:solidFill>
                  <a:srgbClr val="E8C15A"/>
                </a:solidFill>
                <a:latin typeface="Calibri" pitchFamily="34" charset="0"/>
                <a:ea typeface="Calibri" pitchFamily="34" charset="-122"/>
                <a:cs typeface="Calibri" pitchFamily="34" charset="-120"/>
              </a:rPr>
              <a:t>Estado mixto, dicho sin adornos</a:t>
            </a:r>
            <a:endParaRPr lang="en-US" sz="1050" dirty="0"/>
          </a:p>
        </p:txBody>
      </p:sp>
      <p:sp>
        <p:nvSpPr>
          <p:cNvPr id="17" name="Text 14"/>
          <p:cNvSpPr/>
          <p:nvPr/>
        </p:nvSpPr>
        <p:spPr>
          <a:xfrm>
            <a:off x="7086600" y="5138928"/>
            <a:ext cx="4206240" cy="640080"/>
          </a:xfrm>
          <a:prstGeom prst="rect">
            <a:avLst/>
          </a:prstGeom>
          <a:noFill/>
          <a:ln/>
        </p:spPr>
        <p:txBody>
          <a:bodyPr wrap="square" lIns="0" tIns="0" rIns="0" bIns="0" rtlCol="0" anchor="ctr"/>
          <a:lstStyle/>
          <a:p>
            <a:pPr indent="0" marL="0">
              <a:buNone/>
            </a:pPr>
            <a:r>
              <a:rPr lang="en-US" sz="1150" dirty="0">
                <a:solidFill>
                  <a:srgbClr val="9A9AA5"/>
                </a:solidFill>
                <a:latin typeface="Calibri" pitchFamily="34" charset="0"/>
                <a:ea typeface="Calibri" pitchFamily="34" charset="-122"/>
                <a:cs typeface="Calibri" pitchFamily="34" charset="-120"/>
              </a:rPr>
              <a:t>La marca blanca funciona hoy. El asiento por cliente y la vista multisede son la diferencia entre una capacidad técnica y un nivel vendible.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PRODUCTO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IA gobernada, no una caja negra</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Los prompts viven en Langfuse; el coste se traza, el rendimiento aún no tiene métrica</a:t>
            </a:r>
            <a:endParaRPr lang="en-US" sz="1500" dirty="0"/>
          </a:p>
        </p:txBody>
      </p:sp>
      <p:sp>
        <p:nvSpPr>
          <p:cNvPr id="6" name="Shape 3"/>
          <p:cNvSpPr/>
          <p:nvPr/>
        </p:nvSpPr>
        <p:spPr>
          <a:xfrm>
            <a:off x="685800" y="1920240"/>
            <a:ext cx="5166360" cy="1828800"/>
          </a:xfrm>
          <a:prstGeom prst="roundRect">
            <a:avLst>
              <a:gd name="adj" fmla="val 7000"/>
            </a:avLst>
          </a:prstGeom>
          <a:solidFill>
            <a:srgbClr val="16161B"/>
          </a:solidFill>
          <a:ln w="12700">
            <a:solidFill>
              <a:srgbClr val="33333B"/>
            </a:solidFill>
            <a:prstDash val="solid"/>
          </a:ln>
        </p:spPr>
      </p:sp>
      <p:sp>
        <p:nvSpPr>
          <p:cNvPr id="7" name="Text 4"/>
          <p:cNvSpPr/>
          <p:nvPr/>
        </p:nvSpPr>
        <p:spPr>
          <a:xfrm>
            <a:off x="1005840" y="2148840"/>
            <a:ext cx="4526280" cy="502920"/>
          </a:xfrm>
          <a:prstGeom prst="rect">
            <a:avLst/>
          </a:prstGeom>
          <a:noFill/>
          <a:ln/>
        </p:spPr>
        <p:txBody>
          <a:bodyPr wrap="square" lIns="0" tIns="0" rIns="0" bIns="0" rtlCol="0" anchor="ctr"/>
          <a:lstStyle/>
          <a:p>
            <a:pPr indent="0" marL="0">
              <a:buNone/>
            </a:pPr>
            <a:r>
              <a:rPr lang="en-US" sz="1650" b="1" dirty="0">
                <a:solidFill>
                  <a:srgbClr val="A8F060"/>
                </a:solidFill>
                <a:latin typeface="Arial" pitchFamily="34" charset="0"/>
                <a:ea typeface="Arial" pitchFamily="34" charset="-122"/>
                <a:cs typeface="Arial" pitchFamily="34" charset="-120"/>
              </a:rPr>
              <a:t>Los prompts no viven en el código</a:t>
            </a:r>
            <a:endParaRPr lang="en-US" sz="1650" dirty="0"/>
          </a:p>
        </p:txBody>
      </p:sp>
      <p:sp>
        <p:nvSpPr>
          <p:cNvPr id="8" name="Text 5"/>
          <p:cNvSpPr/>
          <p:nvPr/>
        </p:nvSpPr>
        <p:spPr>
          <a:xfrm>
            <a:off x="1005840" y="2651760"/>
            <a:ext cx="4526280" cy="1005840"/>
          </a:xfrm>
          <a:prstGeom prst="rect">
            <a:avLst/>
          </a:prstGeom>
          <a:noFill/>
          <a:ln/>
        </p:spPr>
        <p:txBody>
          <a:bodyPr wrap="square" lIns="0" tIns="0" rIns="0" bIns="0" rtlCol="0" anchor="t"/>
          <a:lstStyle/>
          <a:p>
            <a:pPr indent="0" marL="0">
              <a:buNone/>
            </a:pPr>
            <a:r>
              <a:rPr lang="en-US" sz="1300" dirty="0">
                <a:solidFill>
                  <a:srgbClr val="9A9AA5"/>
                </a:solidFill>
                <a:latin typeface="Calibri" pitchFamily="34" charset="0"/>
                <a:ea typeface="Calibri" pitchFamily="34" charset="-122"/>
                <a:cs typeface="Calibri" pitchFamily="34" charset="-120"/>
              </a:rPr>
              <a:t>Versionados y editables en Langfuse, fuera del despliegue. Si el gestor falla o la plantilla no valida, el sistema cae a la versión compilada y sigue generando.</a:t>
            </a:r>
            <a:endParaRPr lang="en-US" sz="1300" dirty="0"/>
          </a:p>
        </p:txBody>
      </p:sp>
      <p:sp>
        <p:nvSpPr>
          <p:cNvPr id="9" name="Shape 6"/>
          <p:cNvSpPr/>
          <p:nvPr/>
        </p:nvSpPr>
        <p:spPr>
          <a:xfrm>
            <a:off x="6309360" y="1920240"/>
            <a:ext cx="5166360" cy="1828800"/>
          </a:xfrm>
          <a:prstGeom prst="roundRect">
            <a:avLst>
              <a:gd name="adj" fmla="val 7000"/>
            </a:avLst>
          </a:prstGeom>
          <a:solidFill>
            <a:srgbClr val="16161B"/>
          </a:solidFill>
          <a:ln w="12700">
            <a:solidFill>
              <a:srgbClr val="33333B"/>
            </a:solidFill>
            <a:prstDash val="solid"/>
          </a:ln>
        </p:spPr>
      </p:sp>
      <p:sp>
        <p:nvSpPr>
          <p:cNvPr id="10" name="Text 7"/>
          <p:cNvSpPr/>
          <p:nvPr/>
        </p:nvSpPr>
        <p:spPr>
          <a:xfrm>
            <a:off x="6629400" y="2148840"/>
            <a:ext cx="4526280" cy="502920"/>
          </a:xfrm>
          <a:prstGeom prst="rect">
            <a:avLst/>
          </a:prstGeom>
          <a:noFill/>
          <a:ln/>
        </p:spPr>
        <p:txBody>
          <a:bodyPr wrap="square" lIns="0" tIns="0" rIns="0" bIns="0" rtlCol="0" anchor="ctr"/>
          <a:lstStyle/>
          <a:p>
            <a:pPr indent="0" marL="0">
              <a:buNone/>
            </a:pPr>
            <a:r>
              <a:rPr lang="en-US" sz="1650" b="1" dirty="0">
                <a:solidFill>
                  <a:srgbClr val="A8F060"/>
                </a:solidFill>
                <a:latin typeface="Arial" pitchFamily="34" charset="0"/>
                <a:ea typeface="Arial" pitchFamily="34" charset="-122"/>
                <a:cs typeface="Arial" pitchFamily="34" charset="-120"/>
              </a:rPr>
              <a:t>Cada llamada queda trazada</a:t>
            </a:r>
            <a:endParaRPr lang="en-US" sz="1650" dirty="0"/>
          </a:p>
        </p:txBody>
      </p:sp>
      <p:sp>
        <p:nvSpPr>
          <p:cNvPr id="11" name="Text 8"/>
          <p:cNvSpPr/>
          <p:nvPr/>
        </p:nvSpPr>
        <p:spPr>
          <a:xfrm>
            <a:off x="6629400" y="2651760"/>
            <a:ext cx="4526280" cy="1005840"/>
          </a:xfrm>
          <a:prstGeom prst="rect">
            <a:avLst/>
          </a:prstGeom>
          <a:noFill/>
          <a:ln/>
        </p:spPr>
        <p:txBody>
          <a:bodyPr wrap="square" lIns="0" tIns="0" rIns="0" bIns="0" rtlCol="0" anchor="t"/>
          <a:lstStyle/>
          <a:p>
            <a:pPr indent="0" marL="0">
              <a:buNone/>
            </a:pPr>
            <a:r>
              <a:rPr lang="en-US" sz="1300" dirty="0">
                <a:solidFill>
                  <a:srgbClr val="9A9AA5"/>
                </a:solidFill>
                <a:latin typeface="Calibri" pitchFamily="34" charset="0"/>
                <a:ea typeface="Calibri" pitchFamily="34" charset="-122"/>
                <a:cs typeface="Calibri" pitchFamily="34" charset="-120"/>
              </a:rPr>
              <a:t>Proveedor, modelo, tokens y latencia de cada generación. Es la base para conocer el coste real de cada plan, no una estimación.</a:t>
            </a:r>
            <a:endParaRPr lang="en-US" sz="1300" dirty="0"/>
          </a:p>
        </p:txBody>
      </p:sp>
      <p:sp>
        <p:nvSpPr>
          <p:cNvPr id="12" name="Shape 9"/>
          <p:cNvSpPr/>
          <p:nvPr/>
        </p:nvSpPr>
        <p:spPr>
          <a:xfrm>
            <a:off x="685800" y="4023360"/>
            <a:ext cx="10789920" cy="1920240"/>
          </a:xfrm>
          <a:prstGeom prst="roundRect">
            <a:avLst>
              <a:gd name="adj" fmla="val 6667"/>
            </a:avLst>
          </a:prstGeom>
          <a:solidFill>
            <a:srgbClr val="1F1F25"/>
          </a:solidFill>
          <a:ln w="12700">
            <a:solidFill>
              <a:srgbClr val="33333B"/>
            </a:solidFill>
            <a:prstDash val="solid"/>
          </a:ln>
        </p:spPr>
      </p:sp>
      <p:sp>
        <p:nvSpPr>
          <p:cNvPr id="13" name="Text 10"/>
          <p:cNvSpPr/>
          <p:nvPr/>
        </p:nvSpPr>
        <p:spPr>
          <a:xfrm>
            <a:off x="1051560" y="4206240"/>
            <a:ext cx="10058400" cy="411480"/>
          </a:xfrm>
          <a:prstGeom prst="rect">
            <a:avLst/>
          </a:prstGeom>
          <a:noFill/>
          <a:ln/>
        </p:spPr>
        <p:txBody>
          <a:bodyPr wrap="square" lIns="0" tIns="0" rIns="0" bIns="0" rtlCol="0" anchor="ctr"/>
          <a:lstStyle/>
          <a:p>
            <a:pPr indent="0" marL="0">
              <a:buNone/>
            </a:pPr>
            <a:r>
              <a:rPr lang="en-US" sz="1800" b="1" dirty="0">
                <a:solidFill>
                  <a:srgbClr val="E8C15A"/>
                </a:solidFill>
                <a:latin typeface="Arial" pitchFamily="34" charset="0"/>
                <a:ea typeface="Arial" pitchFamily="34" charset="-122"/>
                <a:cs typeface="Arial" pitchFamily="34" charset="-120"/>
              </a:rPr>
              <a:t>Lo que falta: la métrica de rendimiento</a:t>
            </a:r>
            <a:endParaRPr lang="en-US" sz="1800" dirty="0"/>
          </a:p>
        </p:txBody>
      </p:sp>
      <p:sp>
        <p:nvSpPr>
          <p:cNvPr id="14" name="Text 11"/>
          <p:cNvSpPr/>
          <p:nvPr/>
        </p:nvSpPr>
        <p:spPr>
          <a:xfrm>
            <a:off x="1051560" y="4709160"/>
            <a:ext cx="10058400" cy="1143000"/>
          </a:xfrm>
          <a:prstGeom prst="rect">
            <a:avLst/>
          </a:prstGeom>
          <a:noFill/>
          <a:ln/>
        </p:spPr>
        <p:txBody>
          <a:bodyPr wrap="square" lIns="0" tIns="0" rIns="0" bIns="0" rtlCol="0" anchor="t"/>
          <a:lstStyle/>
          <a:p>
            <a:pPr indent="0" marL="0">
              <a:buNone/>
            </a:pPr>
            <a:r>
              <a:rPr lang="en-US" sz="1350" dirty="0">
                <a:solidFill>
                  <a:srgbClr val="F5F5F7"/>
                </a:solidFill>
                <a:latin typeface="Calibri" pitchFamily="34" charset="0"/>
                <a:ea typeface="Calibri" pitchFamily="34" charset="-122"/>
                <a:cs typeface="Calibri" pitchFamily="34" charset="-120"/>
              </a:rPr>
              <a:t>Se puede ver cuánto cuesta y cuánto tarda cada llamada al modelo. Lo que no existe todavía es una métrica de si el plan que produce esa llamada es mejor o peor que otro. Es la misma brecha en la que se apoya cada decisión de proveedor hoy: se cambia por coste y latencia, no por calidad, porque la calidad no se mide.</a:t>
            </a:r>
            <a:endParaRPr lang="en-US" sz="1350" dirty="0"/>
          </a:p>
        </p:txBody>
      </p:sp>
      <p:sp>
        <p:nvSpPr>
          <p:cNvPr id="15" name="Text 12"/>
          <p:cNvSpPr/>
          <p:nvPr/>
        </p:nvSpPr>
        <p:spPr>
          <a:xfrm>
            <a:off x="685800" y="6172200"/>
            <a:ext cx="10515600" cy="320040"/>
          </a:xfrm>
          <a:prstGeom prst="rect">
            <a:avLst/>
          </a:prstGeom>
          <a:noFill/>
          <a:ln/>
        </p:spPr>
        <p:txBody>
          <a:bodyPr wrap="square" lIns="0" tIns="0" rIns="0" bIns="0" rtlCol="0" anchor="ctr"/>
          <a:lstStyle/>
          <a:p>
            <a:pPr indent="0" marL="0">
              <a:buNone/>
            </a:pPr>
            <a:r>
              <a:rPr lang="en-US" sz="1100" i="1" dirty="0">
                <a:solidFill>
                  <a:srgbClr val="9A9AA5"/>
                </a:solidFill>
                <a:latin typeface="Calibri" pitchFamily="34" charset="0"/>
                <a:ea typeface="Calibri" pitchFamily="34" charset="-122"/>
                <a:cs typeface="Calibri" pitchFamily="34" charset="-120"/>
              </a:rPr>
              <a:t>Gestión de prompts y trazas: Langfuse, incorporado en el cambio 16e.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PRODUCTO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No fabricar datos</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El criterio que atraviesa todo el producto</a:t>
            </a:r>
            <a:endParaRPr lang="en-US" sz="1500" dirty="0"/>
          </a:p>
        </p:txBody>
      </p:sp>
      <p:sp>
        <p:nvSpPr>
          <p:cNvPr id="6" name="Shape 3"/>
          <p:cNvSpPr/>
          <p:nvPr/>
        </p:nvSpPr>
        <p:spPr>
          <a:xfrm>
            <a:off x="685800" y="1965960"/>
            <a:ext cx="5166360" cy="1417320"/>
          </a:xfrm>
          <a:prstGeom prst="roundRect">
            <a:avLst>
              <a:gd name="adj" fmla="val 9032"/>
            </a:avLst>
          </a:prstGeom>
          <a:solidFill>
            <a:srgbClr val="16161B"/>
          </a:solidFill>
          <a:ln w="12700">
            <a:solidFill>
              <a:srgbClr val="33333B"/>
            </a:solidFill>
            <a:prstDash val="solid"/>
          </a:ln>
        </p:spPr>
      </p:sp>
      <p:sp>
        <p:nvSpPr>
          <p:cNvPr id="7" name="Text 4"/>
          <p:cNvSpPr/>
          <p:nvPr/>
        </p:nvSpPr>
        <p:spPr>
          <a:xfrm>
            <a:off x="1005840" y="2167128"/>
            <a:ext cx="4526280" cy="36576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Días numerados</a:t>
            </a:r>
            <a:endParaRPr lang="en-US" sz="1600" dirty="0"/>
          </a:p>
        </p:txBody>
      </p:sp>
      <p:sp>
        <p:nvSpPr>
          <p:cNvPr id="8" name="Text 5"/>
          <p:cNvSpPr/>
          <p:nvPr/>
        </p:nvSpPr>
        <p:spPr>
          <a:xfrm>
            <a:off x="1005840" y="2560320"/>
            <a:ext cx="4526280" cy="685800"/>
          </a:xfrm>
          <a:prstGeom prst="rect">
            <a:avLst/>
          </a:prstGeom>
          <a:noFill/>
          <a:ln/>
        </p:spPr>
        <p:txBody>
          <a:bodyPr wrap="square" lIns="0" tIns="0" rIns="0" bIns="0" rtlCol="0" anchor="t"/>
          <a:lstStyle/>
          <a:p>
            <a:pPr indent="0" marL="0">
              <a:buNone/>
            </a:pPr>
            <a:r>
              <a:rPr lang="en-US" sz="1250" dirty="0">
                <a:solidFill>
                  <a:srgbClr val="9A9AA5"/>
                </a:solidFill>
                <a:latin typeface="Calibri" pitchFamily="34" charset="0"/>
                <a:ea typeface="Calibri" pitchFamily="34" charset="-122"/>
                <a:cs typeface="Calibri" pitchFamily="34" charset="-120"/>
              </a:rPr>
              <a:t>«Día 1», no «lunes». El modelo no tiene anclaje al calendario y fabricarlo sería engañoso.</a:t>
            </a:r>
            <a:endParaRPr lang="en-US" sz="1250" dirty="0"/>
          </a:p>
        </p:txBody>
      </p:sp>
      <p:sp>
        <p:nvSpPr>
          <p:cNvPr id="9" name="Shape 6"/>
          <p:cNvSpPr/>
          <p:nvPr/>
        </p:nvSpPr>
        <p:spPr>
          <a:xfrm>
            <a:off x="6309360" y="1965960"/>
            <a:ext cx="5166360" cy="1417320"/>
          </a:xfrm>
          <a:prstGeom prst="roundRect">
            <a:avLst>
              <a:gd name="adj" fmla="val 9032"/>
            </a:avLst>
          </a:prstGeom>
          <a:solidFill>
            <a:srgbClr val="16161B"/>
          </a:solidFill>
          <a:ln w="12700">
            <a:solidFill>
              <a:srgbClr val="33333B"/>
            </a:solidFill>
            <a:prstDash val="solid"/>
          </a:ln>
        </p:spPr>
      </p:sp>
      <p:sp>
        <p:nvSpPr>
          <p:cNvPr id="10" name="Text 7"/>
          <p:cNvSpPr/>
          <p:nvPr/>
        </p:nvSpPr>
        <p:spPr>
          <a:xfrm>
            <a:off x="6629400" y="2167128"/>
            <a:ext cx="4526280" cy="36576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Huecos honestos</a:t>
            </a:r>
            <a:endParaRPr lang="en-US" sz="1600" dirty="0"/>
          </a:p>
        </p:txBody>
      </p:sp>
      <p:sp>
        <p:nvSpPr>
          <p:cNvPr id="11" name="Text 8"/>
          <p:cNvSpPr/>
          <p:nvPr/>
        </p:nvSpPr>
        <p:spPr>
          <a:xfrm>
            <a:off x="6629400" y="2560320"/>
            <a:ext cx="4526280" cy="685800"/>
          </a:xfrm>
          <a:prstGeom prst="rect">
            <a:avLst/>
          </a:prstGeom>
          <a:noFill/>
          <a:ln/>
        </p:spPr>
        <p:txBody>
          <a:bodyPr wrap="square" lIns="0" tIns="0" rIns="0" bIns="0" rtlCol="0" anchor="t"/>
          <a:lstStyle/>
          <a:p>
            <a:pPr indent="0" marL="0">
              <a:buNone/>
            </a:pPr>
            <a:r>
              <a:rPr lang="en-US" sz="1250" dirty="0">
                <a:solidFill>
                  <a:srgbClr val="9A9AA5"/>
                </a:solidFill>
                <a:latin typeface="Calibri" pitchFamily="34" charset="0"/>
                <a:ea typeface="Calibri" pitchFamily="34" charset="-122"/>
                <a:cs typeface="Calibri" pitchFamily="34" charset="-120"/>
              </a:rPr>
              <a:t>Un indicador que no se puede calcular se deja vacío en lugar de estimarlo.</a:t>
            </a:r>
            <a:endParaRPr lang="en-US" sz="1250" dirty="0"/>
          </a:p>
        </p:txBody>
      </p:sp>
      <p:sp>
        <p:nvSpPr>
          <p:cNvPr id="12" name="Shape 9"/>
          <p:cNvSpPr/>
          <p:nvPr/>
        </p:nvSpPr>
        <p:spPr>
          <a:xfrm>
            <a:off x="685800" y="3657600"/>
            <a:ext cx="5166360" cy="1417320"/>
          </a:xfrm>
          <a:prstGeom prst="roundRect">
            <a:avLst>
              <a:gd name="adj" fmla="val 9032"/>
            </a:avLst>
          </a:prstGeom>
          <a:solidFill>
            <a:srgbClr val="16161B"/>
          </a:solidFill>
          <a:ln w="12700">
            <a:solidFill>
              <a:srgbClr val="33333B"/>
            </a:solidFill>
            <a:prstDash val="solid"/>
          </a:ln>
        </p:spPr>
      </p:sp>
      <p:sp>
        <p:nvSpPr>
          <p:cNvPr id="13" name="Text 10"/>
          <p:cNvSpPr/>
          <p:nvPr/>
        </p:nvSpPr>
        <p:spPr>
          <a:xfrm>
            <a:off x="1005840" y="3858768"/>
            <a:ext cx="4526280" cy="36576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Sin reproches</a:t>
            </a:r>
            <a:endParaRPr lang="en-US" sz="1600" dirty="0"/>
          </a:p>
        </p:txBody>
      </p:sp>
      <p:sp>
        <p:nvSpPr>
          <p:cNvPr id="14" name="Text 11"/>
          <p:cNvSpPr/>
          <p:nvPr/>
        </p:nvSpPr>
        <p:spPr>
          <a:xfrm>
            <a:off x="1005840" y="4251960"/>
            <a:ext cx="4526280" cy="685800"/>
          </a:xfrm>
          <a:prstGeom prst="rect">
            <a:avLst/>
          </a:prstGeom>
          <a:noFill/>
          <a:ln/>
        </p:spPr>
        <p:txBody>
          <a:bodyPr wrap="square" lIns="0" tIns="0" rIns="0" bIns="0" rtlCol="0" anchor="t"/>
          <a:lstStyle/>
          <a:p>
            <a:pPr indent="0" marL="0">
              <a:buNone/>
            </a:pPr>
            <a:r>
              <a:rPr lang="en-US" sz="1250" dirty="0">
                <a:solidFill>
                  <a:srgbClr val="9A9AA5"/>
                </a:solidFill>
                <a:latin typeface="Calibri" pitchFamily="34" charset="0"/>
                <a:ea typeface="Calibri" pitchFamily="34" charset="-122"/>
                <a:cs typeface="Calibri" pitchFamily="34" charset="-120"/>
              </a:rPr>
              <a:t>El panel semanal no tiene estado de «día perdido». La adherencia se informa, no se juzga.</a:t>
            </a:r>
            <a:endParaRPr lang="en-US" sz="1250" dirty="0"/>
          </a:p>
        </p:txBody>
      </p:sp>
      <p:sp>
        <p:nvSpPr>
          <p:cNvPr id="15" name="Shape 12"/>
          <p:cNvSpPr/>
          <p:nvPr/>
        </p:nvSpPr>
        <p:spPr>
          <a:xfrm>
            <a:off x="6309360" y="3657600"/>
            <a:ext cx="5166360" cy="1417320"/>
          </a:xfrm>
          <a:prstGeom prst="roundRect">
            <a:avLst>
              <a:gd name="adj" fmla="val 9032"/>
            </a:avLst>
          </a:prstGeom>
          <a:solidFill>
            <a:srgbClr val="16161B"/>
          </a:solidFill>
          <a:ln w="12700">
            <a:solidFill>
              <a:srgbClr val="33333B"/>
            </a:solidFill>
            <a:prstDash val="solid"/>
          </a:ln>
        </p:spPr>
      </p:sp>
      <p:sp>
        <p:nvSpPr>
          <p:cNvPr id="16" name="Text 13"/>
          <p:cNvSpPr/>
          <p:nvPr/>
        </p:nvSpPr>
        <p:spPr>
          <a:xfrm>
            <a:off x="6629400" y="3858768"/>
            <a:ext cx="4526280" cy="36576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Sin falsos cierres</a:t>
            </a:r>
            <a:endParaRPr lang="en-US" sz="1600" dirty="0"/>
          </a:p>
        </p:txBody>
      </p:sp>
      <p:sp>
        <p:nvSpPr>
          <p:cNvPr id="17" name="Text 14"/>
          <p:cNvSpPr/>
          <p:nvPr/>
        </p:nvSpPr>
        <p:spPr>
          <a:xfrm>
            <a:off x="6629400" y="4251960"/>
            <a:ext cx="4526280" cy="685800"/>
          </a:xfrm>
          <a:prstGeom prst="rect">
            <a:avLst/>
          </a:prstGeom>
          <a:noFill/>
          <a:ln/>
        </p:spPr>
        <p:txBody>
          <a:bodyPr wrap="square" lIns="0" tIns="0" rIns="0" bIns="0" rtlCol="0" anchor="t"/>
          <a:lstStyle/>
          <a:p>
            <a:pPr indent="0" marL="0">
              <a:buNone/>
            </a:pPr>
            <a:r>
              <a:rPr lang="en-US" sz="1250" dirty="0">
                <a:solidFill>
                  <a:srgbClr val="9A9AA5"/>
                </a:solidFill>
                <a:latin typeface="Calibri" pitchFamily="34" charset="0"/>
                <a:ea typeface="Calibri" pitchFamily="34" charset="-122"/>
                <a:cs typeface="Calibri" pitchFamily="34" charset="-120"/>
              </a:rPr>
              <a:t>Una sesión cerrada por inactividad no se marca como completada. Sería la misma mentira, una columna más allá.</a:t>
            </a:r>
            <a:endParaRPr lang="en-US" sz="1250" dirty="0"/>
          </a:p>
        </p:txBody>
      </p:sp>
      <p:sp>
        <p:nvSpPr>
          <p:cNvPr id="18" name="Shape 15"/>
          <p:cNvSpPr/>
          <p:nvPr/>
        </p:nvSpPr>
        <p:spPr>
          <a:xfrm>
            <a:off x="685800" y="5349240"/>
            <a:ext cx="10789920" cy="868680"/>
          </a:xfrm>
          <a:prstGeom prst="roundRect">
            <a:avLst>
              <a:gd name="adj" fmla="val 14737"/>
            </a:avLst>
          </a:prstGeom>
          <a:solidFill>
            <a:srgbClr val="1F1F25"/>
          </a:solidFill>
          <a:ln w="12700">
            <a:solidFill>
              <a:srgbClr val="33333B"/>
            </a:solidFill>
            <a:prstDash val="solid"/>
          </a:ln>
        </p:spPr>
      </p:sp>
      <p:sp>
        <p:nvSpPr>
          <p:cNvPr id="19" name="Text 16"/>
          <p:cNvSpPr/>
          <p:nvPr/>
        </p:nvSpPr>
        <p:spPr>
          <a:xfrm>
            <a:off x="1005840" y="5349240"/>
            <a:ext cx="10149840" cy="868680"/>
          </a:xfrm>
          <a:prstGeom prst="rect">
            <a:avLst/>
          </a:prstGeom>
          <a:noFill/>
          <a:ln/>
        </p:spPr>
        <p:txBody>
          <a:bodyPr wrap="square" lIns="0" tIns="0" rIns="0" bIns="0" rtlCol="0" anchor="ctr"/>
          <a:lstStyle/>
          <a:p>
            <a:pPr indent="0" marL="0">
              <a:buNone/>
            </a:pPr>
            <a:r>
              <a:rPr lang="en-US" sz="1600" dirty="0">
                <a:solidFill>
                  <a:srgbClr val="F5F5F7"/>
                </a:solidFill>
                <a:latin typeface="Calibri" pitchFamily="34" charset="0"/>
                <a:ea typeface="Calibri" pitchFamily="34" charset="-122"/>
                <a:cs typeface="Calibri" pitchFamily="34" charset="-120"/>
              </a:rPr>
              <a:t>Un producto que prefiere un hueco a un número inventado es un producto en el que se puede confiar.</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ESTADO ACTUAL</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Qué falta</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Lo que separa un trabajo terminado de un producto lanzable</a:t>
            </a:r>
            <a:endParaRPr lang="en-US" sz="1500" dirty="0"/>
          </a:p>
        </p:txBody>
      </p:sp>
      <p:sp>
        <p:nvSpPr>
          <p:cNvPr id="6" name="Shape 3"/>
          <p:cNvSpPr/>
          <p:nvPr/>
        </p:nvSpPr>
        <p:spPr>
          <a:xfrm>
            <a:off x="685800" y="1874520"/>
            <a:ext cx="10789920" cy="1143000"/>
          </a:xfrm>
          <a:prstGeom prst="roundRect">
            <a:avLst>
              <a:gd name="adj" fmla="val 11200"/>
            </a:avLst>
          </a:prstGeom>
          <a:solidFill>
            <a:srgbClr val="16161B"/>
          </a:solidFill>
          <a:ln w="12700">
            <a:solidFill>
              <a:srgbClr val="33333B"/>
            </a:solidFill>
            <a:prstDash val="solid"/>
          </a:ln>
        </p:spPr>
      </p:sp>
      <p:sp>
        <p:nvSpPr>
          <p:cNvPr id="7" name="Shape 4"/>
          <p:cNvSpPr/>
          <p:nvPr/>
        </p:nvSpPr>
        <p:spPr>
          <a:xfrm>
            <a:off x="1005840" y="2167128"/>
            <a:ext cx="548640" cy="548640"/>
          </a:xfrm>
          <a:prstGeom prst="ellipse">
            <a:avLst/>
          </a:prstGeom>
          <a:solidFill>
            <a:srgbClr val="A8F060"/>
          </a:solidFill>
          <a:ln w="12700">
            <a:solidFill>
              <a:srgbClr val="A8F060"/>
            </a:solidFill>
            <a:prstDash val="solid"/>
          </a:ln>
        </p:spPr>
      </p:sp>
      <p:sp>
        <p:nvSpPr>
          <p:cNvPr id="8" name="Text 5"/>
          <p:cNvSpPr/>
          <p:nvPr/>
        </p:nvSpPr>
        <p:spPr>
          <a:xfrm>
            <a:off x="1005840" y="2167128"/>
            <a:ext cx="548640" cy="548640"/>
          </a:xfrm>
          <a:prstGeom prst="rect">
            <a:avLst/>
          </a:prstGeom>
          <a:noFill/>
          <a:ln/>
        </p:spPr>
        <p:txBody>
          <a:bodyPr wrap="square" lIns="0" tIns="0" rIns="0" bIns="0" rtlCol="0" anchor="ctr"/>
          <a:lstStyle/>
          <a:p>
            <a:pPr algn="ctr" indent="0" marL="0">
              <a:buNone/>
            </a:pPr>
            <a:r>
              <a:rPr lang="en-US" sz="1600" b="1" dirty="0">
                <a:solidFill>
                  <a:srgbClr val="09090C"/>
                </a:solidFill>
                <a:latin typeface="Arial" pitchFamily="34" charset="0"/>
                <a:ea typeface="Arial" pitchFamily="34" charset="-122"/>
                <a:cs typeface="Arial" pitchFamily="34" charset="-120"/>
              </a:rPr>
              <a:t>1</a:t>
            </a:r>
            <a:endParaRPr lang="en-US" sz="1600" dirty="0"/>
          </a:p>
        </p:txBody>
      </p:sp>
      <p:sp>
        <p:nvSpPr>
          <p:cNvPr id="9" name="Text 6"/>
          <p:cNvSpPr/>
          <p:nvPr/>
        </p:nvSpPr>
        <p:spPr>
          <a:xfrm>
            <a:off x="1874520" y="2093976"/>
            <a:ext cx="5120640" cy="384048"/>
          </a:xfrm>
          <a:prstGeom prst="rect">
            <a:avLst/>
          </a:prstGeom>
          <a:noFill/>
          <a:ln/>
        </p:spPr>
        <p:txBody>
          <a:bodyPr wrap="square" lIns="0" tIns="0" rIns="0" bIns="0" rtlCol="0" anchor="ctr"/>
          <a:lstStyle/>
          <a:p>
            <a:pPr indent="0" marL="0">
              <a:buNone/>
            </a:pPr>
            <a:r>
              <a:rPr lang="en-US" sz="1700" b="1" dirty="0">
                <a:solidFill>
                  <a:srgbClr val="E8C15A"/>
                </a:solidFill>
                <a:latin typeface="Arial" pitchFamily="34" charset="0"/>
                <a:ea typeface="Arial" pitchFamily="34" charset="-122"/>
                <a:cs typeface="Arial" pitchFamily="34" charset="-120"/>
              </a:rPr>
              <a:t>Cero usuarios, cero validación clínica</a:t>
            </a:r>
            <a:endParaRPr lang="en-US" sz="1700" dirty="0"/>
          </a:p>
        </p:txBody>
      </p:sp>
      <p:sp>
        <p:nvSpPr>
          <p:cNvPr id="10" name="Text 7"/>
          <p:cNvSpPr/>
          <p:nvPr/>
        </p:nvSpPr>
        <p:spPr>
          <a:xfrm>
            <a:off x="1874520" y="2496312"/>
            <a:ext cx="9326880" cy="457200"/>
          </a:xfrm>
          <a:prstGeom prst="rect">
            <a:avLst/>
          </a:prstGeom>
          <a:noFill/>
          <a:ln/>
        </p:spPr>
        <p:txBody>
          <a:bodyPr wrap="square" lIns="0" tIns="0" rIns="0" bIns="0" rtlCol="0" anchor="ctr"/>
          <a:lstStyle/>
          <a:p>
            <a:pPr indent="0" marL="0">
              <a:buNone/>
            </a:pPr>
            <a:r>
              <a:rPr lang="en-US" sz="1300" dirty="0">
                <a:solidFill>
                  <a:srgbClr val="9A9AA5"/>
                </a:solidFill>
                <a:latin typeface="Calibri" pitchFamily="34" charset="0"/>
                <a:ea typeface="Calibri" pitchFamily="34" charset="-122"/>
                <a:cs typeface="Calibri" pitchFamily="34" charset="-120"/>
              </a:rPr>
              <a:t>Nadie lo ha usado y ningún profesional sanitario ha revisado el catálogo de sustituciones. Está verificado, no validado.</a:t>
            </a:r>
            <a:endParaRPr lang="en-US" sz="1300" dirty="0"/>
          </a:p>
        </p:txBody>
      </p:sp>
      <p:sp>
        <p:nvSpPr>
          <p:cNvPr id="11" name="Shape 8"/>
          <p:cNvSpPr/>
          <p:nvPr/>
        </p:nvSpPr>
        <p:spPr>
          <a:xfrm>
            <a:off x="685800" y="3172968"/>
            <a:ext cx="10789920" cy="1143000"/>
          </a:xfrm>
          <a:prstGeom prst="roundRect">
            <a:avLst>
              <a:gd name="adj" fmla="val 11200"/>
            </a:avLst>
          </a:prstGeom>
          <a:solidFill>
            <a:srgbClr val="16161B"/>
          </a:solidFill>
          <a:ln w="12700">
            <a:solidFill>
              <a:srgbClr val="33333B"/>
            </a:solidFill>
            <a:prstDash val="solid"/>
          </a:ln>
        </p:spPr>
      </p:sp>
      <p:sp>
        <p:nvSpPr>
          <p:cNvPr id="12" name="Shape 9"/>
          <p:cNvSpPr/>
          <p:nvPr/>
        </p:nvSpPr>
        <p:spPr>
          <a:xfrm>
            <a:off x="1005840" y="3465576"/>
            <a:ext cx="548640" cy="548640"/>
          </a:xfrm>
          <a:prstGeom prst="ellipse">
            <a:avLst/>
          </a:prstGeom>
          <a:solidFill>
            <a:srgbClr val="A8F060"/>
          </a:solidFill>
          <a:ln w="12700">
            <a:solidFill>
              <a:srgbClr val="A8F060"/>
            </a:solidFill>
            <a:prstDash val="solid"/>
          </a:ln>
        </p:spPr>
      </p:sp>
      <p:sp>
        <p:nvSpPr>
          <p:cNvPr id="13" name="Text 10"/>
          <p:cNvSpPr/>
          <p:nvPr/>
        </p:nvSpPr>
        <p:spPr>
          <a:xfrm>
            <a:off x="1005840" y="3465576"/>
            <a:ext cx="548640" cy="548640"/>
          </a:xfrm>
          <a:prstGeom prst="rect">
            <a:avLst/>
          </a:prstGeom>
          <a:noFill/>
          <a:ln/>
        </p:spPr>
        <p:txBody>
          <a:bodyPr wrap="square" lIns="0" tIns="0" rIns="0" bIns="0" rtlCol="0" anchor="ctr"/>
          <a:lstStyle/>
          <a:p>
            <a:pPr algn="ctr" indent="0" marL="0">
              <a:buNone/>
            </a:pPr>
            <a:r>
              <a:rPr lang="en-US" sz="1600" b="1" dirty="0">
                <a:solidFill>
                  <a:srgbClr val="09090C"/>
                </a:solidFill>
                <a:latin typeface="Arial" pitchFamily="34" charset="0"/>
                <a:ea typeface="Arial" pitchFamily="34" charset="-122"/>
                <a:cs typeface="Arial" pitchFamily="34" charset="-120"/>
              </a:rPr>
              <a:t>2</a:t>
            </a:r>
            <a:endParaRPr lang="en-US" sz="1600" dirty="0"/>
          </a:p>
        </p:txBody>
      </p:sp>
      <p:sp>
        <p:nvSpPr>
          <p:cNvPr id="14" name="Text 11"/>
          <p:cNvSpPr/>
          <p:nvPr/>
        </p:nvSpPr>
        <p:spPr>
          <a:xfrm>
            <a:off x="1874520" y="3392424"/>
            <a:ext cx="5120640" cy="384048"/>
          </a:xfrm>
          <a:prstGeom prst="rect">
            <a:avLst/>
          </a:prstGeom>
          <a:noFill/>
          <a:ln/>
        </p:spPr>
        <p:txBody>
          <a:bodyPr wrap="square" lIns="0" tIns="0" rIns="0" bIns="0" rtlCol="0" anchor="ctr"/>
          <a:lstStyle/>
          <a:p>
            <a:pPr indent="0" marL="0">
              <a:buNone/>
            </a:pPr>
            <a:r>
              <a:rPr lang="en-US" sz="1700" b="1" dirty="0">
                <a:solidFill>
                  <a:srgbClr val="E8C15A"/>
                </a:solidFill>
                <a:latin typeface="Arial" pitchFamily="34" charset="0"/>
                <a:ea typeface="Arial" pitchFamily="34" charset="-122"/>
                <a:cs typeface="Arial" pitchFamily="34" charset="-120"/>
              </a:rPr>
              <a:t>Calidad del plan generado</a:t>
            </a:r>
            <a:endParaRPr lang="en-US" sz="1700" dirty="0"/>
          </a:p>
        </p:txBody>
      </p:sp>
      <p:sp>
        <p:nvSpPr>
          <p:cNvPr id="15" name="Text 12"/>
          <p:cNvSpPr/>
          <p:nvPr/>
        </p:nvSpPr>
        <p:spPr>
          <a:xfrm>
            <a:off x="1874520" y="3794760"/>
            <a:ext cx="9326880" cy="457200"/>
          </a:xfrm>
          <a:prstGeom prst="rect">
            <a:avLst/>
          </a:prstGeom>
          <a:noFill/>
          <a:ln/>
        </p:spPr>
        <p:txBody>
          <a:bodyPr wrap="square" lIns="0" tIns="0" rIns="0" bIns="0" rtlCol="0" anchor="ctr"/>
          <a:lstStyle/>
          <a:p>
            <a:pPr indent="0" marL="0">
              <a:buNone/>
            </a:pPr>
            <a:r>
              <a:rPr lang="en-US" sz="1300" dirty="0">
                <a:solidFill>
                  <a:srgbClr val="9A9AA5"/>
                </a:solidFill>
                <a:latin typeface="Calibri" pitchFamily="34" charset="0"/>
                <a:ea typeface="Calibri" pitchFamily="34" charset="-122"/>
                <a:cs typeface="Calibri" pitchFamily="34" charset="-120"/>
              </a:rPr>
              <a:t>No hay forma de saber si cambiar de modelo mejora el producto. Es la pregunta abierta más importante.</a:t>
            </a:r>
            <a:endParaRPr lang="en-US" sz="1300" dirty="0"/>
          </a:p>
        </p:txBody>
      </p:sp>
      <p:sp>
        <p:nvSpPr>
          <p:cNvPr id="16" name="Shape 13"/>
          <p:cNvSpPr/>
          <p:nvPr/>
        </p:nvSpPr>
        <p:spPr>
          <a:xfrm>
            <a:off x="685800" y="4471416"/>
            <a:ext cx="10789920" cy="1143000"/>
          </a:xfrm>
          <a:prstGeom prst="roundRect">
            <a:avLst>
              <a:gd name="adj" fmla="val 11200"/>
            </a:avLst>
          </a:prstGeom>
          <a:solidFill>
            <a:srgbClr val="16161B"/>
          </a:solidFill>
          <a:ln w="12700">
            <a:solidFill>
              <a:srgbClr val="33333B"/>
            </a:solidFill>
            <a:prstDash val="solid"/>
          </a:ln>
        </p:spPr>
      </p:sp>
      <p:sp>
        <p:nvSpPr>
          <p:cNvPr id="17" name="Shape 14"/>
          <p:cNvSpPr/>
          <p:nvPr/>
        </p:nvSpPr>
        <p:spPr>
          <a:xfrm>
            <a:off x="1005840" y="4764024"/>
            <a:ext cx="548640" cy="548640"/>
          </a:xfrm>
          <a:prstGeom prst="ellipse">
            <a:avLst/>
          </a:prstGeom>
          <a:solidFill>
            <a:srgbClr val="A8F060"/>
          </a:solidFill>
          <a:ln w="12700">
            <a:solidFill>
              <a:srgbClr val="A8F060"/>
            </a:solidFill>
            <a:prstDash val="solid"/>
          </a:ln>
        </p:spPr>
      </p:sp>
      <p:sp>
        <p:nvSpPr>
          <p:cNvPr id="18" name="Text 15"/>
          <p:cNvSpPr/>
          <p:nvPr/>
        </p:nvSpPr>
        <p:spPr>
          <a:xfrm>
            <a:off x="1005840" y="4764024"/>
            <a:ext cx="548640" cy="548640"/>
          </a:xfrm>
          <a:prstGeom prst="rect">
            <a:avLst/>
          </a:prstGeom>
          <a:noFill/>
          <a:ln/>
        </p:spPr>
        <p:txBody>
          <a:bodyPr wrap="square" lIns="0" tIns="0" rIns="0" bIns="0" rtlCol="0" anchor="ctr"/>
          <a:lstStyle/>
          <a:p>
            <a:pPr algn="ctr" indent="0" marL="0">
              <a:buNone/>
            </a:pPr>
            <a:r>
              <a:rPr lang="en-US" sz="1600" b="1" dirty="0">
                <a:solidFill>
                  <a:srgbClr val="09090C"/>
                </a:solidFill>
                <a:latin typeface="Arial" pitchFamily="34" charset="0"/>
                <a:ea typeface="Arial" pitchFamily="34" charset="-122"/>
                <a:cs typeface="Arial" pitchFamily="34" charset="-120"/>
              </a:rPr>
              <a:t>3</a:t>
            </a:r>
            <a:endParaRPr lang="en-US" sz="1600" dirty="0"/>
          </a:p>
        </p:txBody>
      </p:sp>
      <p:sp>
        <p:nvSpPr>
          <p:cNvPr id="19" name="Text 16"/>
          <p:cNvSpPr/>
          <p:nvPr/>
        </p:nvSpPr>
        <p:spPr>
          <a:xfrm>
            <a:off x="1874520" y="4690872"/>
            <a:ext cx="5120640" cy="384048"/>
          </a:xfrm>
          <a:prstGeom prst="rect">
            <a:avLst/>
          </a:prstGeom>
          <a:noFill/>
          <a:ln/>
        </p:spPr>
        <p:txBody>
          <a:bodyPr wrap="square" lIns="0" tIns="0" rIns="0" bIns="0" rtlCol="0" anchor="ctr"/>
          <a:lstStyle/>
          <a:p>
            <a:pPr indent="0" marL="0">
              <a:buNone/>
            </a:pPr>
            <a:r>
              <a:rPr lang="en-US" sz="1700" b="1" dirty="0">
                <a:solidFill>
                  <a:srgbClr val="E8C15A"/>
                </a:solidFill>
                <a:latin typeface="Arial" pitchFamily="34" charset="0"/>
                <a:ea typeface="Arial" pitchFamily="34" charset="-122"/>
                <a:cs typeface="Arial" pitchFamily="34" charset="-120"/>
              </a:rPr>
              <a:t>Coste por usuario, correo y marco legal</a:t>
            </a:r>
            <a:endParaRPr lang="en-US" sz="1700" dirty="0"/>
          </a:p>
        </p:txBody>
      </p:sp>
      <p:sp>
        <p:nvSpPr>
          <p:cNvPr id="20" name="Text 17"/>
          <p:cNvSpPr/>
          <p:nvPr/>
        </p:nvSpPr>
        <p:spPr>
          <a:xfrm>
            <a:off x="1874520" y="5093208"/>
            <a:ext cx="9326880" cy="457200"/>
          </a:xfrm>
          <a:prstGeom prst="rect">
            <a:avLst/>
          </a:prstGeom>
          <a:noFill/>
          <a:ln/>
        </p:spPr>
        <p:txBody>
          <a:bodyPr wrap="square" lIns="0" tIns="0" rIns="0" bIns="0" rtlCol="0" anchor="ctr"/>
          <a:lstStyle/>
          <a:p>
            <a:pPr indent="0" marL="0">
              <a:buNone/>
            </a:pPr>
            <a:r>
              <a:rPr lang="en-US" sz="1300" dirty="0">
                <a:solidFill>
                  <a:srgbClr val="9A9AA5"/>
                </a:solidFill>
                <a:latin typeface="Calibri" pitchFamily="34" charset="0"/>
                <a:ea typeface="Calibri" pitchFamily="34" charset="-122"/>
                <a:cs typeface="Calibri" pitchFamily="34" charset="-120"/>
              </a:rPr>
              <a:t>Falta agregar el coste por tenant, el correo transaccional para lanzar de verdad, y el encaje del RGPD para datos de salud.</a:t>
            </a:r>
            <a:endParaRPr lang="en-US" sz="1300" dirty="0"/>
          </a:p>
        </p:txBody>
      </p:sp>
      <p:sp>
        <p:nvSpPr>
          <p:cNvPr id="21" name="Text 18"/>
          <p:cNvSpPr/>
          <p:nvPr/>
        </p:nvSpPr>
        <p:spPr>
          <a:xfrm>
            <a:off x="685800" y="5989320"/>
            <a:ext cx="10515600" cy="411480"/>
          </a:xfrm>
          <a:prstGeom prst="rect">
            <a:avLst/>
          </a:prstGeom>
          <a:noFill/>
          <a:ln/>
        </p:spPr>
        <p:txBody>
          <a:bodyPr wrap="square" lIns="0" tIns="0" rIns="0" bIns="0" rtlCol="0" anchor="ctr"/>
          <a:lstStyle/>
          <a:p>
            <a:pPr indent="0" marL="0">
              <a:buNone/>
            </a:pPr>
            <a:r>
              <a:rPr lang="en-US" sz="1300" dirty="0">
                <a:solidFill>
                  <a:srgbClr val="9A9AA5"/>
                </a:solidFill>
                <a:latin typeface="Calibri" pitchFamily="34" charset="0"/>
                <a:ea typeface="Calibri" pitchFamily="34" charset="-122"/>
                <a:cs typeface="Calibri" pitchFamily="34" charset="-120"/>
              </a:rPr>
              <a:t>Y cerrar la facturación por asiento y la administración multisede para que el nivel Gimnasio sea vendible.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090C"/>
        </a:solidFill>
      </p:bgPr>
    </p:bg>
    <p:spTree>
      <p:nvGrpSpPr>
        <p:cNvPr id="1" name=""/>
        <p:cNvGrpSpPr/>
        <p:nvPr/>
      </p:nvGrpSpPr>
      <p:grpSpPr>
        <a:xfrm>
          <a:off x="0" y="0"/>
          <a:ext cx="0" cy="0"/>
          <a:chOff x="0" y="0"/>
          <a:chExt cx="0" cy="0"/>
        </a:xfrm>
      </p:grpSpPr>
      <p:sp>
        <p:nvSpPr>
          <p:cNvPr id="3" name="Shape 0"/>
          <p:cNvSpPr/>
          <p:nvPr/>
        </p:nvSpPr>
        <p:spPr>
          <a:xfrm>
            <a:off x="-2011680" y="3108960"/>
            <a:ext cx="5852160" cy="5852160"/>
          </a:xfrm>
          <a:prstGeom prst="ellipse">
            <a:avLst/>
          </a:prstGeom>
          <a:solidFill>
            <a:srgbClr val="16161B"/>
          </a:solidFill>
          <a:ln w="12700">
            <a:solidFill>
              <a:srgbClr val="16161B"/>
            </a:solidFill>
            <a:prstDash val="solid"/>
          </a:ln>
        </p:spPr>
      </p:sp>
      <p:sp>
        <p:nvSpPr>
          <p:cNvPr id="4" name="Shape 1"/>
          <p:cNvSpPr/>
          <p:nvPr/>
        </p:nvSpPr>
        <p:spPr>
          <a:xfrm>
            <a:off x="-548640" y="4572000"/>
            <a:ext cx="2377440" cy="2377440"/>
          </a:xfrm>
          <a:prstGeom prst="ellipse">
            <a:avLst/>
          </a:prstGeom>
          <a:solidFill>
            <a:srgbClr val="A8F060"/>
          </a:solidFill>
          <a:ln w="12700">
            <a:solidFill>
              <a:srgbClr val="A8F060"/>
            </a:solidFill>
            <a:prstDash val="solid"/>
          </a:ln>
        </p:spPr>
      </p:sp>
      <p:sp>
        <p:nvSpPr>
          <p:cNvPr id="5" name="Text 2"/>
          <p:cNvSpPr/>
          <p:nvPr/>
        </p:nvSpPr>
        <p:spPr>
          <a:xfrm>
            <a:off x="3108960" y="2103120"/>
            <a:ext cx="8412480" cy="822960"/>
          </a:xfrm>
          <a:prstGeom prst="rect">
            <a:avLst/>
          </a:prstGeom>
          <a:noFill/>
          <a:ln/>
        </p:spPr>
        <p:txBody>
          <a:bodyPr wrap="square" lIns="0" tIns="0" rIns="0" bIns="0" rtlCol="0" anchor="ctr"/>
          <a:lstStyle/>
          <a:p>
            <a:pPr indent="0" marL="0">
              <a:buNone/>
            </a:pPr>
            <a:r>
              <a:rPr lang="en-US" sz="3200" b="1" dirty="0">
                <a:solidFill>
                  <a:srgbClr val="F5F5F7"/>
                </a:solidFill>
                <a:latin typeface="Arial" pitchFamily="34" charset="0"/>
                <a:ea typeface="Arial" pitchFamily="34" charset="-122"/>
                <a:cs typeface="Arial" pitchFamily="34" charset="-120"/>
              </a:rPr>
              <a:t>Un plan que tiene en cuenta el cuerpo real.</a:t>
            </a:r>
            <a:endParaRPr lang="en-US" sz="3200" dirty="0"/>
          </a:p>
        </p:txBody>
      </p:sp>
      <p:sp>
        <p:nvSpPr>
          <p:cNvPr id="6" name="Text 3"/>
          <p:cNvSpPr/>
          <p:nvPr/>
        </p:nvSpPr>
        <p:spPr>
          <a:xfrm>
            <a:off x="3108960" y="2880360"/>
            <a:ext cx="8412480" cy="822960"/>
          </a:xfrm>
          <a:prstGeom prst="rect">
            <a:avLst/>
          </a:prstGeom>
          <a:noFill/>
          <a:ln/>
        </p:spPr>
        <p:txBody>
          <a:bodyPr wrap="square" lIns="0" tIns="0" rIns="0" bIns="0" rtlCol="0" anchor="ctr"/>
          <a:lstStyle/>
          <a:p>
            <a:pPr indent="0" marL="0">
              <a:buNone/>
            </a:pPr>
            <a:r>
              <a:rPr lang="en-US" sz="3200" b="1" dirty="0">
                <a:solidFill>
                  <a:srgbClr val="A8F060"/>
                </a:solidFill>
                <a:latin typeface="Arial" pitchFamily="34" charset="0"/>
                <a:ea typeface="Arial" pitchFamily="34" charset="-122"/>
                <a:cs typeface="Arial" pitchFamily="34" charset="-120"/>
              </a:rPr>
              <a:t>Eso es kInorA.</a:t>
            </a:r>
            <a:endParaRPr lang="en-US" sz="3200" dirty="0"/>
          </a:p>
        </p:txBody>
      </p:sp>
      <p:sp>
        <p:nvSpPr>
          <p:cNvPr id="7" name="Text 4"/>
          <p:cNvSpPr/>
          <p:nvPr/>
        </p:nvSpPr>
        <p:spPr>
          <a:xfrm>
            <a:off x="3108960" y="3886200"/>
            <a:ext cx="8229600" cy="100584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La parte técnica —arquitectura, método de construcción con agentes, resultados y siguientes pasos de ingeniería— sigue en la segunda presentación.</a:t>
            </a:r>
            <a:endParaRPr lang="en-US" sz="1500" dirty="0"/>
          </a:p>
        </p:txBody>
      </p:sp>
      <p:sp>
        <p:nvSpPr>
          <p:cNvPr id="8" name="Text 5"/>
          <p:cNvSpPr/>
          <p:nvPr/>
        </p:nvSpPr>
        <p:spPr>
          <a:xfrm>
            <a:off x="4572000" y="5532120"/>
            <a:ext cx="6766560" cy="365760"/>
          </a:xfrm>
          <a:prstGeom prst="rect">
            <a:avLst/>
          </a:prstGeom>
          <a:noFill/>
          <a:ln/>
        </p:spPr>
        <p:txBody>
          <a:bodyPr wrap="square" lIns="0" tIns="0" rIns="0" bIns="0" rtlCol="0" anchor="ctr"/>
          <a:lstStyle/>
          <a:p>
            <a:pPr indent="0" marL="0">
              <a:buNone/>
            </a:pPr>
            <a:r>
              <a:rPr lang="en-US" sz="1400" dirty="0">
                <a:solidFill>
                  <a:srgbClr val="F5F5F7"/>
                </a:solidFill>
                <a:latin typeface="Calibri" pitchFamily="34" charset="0"/>
                <a:ea typeface="Calibri" pitchFamily="34" charset="-122"/>
                <a:cs typeface="Calibri" pitchFamily="34" charset="-120"/>
              </a:rPr>
              <a:t>kInorA   ·   Aitor Ruiz de Samaniego   ·   Gracias por su atención</a:t>
            </a:r>
            <a:endParaRPr lang="en-US" sz="1400" dirty="0"/>
          </a:p>
        </p:txBody>
      </p:sp>
      <p:sp>
        <p:nvSpPr>
          <p:cNvPr id="9" name="Text 6"/>
          <p:cNvSpPr/>
          <p:nvPr/>
        </p:nvSpPr>
        <p:spPr>
          <a:xfrm>
            <a:off x="4572000" y="5943600"/>
            <a:ext cx="6766560" cy="457200"/>
          </a:xfrm>
          <a:prstGeom prst="rect">
            <a:avLst/>
          </a:prstGeom>
          <a:noFill/>
          <a:ln/>
        </p:spPr>
        <p:txBody>
          <a:bodyPr wrap="square" lIns="0" tIns="0" rIns="0" bIns="0" rtlCol="0" anchor="ctr"/>
          <a:lstStyle/>
          <a:p>
            <a:pPr indent="0" marL="0">
              <a:buNone/>
            </a:pPr>
            <a:r>
              <a:rPr lang="en-US" sz="1050" dirty="0">
                <a:solidFill>
                  <a:srgbClr val="9A9AA5"/>
                </a:solidFill>
                <a:latin typeface="Calibri" pitchFamily="34" charset="0"/>
                <a:ea typeface="Calibri" pitchFamily="34" charset="-122"/>
                <a:cs typeface="Calibri" pitchFamily="34" charset="-120"/>
              </a:rPr>
              <a:t>Capturas: referencia de diseño (Open Design) bajo docs/open-design/kinora.   ·   Créditos completos en docs/credits.md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kInorA — Producto</dc:title>
  <dc:subject>PptxGenJS Presentation</dc:subject>
  <dc:creator>Aitor Ruiz de Samaniego</dc:creator>
  <cp:lastModifiedBy>Aitor Ruiz de Samaniego</cp:lastModifiedBy>
  <cp:revision>1</cp:revision>
  <dcterms:created xsi:type="dcterms:W3CDTF">2026-08-20T07:01:53Z</dcterms:created>
  <dcterms:modified xsi:type="dcterms:W3CDTF">2026-08-20T07:01:53Z</dcterms:modified>
</cp:coreProperties>
</file>